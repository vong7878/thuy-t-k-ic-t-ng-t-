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504" r:id="rId2"/>
    <p:sldId id="505" r:id="rId3"/>
    <p:sldId id="506" r:id="rId4"/>
    <p:sldId id="507" r:id="rId5"/>
    <p:sldId id="508" r:id="rId6"/>
    <p:sldId id="509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517" r:id="rId15"/>
    <p:sldId id="518" r:id="rId16"/>
    <p:sldId id="519" r:id="rId17"/>
    <p:sldId id="520" r:id="rId18"/>
    <p:sldId id="521" r:id="rId19"/>
    <p:sldId id="522" r:id="rId20"/>
    <p:sldId id="523" r:id="rId21"/>
    <p:sldId id="524" r:id="rId22"/>
    <p:sldId id="525" r:id="rId23"/>
    <p:sldId id="526" r:id="rId24"/>
    <p:sldId id="527" r:id="rId25"/>
    <p:sldId id="528" r:id="rId26"/>
    <p:sldId id="529" r:id="rId27"/>
    <p:sldId id="530" r:id="rId28"/>
    <p:sldId id="531" r:id="rId29"/>
    <p:sldId id="532" r:id="rId30"/>
    <p:sldId id="533" r:id="rId31"/>
    <p:sldId id="534" r:id="rId32"/>
    <p:sldId id="535" r:id="rId33"/>
    <p:sldId id="536" r:id="rId34"/>
    <p:sldId id="537" r:id="rId35"/>
    <p:sldId id="538" r:id="rId36"/>
    <p:sldId id="539" r:id="rId37"/>
    <p:sldId id="540" r:id="rId38"/>
    <p:sldId id="541" r:id="rId39"/>
    <p:sldId id="542" r:id="rId40"/>
    <p:sldId id="543" r:id="rId41"/>
    <p:sldId id="544" r:id="rId42"/>
    <p:sldId id="545" r:id="rId43"/>
    <p:sldId id="546" r:id="rId44"/>
    <p:sldId id="547" r:id="rId45"/>
    <p:sldId id="548" r:id="rId46"/>
    <p:sldId id="549" r:id="rId47"/>
    <p:sldId id="550" r:id="rId48"/>
    <p:sldId id="551" r:id="rId49"/>
    <p:sldId id="552" r:id="rId50"/>
    <p:sldId id="553" r:id="rId51"/>
    <p:sldId id="554" r:id="rId52"/>
    <p:sldId id="555" r:id="rId53"/>
    <p:sldId id="556" r:id="rId54"/>
    <p:sldId id="557" r:id="rId55"/>
    <p:sldId id="558" r:id="rId56"/>
    <p:sldId id="559" r:id="rId57"/>
    <p:sldId id="560" r:id="rId58"/>
    <p:sldId id="561" r:id="rId59"/>
    <p:sldId id="562" r:id="rId60"/>
    <p:sldId id="563" r:id="rId61"/>
    <p:sldId id="564" r:id="rId62"/>
    <p:sldId id="565" r:id="rId63"/>
    <p:sldId id="566" r:id="rId64"/>
    <p:sldId id="567" r:id="rId65"/>
    <p:sldId id="568" r:id="rId66"/>
    <p:sldId id="569" r:id="rId67"/>
    <p:sldId id="570" r:id="rId68"/>
    <p:sldId id="571" r:id="rId69"/>
    <p:sldId id="572" r:id="rId70"/>
    <p:sldId id="573" r:id="rId71"/>
    <p:sldId id="574" r:id="rId72"/>
    <p:sldId id="575" r:id="rId73"/>
    <p:sldId id="576" r:id="rId74"/>
    <p:sldId id="577" r:id="rId75"/>
    <p:sldId id="578" r:id="rId76"/>
    <p:sldId id="579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 autoAdjust="0"/>
    <p:restoredTop sz="89758"/>
  </p:normalViewPr>
  <p:slideViewPr>
    <p:cSldViewPr snapToGrid="0" showGuides="1">
      <p:cViewPr varScale="1">
        <p:scale>
          <a:sx n="86" d="100"/>
          <a:sy n="86" d="100"/>
        </p:scale>
        <p:origin x="379" y="53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cy Ho" userId="05e16598-74e5-4d97-a554-24ed3a31a2a1" providerId="ADAL" clId="{8141A518-2A9F-4449-856C-8C0BB9338F1F}"/>
    <pc:docChg chg="undo custSel delSld modSld">
      <pc:chgData name="Tracy Ho" userId="05e16598-74e5-4d97-a554-24ed3a31a2a1" providerId="ADAL" clId="{8141A518-2A9F-4449-856C-8C0BB9338F1F}" dt="2026-08-29T08:33:40.263" v="34" actId="47"/>
      <pc:docMkLst>
        <pc:docMk/>
      </pc:docMkLst>
      <pc:sldChg chg="delSp modSp mod">
        <pc:chgData name="Tracy Ho" userId="05e16598-74e5-4d97-a554-24ed3a31a2a1" providerId="ADAL" clId="{8141A518-2A9F-4449-856C-8C0BB9338F1F}" dt="2026-08-29T07:52:53.734" v="2" actId="478"/>
        <pc:sldMkLst>
          <pc:docMk/>
          <pc:sldMk cId="0" sldId="504"/>
        </pc:sldMkLst>
        <pc:spChg chg="del">
          <ac:chgData name="Tracy Ho" userId="05e16598-74e5-4d97-a554-24ed3a31a2a1" providerId="ADAL" clId="{8141A518-2A9F-4449-856C-8C0BB9338F1F}" dt="2026-08-29T07:52:53.734" v="2" actId="478"/>
          <ac:spMkLst>
            <pc:docMk/>
            <pc:sldMk cId="0" sldId="504"/>
            <ac:spMk id="5" creationId="{00000000-0000-0000-0000-000000000000}"/>
          </ac:spMkLst>
        </pc:spChg>
        <pc:spChg chg="del">
          <ac:chgData name="Tracy Ho" userId="05e16598-74e5-4d97-a554-24ed3a31a2a1" providerId="ADAL" clId="{8141A518-2A9F-4449-856C-8C0BB9338F1F}" dt="2026-08-29T07:52:50.557" v="1" actId="478"/>
          <ac:spMkLst>
            <pc:docMk/>
            <pc:sldMk cId="0" sldId="504"/>
            <ac:spMk id="6" creationId="{00000000-0000-0000-0000-000000000000}"/>
          </ac:spMkLst>
        </pc:spChg>
        <pc:grpChg chg="mod">
          <ac:chgData name="Tracy Ho" userId="05e16598-74e5-4d97-a554-24ed3a31a2a1" providerId="ADAL" clId="{8141A518-2A9F-4449-856C-8C0BB9338F1F}" dt="2026-08-29T07:52:46.730" v="0" actId="1076"/>
          <ac:grpSpMkLst>
            <pc:docMk/>
            <pc:sldMk cId="0" sldId="504"/>
            <ac:grpSpMk id="2" creationId="{00000000-0000-0000-0000-000000000000}"/>
          </ac:grpSpMkLst>
        </pc:grpChg>
      </pc:sldChg>
      <pc:sldChg chg="modSp mod">
        <pc:chgData name="Tracy Ho" userId="05e16598-74e5-4d97-a554-24ed3a31a2a1" providerId="ADAL" clId="{8141A518-2A9F-4449-856C-8C0BB9338F1F}" dt="2026-08-29T08:05:12.215" v="3" actId="1076"/>
        <pc:sldMkLst>
          <pc:docMk/>
          <pc:sldMk cId="0" sldId="509"/>
        </pc:sldMkLst>
        <pc:spChg chg="mod">
          <ac:chgData name="Tracy Ho" userId="05e16598-74e5-4d97-a554-24ed3a31a2a1" providerId="ADAL" clId="{8141A518-2A9F-4449-856C-8C0BB9338F1F}" dt="2026-08-29T08:05:12.215" v="3" actId="1076"/>
          <ac:spMkLst>
            <pc:docMk/>
            <pc:sldMk cId="0" sldId="509"/>
            <ac:spMk id="2" creationId="{00000000-0000-0000-0000-000000000000}"/>
          </ac:spMkLst>
        </pc:spChg>
      </pc:sldChg>
      <pc:sldChg chg="modSp mod">
        <pc:chgData name="Tracy Ho" userId="05e16598-74e5-4d97-a554-24ed3a31a2a1" providerId="ADAL" clId="{8141A518-2A9F-4449-856C-8C0BB9338F1F}" dt="2026-08-29T08:09:52.542" v="4" actId="1076"/>
        <pc:sldMkLst>
          <pc:docMk/>
          <pc:sldMk cId="0" sldId="513"/>
        </pc:sldMkLst>
        <pc:spChg chg="mod">
          <ac:chgData name="Tracy Ho" userId="05e16598-74e5-4d97-a554-24ed3a31a2a1" providerId="ADAL" clId="{8141A518-2A9F-4449-856C-8C0BB9338F1F}" dt="2026-08-29T08:09:52.542" v="4" actId="1076"/>
          <ac:spMkLst>
            <pc:docMk/>
            <pc:sldMk cId="0" sldId="513"/>
            <ac:spMk id="2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09:52.542" v="4" actId="1076"/>
          <ac:spMkLst>
            <pc:docMk/>
            <pc:sldMk cId="0" sldId="513"/>
            <ac:spMk id="3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09:52.542" v="4" actId="1076"/>
          <ac:picMkLst>
            <pc:docMk/>
            <pc:sldMk cId="0" sldId="513"/>
            <ac:picMk id="4" creationId="{00000000-0000-0000-0000-000000000000}"/>
          </ac:picMkLst>
        </pc:picChg>
        <pc:picChg chg="mod">
          <ac:chgData name="Tracy Ho" userId="05e16598-74e5-4d97-a554-24ed3a31a2a1" providerId="ADAL" clId="{8141A518-2A9F-4449-856C-8C0BB9338F1F}" dt="2026-08-29T08:09:52.542" v="4" actId="1076"/>
          <ac:picMkLst>
            <pc:docMk/>
            <pc:sldMk cId="0" sldId="513"/>
            <ac:picMk id="5" creationId="{00000000-0000-0000-0000-000000000000}"/>
          </ac:picMkLst>
        </pc:picChg>
      </pc:sldChg>
      <pc:sldChg chg="modSp mod">
        <pc:chgData name="Tracy Ho" userId="05e16598-74e5-4d97-a554-24ed3a31a2a1" providerId="ADAL" clId="{8141A518-2A9F-4449-856C-8C0BB9338F1F}" dt="2026-08-29T08:10:18.671" v="5" actId="1076"/>
        <pc:sldMkLst>
          <pc:docMk/>
          <pc:sldMk cId="0" sldId="514"/>
        </pc:sldMkLst>
        <pc:spChg chg="mod">
          <ac:chgData name="Tracy Ho" userId="05e16598-74e5-4d97-a554-24ed3a31a2a1" providerId="ADAL" clId="{8141A518-2A9F-4449-856C-8C0BB9338F1F}" dt="2026-08-29T08:10:18.671" v="5" actId="1076"/>
          <ac:spMkLst>
            <pc:docMk/>
            <pc:sldMk cId="0" sldId="514"/>
            <ac:spMk id="5" creationId="{00000000-0000-0000-0000-000000000000}"/>
          </ac:spMkLst>
        </pc:spChg>
      </pc:sldChg>
      <pc:sldChg chg="modSp mod">
        <pc:chgData name="Tracy Ho" userId="05e16598-74e5-4d97-a554-24ed3a31a2a1" providerId="ADAL" clId="{8141A518-2A9F-4449-856C-8C0BB9338F1F}" dt="2026-08-29T08:12:07.678" v="8" actId="1076"/>
        <pc:sldMkLst>
          <pc:docMk/>
          <pc:sldMk cId="0" sldId="517"/>
        </pc:sldMkLst>
        <pc:spChg chg="mod">
          <ac:chgData name="Tracy Ho" userId="05e16598-74e5-4d97-a554-24ed3a31a2a1" providerId="ADAL" clId="{8141A518-2A9F-4449-856C-8C0BB9338F1F}" dt="2026-08-29T08:12:02.171" v="6" actId="1076"/>
          <ac:spMkLst>
            <pc:docMk/>
            <pc:sldMk cId="0" sldId="517"/>
            <ac:spMk id="2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12:07.678" v="8" actId="1076"/>
          <ac:picMkLst>
            <pc:docMk/>
            <pc:sldMk cId="0" sldId="517"/>
            <ac:picMk id="4" creationId="{00000000-0000-0000-0000-000000000000}"/>
          </ac:picMkLst>
        </pc:picChg>
      </pc:sldChg>
      <pc:sldChg chg="modSp mod">
        <pc:chgData name="Tracy Ho" userId="05e16598-74e5-4d97-a554-24ed3a31a2a1" providerId="ADAL" clId="{8141A518-2A9F-4449-856C-8C0BB9338F1F}" dt="2026-08-29T08:13:29.379" v="10" actId="1076"/>
        <pc:sldMkLst>
          <pc:docMk/>
          <pc:sldMk cId="0" sldId="518"/>
        </pc:sldMkLst>
        <pc:spChg chg="mod">
          <ac:chgData name="Tracy Ho" userId="05e16598-74e5-4d97-a554-24ed3a31a2a1" providerId="ADAL" clId="{8141A518-2A9F-4449-856C-8C0BB9338F1F}" dt="2026-08-29T08:13:22.186" v="9" actId="1076"/>
          <ac:spMkLst>
            <pc:docMk/>
            <pc:sldMk cId="0" sldId="518"/>
            <ac:spMk id="2" creationId="{00000000-0000-0000-0000-000000000000}"/>
          </ac:spMkLst>
        </pc:spChg>
        <pc:graphicFrameChg chg="mod">
          <ac:chgData name="Tracy Ho" userId="05e16598-74e5-4d97-a554-24ed3a31a2a1" providerId="ADAL" clId="{8141A518-2A9F-4449-856C-8C0BB9338F1F}" dt="2026-08-29T08:13:29.379" v="10" actId="1076"/>
          <ac:graphicFrameMkLst>
            <pc:docMk/>
            <pc:sldMk cId="0" sldId="518"/>
            <ac:graphicFrameMk id="3" creationId="{00000000-0000-0000-0000-000000000000}"/>
          </ac:graphicFrameMkLst>
        </pc:graphicFrameChg>
      </pc:sldChg>
      <pc:sldChg chg="modSp mod">
        <pc:chgData name="Tracy Ho" userId="05e16598-74e5-4d97-a554-24ed3a31a2a1" providerId="ADAL" clId="{8141A518-2A9F-4449-856C-8C0BB9338F1F}" dt="2026-08-29T08:13:52.887" v="12" actId="1076"/>
        <pc:sldMkLst>
          <pc:docMk/>
          <pc:sldMk cId="0" sldId="519"/>
        </pc:sldMkLst>
        <pc:spChg chg="mod">
          <ac:chgData name="Tracy Ho" userId="05e16598-74e5-4d97-a554-24ed3a31a2a1" providerId="ADAL" clId="{8141A518-2A9F-4449-856C-8C0BB9338F1F}" dt="2026-08-29T08:13:47.008" v="11" actId="1076"/>
          <ac:spMkLst>
            <pc:docMk/>
            <pc:sldMk cId="0" sldId="519"/>
            <ac:spMk id="2" creationId="{00000000-0000-0000-0000-000000000000}"/>
          </ac:spMkLst>
        </pc:spChg>
        <pc:graphicFrameChg chg="mod">
          <ac:chgData name="Tracy Ho" userId="05e16598-74e5-4d97-a554-24ed3a31a2a1" providerId="ADAL" clId="{8141A518-2A9F-4449-856C-8C0BB9338F1F}" dt="2026-08-29T08:13:52.887" v="12" actId="1076"/>
          <ac:graphicFrameMkLst>
            <pc:docMk/>
            <pc:sldMk cId="0" sldId="519"/>
            <ac:graphicFrameMk id="3" creationId="{00000000-0000-0000-0000-000000000000}"/>
          </ac:graphicFrameMkLst>
        </pc:graphicFrameChg>
      </pc:sldChg>
      <pc:sldChg chg="modSp mod">
        <pc:chgData name="Tracy Ho" userId="05e16598-74e5-4d97-a554-24ed3a31a2a1" providerId="ADAL" clId="{8141A518-2A9F-4449-856C-8C0BB9338F1F}" dt="2026-08-29T08:14:39.336" v="13" actId="1076"/>
        <pc:sldMkLst>
          <pc:docMk/>
          <pc:sldMk cId="0" sldId="520"/>
        </pc:sldMkLst>
        <pc:spChg chg="mod">
          <ac:chgData name="Tracy Ho" userId="05e16598-74e5-4d97-a554-24ed3a31a2a1" providerId="ADAL" clId="{8141A518-2A9F-4449-856C-8C0BB9338F1F}" dt="2026-08-29T08:14:39.336" v="13" actId="1076"/>
          <ac:spMkLst>
            <pc:docMk/>
            <pc:sldMk cId="0" sldId="520"/>
            <ac:spMk id="4" creationId="{00000000-0000-0000-0000-000000000000}"/>
          </ac:spMkLst>
        </pc:spChg>
      </pc:sldChg>
      <pc:sldChg chg="modSp mod">
        <pc:chgData name="Tracy Ho" userId="05e16598-74e5-4d97-a554-24ed3a31a2a1" providerId="ADAL" clId="{8141A518-2A9F-4449-856C-8C0BB9338F1F}" dt="2026-08-29T08:16:35.117" v="15" actId="1076"/>
        <pc:sldMkLst>
          <pc:docMk/>
          <pc:sldMk cId="0" sldId="522"/>
        </pc:sldMkLst>
        <pc:spChg chg="mod">
          <ac:chgData name="Tracy Ho" userId="05e16598-74e5-4d97-a554-24ed3a31a2a1" providerId="ADAL" clId="{8141A518-2A9F-4449-856C-8C0BB9338F1F}" dt="2026-08-29T08:16:28.481" v="14" actId="1076"/>
          <ac:spMkLst>
            <pc:docMk/>
            <pc:sldMk cId="0" sldId="522"/>
            <ac:spMk id="3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16:35.117" v="15" actId="1076"/>
          <ac:spMkLst>
            <pc:docMk/>
            <pc:sldMk cId="0" sldId="522"/>
            <ac:spMk id="5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16:35.117" v="15" actId="1076"/>
          <ac:spMkLst>
            <pc:docMk/>
            <pc:sldMk cId="0" sldId="522"/>
            <ac:spMk id="6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16:35.117" v="15" actId="1076"/>
          <ac:picMkLst>
            <pc:docMk/>
            <pc:sldMk cId="0" sldId="522"/>
            <ac:picMk id="2" creationId="{00000000-0000-0000-0000-000000000000}"/>
          </ac:picMkLst>
        </pc:picChg>
        <pc:picChg chg="mod">
          <ac:chgData name="Tracy Ho" userId="05e16598-74e5-4d97-a554-24ed3a31a2a1" providerId="ADAL" clId="{8141A518-2A9F-4449-856C-8C0BB9338F1F}" dt="2026-08-29T08:16:35.117" v="15" actId="1076"/>
          <ac:picMkLst>
            <pc:docMk/>
            <pc:sldMk cId="0" sldId="522"/>
            <ac:picMk id="4" creationId="{00000000-0000-0000-0000-000000000000}"/>
          </ac:picMkLst>
        </pc:picChg>
      </pc:sldChg>
      <pc:sldChg chg="modSp mod">
        <pc:chgData name="Tracy Ho" userId="05e16598-74e5-4d97-a554-24ed3a31a2a1" providerId="ADAL" clId="{8141A518-2A9F-4449-856C-8C0BB9338F1F}" dt="2026-08-29T08:21:58.047" v="17" actId="1076"/>
        <pc:sldMkLst>
          <pc:docMk/>
          <pc:sldMk cId="0" sldId="523"/>
        </pc:sldMkLst>
        <pc:spChg chg="mod">
          <ac:chgData name="Tracy Ho" userId="05e16598-74e5-4d97-a554-24ed3a31a2a1" providerId="ADAL" clId="{8141A518-2A9F-4449-856C-8C0BB9338F1F}" dt="2026-08-29T08:21:51.561" v="16" actId="1076"/>
          <ac:spMkLst>
            <pc:docMk/>
            <pc:sldMk cId="0" sldId="523"/>
            <ac:spMk id="2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21:58.047" v="17" actId="1076"/>
          <ac:spMkLst>
            <pc:docMk/>
            <pc:sldMk cId="0" sldId="523"/>
            <ac:spMk id="3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21:58.047" v="17" actId="1076"/>
          <ac:picMkLst>
            <pc:docMk/>
            <pc:sldMk cId="0" sldId="523"/>
            <ac:picMk id="4" creationId="{00000000-0000-0000-0000-000000000000}"/>
          </ac:picMkLst>
        </pc:picChg>
      </pc:sldChg>
      <pc:sldChg chg="modSp mod">
        <pc:chgData name="Tracy Ho" userId="05e16598-74e5-4d97-a554-24ed3a31a2a1" providerId="ADAL" clId="{8141A518-2A9F-4449-856C-8C0BB9338F1F}" dt="2026-08-29T08:22:11.250" v="18" actId="1076"/>
        <pc:sldMkLst>
          <pc:docMk/>
          <pc:sldMk cId="0" sldId="524"/>
        </pc:sldMkLst>
        <pc:spChg chg="mod">
          <ac:chgData name="Tracy Ho" userId="05e16598-74e5-4d97-a554-24ed3a31a2a1" providerId="ADAL" clId="{8141A518-2A9F-4449-856C-8C0BB9338F1F}" dt="2026-08-29T08:22:11.250" v="18" actId="1076"/>
          <ac:spMkLst>
            <pc:docMk/>
            <pc:sldMk cId="0" sldId="524"/>
            <ac:spMk id="3" creationId="{00000000-0000-0000-0000-000000000000}"/>
          </ac:spMkLst>
        </pc:spChg>
      </pc:sldChg>
      <pc:sldChg chg="modSp mod">
        <pc:chgData name="Tracy Ho" userId="05e16598-74e5-4d97-a554-24ed3a31a2a1" providerId="ADAL" clId="{8141A518-2A9F-4449-856C-8C0BB9338F1F}" dt="2026-08-29T08:23:52.037" v="19" actId="1076"/>
        <pc:sldMkLst>
          <pc:docMk/>
          <pc:sldMk cId="0" sldId="527"/>
        </pc:sldMkLst>
        <pc:spChg chg="mod">
          <ac:chgData name="Tracy Ho" userId="05e16598-74e5-4d97-a554-24ed3a31a2a1" providerId="ADAL" clId="{8141A518-2A9F-4449-856C-8C0BB9338F1F}" dt="2026-08-29T08:23:52.037" v="19" actId="1076"/>
          <ac:spMkLst>
            <pc:docMk/>
            <pc:sldMk cId="0" sldId="527"/>
            <ac:spMk id="4" creationId="{00000000-0000-0000-0000-000000000000}"/>
          </ac:spMkLst>
        </pc:spChg>
      </pc:sldChg>
      <pc:sldChg chg="modSp mod">
        <pc:chgData name="Tracy Ho" userId="05e16598-74e5-4d97-a554-24ed3a31a2a1" providerId="ADAL" clId="{8141A518-2A9F-4449-856C-8C0BB9338F1F}" dt="2026-08-29T08:24:02.453" v="21" actId="1076"/>
        <pc:sldMkLst>
          <pc:docMk/>
          <pc:sldMk cId="0" sldId="528"/>
        </pc:sldMkLst>
        <pc:picChg chg="mod">
          <ac:chgData name="Tracy Ho" userId="05e16598-74e5-4d97-a554-24ed3a31a2a1" providerId="ADAL" clId="{8141A518-2A9F-4449-856C-8C0BB9338F1F}" dt="2026-08-29T08:24:02.453" v="21" actId="1076"/>
          <ac:picMkLst>
            <pc:docMk/>
            <pc:sldMk cId="0" sldId="528"/>
            <ac:picMk id="2" creationId="{00000000-0000-0000-0000-000000000000}"/>
          </ac:picMkLst>
        </pc:picChg>
      </pc:sldChg>
      <pc:sldChg chg="addSp delSp modSp mod">
        <pc:chgData name="Tracy Ho" userId="05e16598-74e5-4d97-a554-24ed3a31a2a1" providerId="ADAL" clId="{8141A518-2A9F-4449-856C-8C0BB9338F1F}" dt="2026-08-29T08:25:52.507" v="28" actId="20577"/>
        <pc:sldMkLst>
          <pc:docMk/>
          <pc:sldMk cId="0" sldId="530"/>
        </pc:sldMkLst>
        <pc:spChg chg="mod">
          <ac:chgData name="Tracy Ho" userId="05e16598-74e5-4d97-a554-24ed3a31a2a1" providerId="ADAL" clId="{8141A518-2A9F-4449-856C-8C0BB9338F1F}" dt="2026-08-29T08:24:44.573" v="22" actId="1076"/>
          <ac:spMkLst>
            <pc:docMk/>
            <pc:sldMk cId="0" sldId="530"/>
            <ac:spMk id="2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25:52.507" v="28" actId="20577"/>
          <ac:spMkLst>
            <pc:docMk/>
            <pc:sldMk cId="0" sldId="530"/>
            <ac:spMk id="3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24:48.139" v="23" actId="1076"/>
          <ac:picMkLst>
            <pc:docMk/>
            <pc:sldMk cId="0" sldId="530"/>
            <ac:picMk id="4" creationId="{00000000-0000-0000-0000-000000000000}"/>
          </ac:picMkLst>
        </pc:picChg>
        <pc:inkChg chg="add del">
          <ac:chgData name="Tracy Ho" userId="05e16598-74e5-4d97-a554-24ed3a31a2a1" providerId="ADAL" clId="{8141A518-2A9F-4449-856C-8C0BB9338F1F}" dt="2026-08-29T08:25:43.929" v="25" actId="9405"/>
          <ac:inkMkLst>
            <pc:docMk/>
            <pc:sldMk cId="0" sldId="530"/>
            <ac:inkMk id="5" creationId="{508B8B59-877B-45E2-4DE6-BC7370E30A2F}"/>
          </ac:inkMkLst>
        </pc:inkChg>
        <pc:inkChg chg="add">
          <ac:chgData name="Tracy Ho" userId="05e16598-74e5-4d97-a554-24ed3a31a2a1" providerId="ADAL" clId="{8141A518-2A9F-4449-856C-8C0BB9338F1F}" dt="2026-08-29T08:25:47.370" v="26" actId="9405"/>
          <ac:inkMkLst>
            <pc:docMk/>
            <pc:sldMk cId="0" sldId="530"/>
            <ac:inkMk id="6" creationId="{D7F57346-557E-F8ED-C729-324901069204}"/>
          </ac:inkMkLst>
        </pc:inkChg>
      </pc:sldChg>
      <pc:sldChg chg="modSp mod">
        <pc:chgData name="Tracy Ho" userId="05e16598-74e5-4d97-a554-24ed3a31a2a1" providerId="ADAL" clId="{8141A518-2A9F-4449-856C-8C0BB9338F1F}" dt="2026-08-29T08:30:39.678" v="30" actId="1076"/>
        <pc:sldMkLst>
          <pc:docMk/>
          <pc:sldMk cId="0" sldId="531"/>
        </pc:sldMkLst>
        <pc:spChg chg="mod">
          <ac:chgData name="Tracy Ho" userId="05e16598-74e5-4d97-a554-24ed3a31a2a1" providerId="ADAL" clId="{8141A518-2A9F-4449-856C-8C0BB9338F1F}" dt="2026-08-29T08:30:33.953" v="29" actId="1076"/>
          <ac:spMkLst>
            <pc:docMk/>
            <pc:sldMk cId="0" sldId="531"/>
            <ac:spMk id="4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30:39.678" v="30" actId="1076"/>
          <ac:spMkLst>
            <pc:docMk/>
            <pc:sldMk cId="0" sldId="531"/>
            <ac:spMk id="8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30:39.678" v="30" actId="1076"/>
          <ac:spMkLst>
            <pc:docMk/>
            <pc:sldMk cId="0" sldId="531"/>
            <ac:spMk id="9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30:39.678" v="30" actId="1076"/>
          <ac:spMkLst>
            <pc:docMk/>
            <pc:sldMk cId="0" sldId="531"/>
            <ac:spMk id="10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30:39.678" v="30" actId="1076"/>
          <ac:picMkLst>
            <pc:docMk/>
            <pc:sldMk cId="0" sldId="531"/>
            <ac:picMk id="5" creationId="{00000000-0000-0000-0000-000000000000}"/>
          </ac:picMkLst>
        </pc:picChg>
        <pc:picChg chg="mod">
          <ac:chgData name="Tracy Ho" userId="05e16598-74e5-4d97-a554-24ed3a31a2a1" providerId="ADAL" clId="{8141A518-2A9F-4449-856C-8C0BB9338F1F}" dt="2026-08-29T08:30:39.678" v="30" actId="1076"/>
          <ac:picMkLst>
            <pc:docMk/>
            <pc:sldMk cId="0" sldId="531"/>
            <ac:picMk id="6" creationId="{00000000-0000-0000-0000-000000000000}"/>
          </ac:picMkLst>
        </pc:picChg>
        <pc:picChg chg="mod">
          <ac:chgData name="Tracy Ho" userId="05e16598-74e5-4d97-a554-24ed3a31a2a1" providerId="ADAL" clId="{8141A518-2A9F-4449-856C-8C0BB9338F1F}" dt="2026-08-29T08:30:39.678" v="30" actId="1076"/>
          <ac:picMkLst>
            <pc:docMk/>
            <pc:sldMk cId="0" sldId="531"/>
            <ac:picMk id="7" creationId="{00000000-0000-0000-0000-000000000000}"/>
          </ac:picMkLst>
        </pc:picChg>
      </pc:sldChg>
      <pc:sldChg chg="modSp mod">
        <pc:chgData name="Tracy Ho" userId="05e16598-74e5-4d97-a554-24ed3a31a2a1" providerId="ADAL" clId="{8141A518-2A9F-4449-856C-8C0BB9338F1F}" dt="2026-08-29T08:32:48.224" v="33" actId="1076"/>
        <pc:sldMkLst>
          <pc:docMk/>
          <pc:sldMk cId="0" sldId="550"/>
        </pc:sldMkLst>
        <pc:spChg chg="mod">
          <ac:chgData name="Tracy Ho" userId="05e16598-74e5-4d97-a554-24ed3a31a2a1" providerId="ADAL" clId="{8141A518-2A9F-4449-856C-8C0BB9338F1F}" dt="2026-08-29T08:32:45.078" v="32" actId="1076"/>
          <ac:spMkLst>
            <pc:docMk/>
            <pc:sldMk cId="0" sldId="550"/>
            <ac:spMk id="2" creationId="{00000000-0000-0000-0000-000000000000}"/>
          </ac:spMkLst>
        </pc:spChg>
        <pc:spChg chg="mod">
          <ac:chgData name="Tracy Ho" userId="05e16598-74e5-4d97-a554-24ed3a31a2a1" providerId="ADAL" clId="{8141A518-2A9F-4449-856C-8C0BB9338F1F}" dt="2026-08-29T08:32:48.224" v="33" actId="1076"/>
          <ac:spMkLst>
            <pc:docMk/>
            <pc:sldMk cId="0" sldId="550"/>
            <ac:spMk id="3" creationId="{00000000-0000-0000-0000-000000000000}"/>
          </ac:spMkLst>
        </pc:spChg>
        <pc:picChg chg="mod">
          <ac:chgData name="Tracy Ho" userId="05e16598-74e5-4d97-a554-24ed3a31a2a1" providerId="ADAL" clId="{8141A518-2A9F-4449-856C-8C0BB9338F1F}" dt="2026-08-29T08:32:48.224" v="33" actId="1076"/>
          <ac:picMkLst>
            <pc:docMk/>
            <pc:sldMk cId="0" sldId="550"/>
            <ac:picMk id="4" creationId="{00000000-0000-0000-0000-000000000000}"/>
          </ac:picMkLst>
        </pc:picChg>
        <pc:picChg chg="mod">
          <ac:chgData name="Tracy Ho" userId="05e16598-74e5-4d97-a554-24ed3a31a2a1" providerId="ADAL" clId="{8141A518-2A9F-4449-856C-8C0BB9338F1F}" dt="2026-08-29T08:32:48.224" v="33" actId="1076"/>
          <ac:picMkLst>
            <pc:docMk/>
            <pc:sldMk cId="0" sldId="550"/>
            <ac:picMk id="5" creationId="{00000000-0000-0000-0000-000000000000}"/>
          </ac:picMkLst>
        </pc:picChg>
      </pc:sldChg>
      <pc:sldChg chg="del">
        <pc:chgData name="Tracy Ho" userId="05e16598-74e5-4d97-a554-24ed3a31a2a1" providerId="ADAL" clId="{8141A518-2A9F-4449-856C-8C0BB9338F1F}" dt="2026-08-29T08:33:40.263" v="34" actId="47"/>
        <pc:sldMkLst>
          <pc:docMk/>
          <pc:sldMk cId="0" sldId="58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3E5DD-FE26-4A43-9FC2-607ACF25AE17}" type="datetimeFigureOut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794F4-726C-4777-8F27-19A841922A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8:25:47.36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07:46: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1988 24575,'-1'-244'0,"3"-267"0,1 439 0,2 1 0,22-98 0,-18 129 0,2 0 0,2 1 0,1 0 0,2 1 0,34-58 0,250-351 0,-284 426 0,1 0 0,1 0 0,1 2 0,35-29 0,-45 42 0,0 0 0,1 0 0,0 0 0,0 1 0,0 1 0,1 0 0,-1 0 0,1 1 0,0 1 0,0 0 0,0 0 0,0 1 0,21 0 0,67 4 0,150 11 0,-213-10 0,1 2 0,-1 1 0,0 3 0,55 21 0,-86-29 0,0 0 0,0 1 0,-1 0 0,1 0 0,-1 0 0,0 1 0,1-1 0,-1 1 0,-1 0 0,1 1 0,-1-1 0,1 0 0,-1 1 0,-1 0 0,4 5 0,0 7 0,0 0 0,0 0 0,3 24 0,8 25 0,13 32 0,-5 1 0,19 145 0,-9 6 0,-27-168 0,-6-57 0,0 1 0,10 40 0,-2-19 0,8 79 0,-3-9 0,-9-63 0,-2 1 0,-5 101 0,-2-50 0,3-84-120,0-3-129,0 0 0,1 0 0,1 1 0,7 29 0,-6-37-6577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07:46: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24575,'5'152'0,"7"-1"0,33 154 0,-14-92 0,9 46 0,-30-187 0,-3-1 0,-2 84 0,-1-19 0,2-82 0,3 0 0,3-1 0,27 79 0,-21-72 0,15 41 0,5-3 0,73 140 0,-110-235 0,1 0 0,0 1 0,0-1 0,0 0 0,1-1 0,-1 1 0,1 0 0,-1-1 0,1 1 0,0-1 0,0 0 0,0 0 0,0 0 0,0 0 0,1 0 0,-1-1 0,0 0 0,1 1 0,6 0 0,-3-1 0,-1-1 0,1 0 0,-1 0 0,1-1 0,0 1 0,-1-1 0,0-1 0,1 1 0,-1-1 0,10-4 0,-1-2 0,0 0 0,0 0 0,0-1 0,-1-1 0,0 0 0,-1-1 0,22-25 0,-18 15 0,-1-1 0,-1-1 0,-2 0 0,0-1 0,-1-1 0,-2 0 0,13-43 0,-3-14 0,11-94 0,-9 38 0,-8 39 0,-5 1 0,-6-150 0,0 2 0,35-156 0,-32 347 0,0-99 0,-6 97 0,10-79 0,2 62-1365,-7 49-5461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07:46: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24575,'24'1'0,"-1"2"0,0 0 0,33 11 0,7 0 0,903 91 0,4-80 0,-127-6 0,230-8-98,-730-12-1169,-309 1-5559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07:46: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3835 24575,'25'-848'0,"91"-18"0,-80 661 0,-22 110 0,52-178 0,24-45 0,75-404 0,-143 643 0,3 1 0,3 2 0,49-94 0,-63 142 0,-11 22 0,0 1 0,0 0 0,1 1 0,0-1 0,0 0 0,0 1 0,1 0 0,-1 0 0,1 0 0,0 1 0,0 0 0,0 0 0,0 0 0,1 0 0,-1 1 0,1 0 0,0 0 0,0 0 0,10-1 0,-4 1 0,0 1 0,-1 0 0,1 1 0,0 0 0,-1 1 0,1 0 0,-1 0 0,1 2 0,16 4 0,-20-3 0,0 0 0,0 0 0,-1 1 0,1 0 0,-1 0 0,0 1 0,0 0 0,-1 0 0,0 1 0,0 0 0,0 0 0,-1 0 0,0 0 0,-1 1 0,7 15 0,4 11 0,-2 1 0,13 50 0,-24-75 0,105 393 0,-64-257 0,-9 48 0,-17-88 0,-4-5 0,-1 198 0,-13-226 0,0 19 0,13 121 0,-4-68 0,-8-98 0,10 70 0,-3-54 0,-3 1 0,-4 76 0,2 60 0,9-71 0,28 266 0,28 201 0,-49-430 0,11 67 0,142 745 0,-71-323 0,-59-453 0,10 68 0,4-9 0,-22-121 0,89 290 0,-110-394 0,80 210 0,-91-243 0,0 0 0,0-1 0,1 1 0,-1 0 0,1-1 0,0 0 0,0 1 0,0-1 0,0 0 0,0 0 0,0 0 0,1 0 0,-1 0 0,1 0 0,-1-1 0,1 1 0,0-1 0,0 0 0,-1 0 0,1 0 0,0 0 0,0 0 0,0-1 0,0 1 0,0-1 0,0 0 0,0 0 0,0 0 0,0 0 0,0 0 0,0-1 0,0 0 0,0 1 0,0-1 0,0 0 0,0 0 0,4-3 0,3 0 0,-1-1 0,1 0 0,-1-1 0,-1 0 0,1 0 0,-1-1 0,0 0 0,0 0 0,12-16 0,8-21 0,-2-2 0,-2 0 0,21-57 0,19-38 0,-37 85 0,-3-1 0,-3-2 0,-2 0 0,-3 0 0,10-69 0,18-208 0,-21 141 0,-12 86 0,-6-204 0,-36-106 0,30 406 0,-40-666 0,26 350 0,15 327 0,-3-90 0,3 58 0,-1 1 0,-8-48 0,3 29-1365,5 37-5461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3T07:46: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 24575,'615'17'0,"-139"-2"0,735-54 0,-898 7 0,356-27 0,351-2 0,-820 44 62,76-1-1489,-248 18-5399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2EB55-B567-2D4C-B847-F70BF368BAE2}" type="datetimeFigureOut">
              <a:rPr lang="x-none" smtClean="0"/>
              <a:t>8/29/2026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67767-766C-FF4A-8F17-25D8402747FE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54977-E08A-F047-B9A4-96BB2876FE7A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68D3B-C041-D345-B852-EBDD35A0CDF9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470D-C782-9243-A888-6ED3A50C53F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470D-C782-9243-A888-6ED3A50C53F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4" y="16328"/>
            <a:ext cx="9629094" cy="641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470D-C782-9243-A888-6ED3A50C53F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2470D-C782-9243-A888-6ED3A50C53F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367B-55C7-D442-AE09-C8367E30978A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EA2B-7E3B-3B47-8BCF-32328E684FC6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53C5A-607A-5A4B-AF70-505EBF7DC59B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F784-253D-B648-8E48-70B093E81C4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FB58A-2C6E-4A45-9DC6-6BBD59CECD5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68E8-D6EE-0D44-8F38-DB52A9F37FF2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AB974-810E-5348-BF8B-8BC7BF2D3C52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2D7-D800-674A-B364-511F3631DE4B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3314-96EC-3C4F-9EED-E697FF5FE31D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2470D-C782-9243-A888-6ED3A50C53F3}" type="datetime1">
              <a:rPr lang="en-US" smtClean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38F0E-1542-4FC7-95E4-43F9E44E78E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875" r="79744" b="81688"/>
          <a:stretch>
            <a:fillRect/>
          </a:stretch>
        </p:blipFill>
        <p:spPr bwMode="auto">
          <a:xfrm>
            <a:off x="10586677" y="104930"/>
            <a:ext cx="802443" cy="487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80" y="104930"/>
            <a:ext cx="9250136" cy="4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jpeg"/><Relationship Id="rId4" Type="http://schemas.openxmlformats.org/officeDocument/2006/relationships/image" Target="../media/image8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7.pn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96.png"/><Relationship Id="rId4" Type="http://schemas.openxmlformats.org/officeDocument/2006/relationships/image" Target="../media/image93.png"/><Relationship Id="rId9" Type="http://schemas.openxmlformats.org/officeDocument/2006/relationships/customXml" Target="../ink/ink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2605" y="407619"/>
            <a:ext cx="8715375" cy="5835756"/>
            <a:chOff x="0" y="0"/>
            <a:chExt cx="9144000" cy="685812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971540"/>
            </a:xfrm>
            <a:custGeom>
              <a:avLst/>
              <a:gdLst/>
              <a:ahLst/>
              <a:cxnLst/>
              <a:rect l="l" t="t" r="r" b="b"/>
              <a:pathLst>
                <a:path w="9144000" h="5971540">
                  <a:moveTo>
                    <a:pt x="0" y="5971032"/>
                  </a:moveTo>
                  <a:lnTo>
                    <a:pt x="9144000" y="597103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971032"/>
                  </a:lnTo>
                  <a:close/>
                </a:path>
              </a:pathLst>
            </a:custGeom>
            <a:solidFill>
              <a:srgbClr val="775F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971031"/>
              <a:ext cx="9144000" cy="887094"/>
            </a:xfrm>
            <a:custGeom>
              <a:avLst/>
              <a:gdLst/>
              <a:ahLst/>
              <a:cxnLst/>
              <a:rect l="l" t="t" r="r" b="b"/>
              <a:pathLst>
                <a:path w="9144000" h="887095">
                  <a:moveTo>
                    <a:pt x="9144000" y="0"/>
                  </a:moveTo>
                  <a:lnTo>
                    <a:pt x="0" y="0"/>
                  </a:lnTo>
                  <a:lnTo>
                    <a:pt x="0" y="886968"/>
                  </a:lnTo>
                  <a:lnTo>
                    <a:pt x="9144000" y="88696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3365" y="1439545"/>
            <a:ext cx="8359775" cy="357568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675640" marR="5080" indent="247523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CHAPTER</a:t>
            </a:r>
            <a:r>
              <a:rPr sz="4400" b="1" spc="-40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b="1" spc="-25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4400" spc="-25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4400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TRANSISTOR</a:t>
            </a:r>
            <a:r>
              <a:rPr sz="4400" spc="-105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400" spc="-10" dirty="0">
                <a:solidFill>
                  <a:srgbClr val="EBDDC3"/>
                </a:solidFill>
                <a:latin typeface="Times New Roman" panose="02020603050405020304"/>
                <a:cs typeface="Times New Roman" panose="02020603050405020304"/>
              </a:rPr>
              <a:t>MOSFET</a:t>
            </a:r>
            <a:endParaRPr sz="44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r>
              <a:rPr lang="en-US" sz="2800" dirty="0">
                <a:latin typeface="Times New Roman" panose="02020603050405020304"/>
                <a:cs typeface="Times New Roman" panose="02020603050405020304"/>
              </a:rPr>
              <a:t>Trang Ho</a:t>
            </a:r>
            <a:endParaRPr sz="2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VKU, Jan-2024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82885" y="293319"/>
            <a:ext cx="125095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EBDDC3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715" y="726440"/>
            <a:ext cx="11269345" cy="11093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774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Chapter</a:t>
            </a:r>
            <a:r>
              <a:rPr sz="3600" spc="-60" dirty="0"/>
              <a:t> </a:t>
            </a:r>
            <a:r>
              <a:rPr sz="3600" dirty="0"/>
              <a:t>3:</a:t>
            </a:r>
            <a:r>
              <a:rPr sz="3600" spc="-55" dirty="0"/>
              <a:t> </a:t>
            </a:r>
            <a:r>
              <a:rPr sz="3600" spc="-10" dirty="0"/>
              <a:t>MOSFET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059940" y="1835632"/>
            <a:ext cx="5046980" cy="41255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Classifications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652145" lvl="1" indent="-272415">
              <a:lnSpc>
                <a:spcPct val="100000"/>
              </a:lnSpc>
              <a:spcBef>
                <a:spcPts val="615"/>
              </a:spcBef>
              <a:buClr>
                <a:srgbClr val="93B6D2"/>
              </a:buClr>
              <a:buSzPct val="69000"/>
              <a:buFont typeface="Wingdings" panose="05000000000000000000"/>
              <a:buChar char=""/>
              <a:tabLst>
                <a:tab pos="652145" algn="l"/>
              </a:tabLst>
            </a:pP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JFET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52145" lvl="1" indent="-27241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000"/>
              <a:buFont typeface="Wingdings" panose="05000000000000000000"/>
              <a:buChar char=""/>
              <a:tabLst>
                <a:tab pos="652145" algn="l"/>
              </a:tabLst>
            </a:pP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D-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FET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(Depletion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MOS)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52145" lvl="1" indent="-272415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000"/>
              <a:buFont typeface="Wingdings" panose="05000000000000000000"/>
              <a:buChar char=""/>
              <a:tabLst>
                <a:tab pos="65214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MOSFET</a:t>
            </a:r>
            <a:r>
              <a:rPr sz="26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(Enhancement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E-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FET)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8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DC</a:t>
            </a:r>
            <a:r>
              <a:rPr sz="2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biasing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29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signal</a:t>
            </a:r>
            <a:r>
              <a:rPr sz="2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Equivalent</a:t>
            </a:r>
            <a:r>
              <a:rPr sz="29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small signal</a:t>
            </a:r>
            <a:r>
              <a:rPr sz="2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circuit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18820"/>
            <a:ext cx="11529060" cy="127254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dirty="0"/>
              <a:t>FET</a:t>
            </a:r>
            <a:r>
              <a:rPr spc="-9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6340" y="2244725"/>
            <a:ext cx="6322695" cy="3540125"/>
          </a:xfrm>
          <a:prstGeom prst="rect">
            <a:avLst/>
          </a:prstGeom>
        </p:spPr>
        <p:txBody>
          <a:bodyPr vert="horz" wrap="square" lIns="0" tIns="102870" rIns="0" bIns="0" rtlCol="0">
            <a:noAutofit/>
          </a:bodyPr>
          <a:lstStyle/>
          <a:p>
            <a:pPr marL="332105" indent="-319405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input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impedance,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nMΩ-n100MΩ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Controlled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voltage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(≠</a:t>
            </a:r>
            <a:r>
              <a:rPr sz="2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BJT)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consumption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noise,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small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signal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impact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temperature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switch</a:t>
            </a:r>
            <a:r>
              <a:rPr sz="2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2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application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adapt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2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circuit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4760" y="1991995"/>
            <a:ext cx="6495415" cy="2614295"/>
          </a:xfrm>
          <a:prstGeom prst="rect">
            <a:avLst/>
          </a:prstGeom>
        </p:spPr>
        <p:txBody>
          <a:bodyPr vert="horz" wrap="square" lIns="0" tIns="55244" rIns="0" bIns="0" rtlCol="0">
            <a:noAutofit/>
          </a:bodyPr>
          <a:lstStyle/>
          <a:p>
            <a:pPr marL="332105" indent="-319405">
              <a:lnSpc>
                <a:spcPct val="100000"/>
              </a:lnSpc>
              <a:spcBef>
                <a:spcPts val="43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60" dirty="0">
                <a:latin typeface="Times New Roman" panose="02020603050405020304"/>
                <a:cs typeface="Times New Roman" panose="02020603050405020304"/>
              </a:rPr>
              <a:t>JFET-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Junction</a:t>
            </a:r>
            <a:r>
              <a:rPr sz="29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Field</a:t>
            </a:r>
            <a:r>
              <a:rPr sz="2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Effect</a:t>
            </a:r>
            <a:r>
              <a:rPr sz="29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Transistor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37973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🞑</a:t>
            </a:r>
            <a:r>
              <a:rPr sz="1800" spc="25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channels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35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50" dirty="0">
                <a:latin typeface="Times New Roman" panose="02020603050405020304"/>
                <a:cs typeface="Times New Roman" panose="02020603050405020304"/>
              </a:rPr>
              <a:t>MOSFET-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Metal</a:t>
            </a:r>
            <a:r>
              <a:rPr sz="29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Oxide</a:t>
            </a:r>
            <a:r>
              <a:rPr sz="29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Semiconductor</a:t>
            </a:r>
            <a:r>
              <a:rPr sz="29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25" dirty="0">
                <a:latin typeface="Times New Roman" panose="02020603050405020304"/>
                <a:cs typeface="Times New Roman" panose="02020603050405020304"/>
              </a:rPr>
              <a:t>FET</a:t>
            </a:r>
            <a:endParaRPr sz="2900" dirty="0">
              <a:latin typeface="Times New Roman" panose="02020603050405020304"/>
              <a:cs typeface="Times New Roman" panose="02020603050405020304"/>
            </a:endParaRPr>
          </a:p>
          <a:p>
            <a:pPr marL="37973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🞑</a:t>
            </a:r>
            <a:r>
              <a:rPr sz="1800" spc="25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Depletion</a:t>
            </a:r>
            <a:r>
              <a:rPr sz="2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MOS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925830" lvl="1" indent="-227965">
              <a:lnSpc>
                <a:spcPct val="100000"/>
              </a:lnSpc>
              <a:spcBef>
                <a:spcPts val="230"/>
              </a:spcBef>
              <a:buClr>
                <a:srgbClr val="DD8046"/>
              </a:buClr>
              <a:buSzPct val="74000"/>
              <a:buFont typeface="Wingdings" panose="05000000000000000000"/>
              <a:buChar char=""/>
              <a:tabLst>
                <a:tab pos="925830" algn="l"/>
              </a:tabLst>
            </a:pPr>
            <a:r>
              <a:rPr sz="2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and P</a:t>
            </a:r>
            <a:r>
              <a:rPr sz="2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channels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  <a:p>
            <a:pPr marL="37973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🞑</a:t>
            </a:r>
            <a:r>
              <a:rPr sz="1800" spc="25" dirty="0">
                <a:solidFill>
                  <a:srgbClr val="93B6D2"/>
                </a:solidFill>
                <a:latin typeface="Segoe UI Symbol" panose="020B0502040204020203"/>
                <a:cs typeface="Segoe UI Symbol" panose="020B0502040204020203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Enhancement</a:t>
            </a:r>
            <a:r>
              <a:rPr sz="2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MOS</a:t>
            </a:r>
            <a:endParaRPr sz="2600" dirty="0">
              <a:latin typeface="Times New Roman" panose="02020603050405020304"/>
              <a:cs typeface="Times New Roman" panose="02020603050405020304"/>
            </a:endParaRPr>
          </a:p>
          <a:p>
            <a:pPr marL="925830" lvl="1" indent="-2279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SzPct val="74000"/>
              <a:buFont typeface="Wingdings" panose="05000000000000000000"/>
              <a:buChar char=""/>
              <a:tabLst>
                <a:tab pos="925830" algn="l"/>
              </a:tabLst>
            </a:pPr>
            <a:r>
              <a:rPr sz="23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3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channels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915670"/>
            <a:ext cx="10515600" cy="114744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b="1" dirty="0"/>
              <a:t>Classification</a:t>
            </a:r>
            <a:r>
              <a:rPr b="1" spc="-40" dirty="0"/>
              <a:t> </a:t>
            </a:r>
            <a:r>
              <a:rPr b="1" spc="-10" dirty="0"/>
              <a:t>(cont’d)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15515" y="2037080"/>
            <a:ext cx="4283710" cy="59626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05125" algn="l"/>
              </a:tabLst>
            </a:pPr>
            <a:r>
              <a:rPr sz="1750" dirty="0">
                <a:solidFill>
                  <a:srgbClr val="DD8046"/>
                </a:solidFill>
                <a:latin typeface="Wingdings" panose="05000000000000000000"/>
                <a:cs typeface="Wingdings" panose="05000000000000000000"/>
              </a:rPr>
              <a:t></a:t>
            </a:r>
            <a:r>
              <a:rPr sz="1750" spc="35" dirty="0">
                <a:solidFill>
                  <a:srgbClr val="DD804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00" spc="-20" dirty="0">
                <a:latin typeface="Times New Roman" panose="02020603050405020304"/>
                <a:cs typeface="Times New Roman" panose="02020603050405020304"/>
              </a:rPr>
              <a:t>JFET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750" dirty="0">
                <a:solidFill>
                  <a:srgbClr val="DD8046"/>
                </a:solidFill>
                <a:latin typeface="Wingdings" panose="05000000000000000000"/>
                <a:cs typeface="Wingdings" panose="05000000000000000000"/>
              </a:rPr>
              <a:t></a:t>
            </a:r>
            <a:r>
              <a:rPr sz="1750" spc="45" dirty="0">
                <a:solidFill>
                  <a:srgbClr val="DD8046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00" spc="-20" dirty="0">
                <a:latin typeface="Times New Roman" panose="02020603050405020304"/>
                <a:cs typeface="Times New Roman" panose="02020603050405020304"/>
              </a:rPr>
              <a:t>D-</a:t>
            </a:r>
            <a:r>
              <a:rPr sz="2900" spc="-25" dirty="0">
                <a:latin typeface="Times New Roman" panose="02020603050405020304"/>
                <a:cs typeface="Times New Roman" panose="02020603050405020304"/>
              </a:rPr>
              <a:t>FET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2940050"/>
            <a:ext cx="2492777" cy="25877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94575" y="2063750"/>
            <a:ext cx="3135630" cy="42037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E-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FET</a:t>
            </a:r>
            <a:r>
              <a:rPr sz="29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(MOSFET)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3463" y="2667988"/>
            <a:ext cx="2625457" cy="28591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9811" y="2939852"/>
            <a:ext cx="2661649" cy="2858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2656" y="840587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JFET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5692" y="1530832"/>
            <a:ext cx="3882390" cy="21570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Structure</a:t>
            </a:r>
            <a:r>
              <a:rPr sz="2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Operation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Characteristic</a:t>
            </a:r>
            <a:r>
              <a:rPr sz="29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Curve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Compare</a:t>
            </a:r>
            <a:r>
              <a:rPr sz="29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9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25" dirty="0">
                <a:latin typeface="Times New Roman" panose="02020603050405020304"/>
                <a:cs typeface="Times New Roman" panose="02020603050405020304"/>
              </a:rPr>
              <a:t>BJT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Examples,</a:t>
            </a:r>
            <a:r>
              <a:rPr sz="2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datasheets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9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10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8411" y="2400300"/>
            <a:ext cx="2666253" cy="30495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07127" y="1902866"/>
            <a:ext cx="6079490" cy="4076700"/>
            <a:chOff x="183127" y="1902866"/>
            <a:chExt cx="6079490" cy="4076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27" y="1902866"/>
              <a:ext cx="4251939" cy="40763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7199" y="2590799"/>
              <a:ext cx="1994916" cy="27432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34413" y="1267205"/>
            <a:ext cx="110489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9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4540" y="5705347"/>
            <a:ext cx="8218170" cy="33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775F54"/>
              </a:buClr>
              <a:buSzPct val="69000"/>
              <a:buFont typeface="Wingdings" panose="05000000000000000000"/>
              <a:buChar char=""/>
              <a:tabLst>
                <a:tab pos="380365" algn="l"/>
              </a:tabLst>
            </a:pPr>
            <a:r>
              <a:rPr sz="2100" dirty="0">
                <a:latin typeface="Arial" panose="020B0604020202020204"/>
                <a:cs typeface="Arial" panose="020B0604020202020204"/>
              </a:rPr>
              <a:t>V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GS</a:t>
            </a:r>
            <a:r>
              <a:rPr sz="2100" spc="-44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0,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V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DS</a:t>
            </a:r>
            <a:r>
              <a:rPr sz="2100" dirty="0">
                <a:latin typeface="Arial" panose="020B0604020202020204"/>
                <a:cs typeface="Arial" panose="020B0604020202020204"/>
              </a:rPr>
              <a:t>&gt;0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increase</a:t>
            </a:r>
            <a:r>
              <a:rPr sz="21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10" dirty="0">
                <a:latin typeface="Arial" panose="020B0604020202020204"/>
                <a:cs typeface="Arial" panose="020B0604020202020204"/>
              </a:rPr>
              <a:t>gradually,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I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D</a:t>
            </a:r>
            <a:r>
              <a:rPr sz="2100" spc="247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increases</a:t>
            </a:r>
            <a:r>
              <a:rPr sz="21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and</a:t>
            </a:r>
            <a:r>
              <a:rPr sz="21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then</a:t>
            </a:r>
            <a:r>
              <a:rPr sz="21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10" dirty="0">
                <a:latin typeface="Arial" panose="020B0604020202020204"/>
                <a:cs typeface="Arial" panose="020B0604020202020204"/>
              </a:rPr>
              <a:t>saturates</a:t>
            </a:r>
            <a:endParaRPr sz="21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17250" y="1524000"/>
            <a:ext cx="8484235" cy="4267200"/>
            <a:chOff x="393250" y="1524000"/>
            <a:chExt cx="8484235" cy="4267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0" y="1524000"/>
              <a:ext cx="4000500" cy="4267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250" y="1752600"/>
              <a:ext cx="4254949" cy="3352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7250" y="1280160"/>
            <a:ext cx="8750935" cy="4815840"/>
            <a:chOff x="393250" y="1280160"/>
            <a:chExt cx="8750935" cy="4815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1447800"/>
              <a:ext cx="3814572" cy="4648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250" y="1905000"/>
              <a:ext cx="4254949" cy="33528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9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86940" y="5448389"/>
            <a:ext cx="5401945" cy="12242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05"/>
              </a:spcBef>
              <a:buClr>
                <a:srgbClr val="775F54"/>
              </a:buClr>
              <a:buSzPct val="69000"/>
              <a:buFont typeface="Wingdings" panose="05000000000000000000"/>
              <a:buChar char=""/>
              <a:tabLst>
                <a:tab pos="381000" algn="l"/>
              </a:tabLst>
            </a:pPr>
            <a:r>
              <a:rPr sz="2100" dirty="0">
                <a:latin typeface="Arial" panose="020B0604020202020204"/>
                <a:cs typeface="Arial" panose="020B0604020202020204"/>
              </a:rPr>
              <a:t>V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GS</a:t>
            </a:r>
            <a:r>
              <a:rPr sz="2100" spc="-37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0,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V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DS</a:t>
            </a:r>
            <a:r>
              <a:rPr sz="2100" spc="-37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 V</a:t>
            </a:r>
            <a:r>
              <a:rPr sz="2100" spc="-30" baseline="-20000" dirty="0">
                <a:latin typeface="Arial" panose="020B0604020202020204"/>
                <a:cs typeface="Arial" panose="020B0604020202020204"/>
              </a:rPr>
              <a:t>P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,</a:t>
            </a:r>
            <a:r>
              <a:rPr sz="21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I</a:t>
            </a:r>
            <a:r>
              <a:rPr sz="2100" baseline="-20000" dirty="0">
                <a:latin typeface="Arial" panose="020B0604020202020204"/>
                <a:cs typeface="Arial" panose="020B0604020202020204"/>
              </a:rPr>
              <a:t>D</a:t>
            </a:r>
            <a:r>
              <a:rPr sz="2100" spc="254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 I</a:t>
            </a:r>
            <a:r>
              <a:rPr sz="2100" spc="-30" baseline="-20000" dirty="0">
                <a:latin typeface="Arial" panose="020B0604020202020204"/>
                <a:cs typeface="Arial" panose="020B0604020202020204"/>
              </a:rPr>
              <a:t>DSS</a:t>
            </a:r>
            <a:endParaRPr sz="2100" baseline="-20000" dirty="0">
              <a:latin typeface="Arial" panose="020B0604020202020204"/>
              <a:cs typeface="Arial" panose="020B0604020202020204"/>
            </a:endParaRPr>
          </a:p>
          <a:p>
            <a:pPr marL="381000" indent="-342900">
              <a:lnSpc>
                <a:spcPct val="100000"/>
              </a:lnSpc>
              <a:spcBef>
                <a:spcPts val="510"/>
              </a:spcBef>
              <a:buClr>
                <a:srgbClr val="775F54"/>
              </a:buClr>
              <a:buSzPct val="69000"/>
              <a:buFont typeface="Wingdings" panose="05000000000000000000"/>
              <a:buChar char=""/>
              <a:tabLst>
                <a:tab pos="381000" algn="l"/>
              </a:tabLst>
            </a:pPr>
            <a:r>
              <a:rPr sz="2100" b="1" dirty="0">
                <a:latin typeface="Arial" panose="020B0604020202020204"/>
                <a:cs typeface="Arial" panose="020B0604020202020204"/>
              </a:rPr>
              <a:t>V</a:t>
            </a:r>
            <a:r>
              <a:rPr sz="2100" b="1" baseline="-20000" dirty="0">
                <a:latin typeface="Arial" panose="020B0604020202020204"/>
                <a:cs typeface="Arial" panose="020B0604020202020204"/>
              </a:rPr>
              <a:t>P</a:t>
            </a:r>
            <a:r>
              <a:rPr sz="2100" b="1" spc="240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latin typeface="Arial" panose="020B0604020202020204"/>
                <a:cs typeface="Arial" panose="020B0604020202020204"/>
              </a:rPr>
              <a:t>:</a:t>
            </a:r>
            <a:r>
              <a:rPr sz="21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latin typeface="Arial" panose="020B0604020202020204"/>
                <a:cs typeface="Arial" panose="020B0604020202020204"/>
              </a:rPr>
              <a:t>pinch off</a:t>
            </a:r>
            <a:r>
              <a:rPr sz="2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100" b="1" dirty="0">
                <a:latin typeface="Arial" panose="020B0604020202020204"/>
                <a:cs typeface="Arial" panose="020B0604020202020204"/>
              </a:rPr>
              <a:t>voltage</a:t>
            </a:r>
            <a:r>
              <a:rPr sz="21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10" dirty="0">
                <a:latin typeface="Arial" panose="020B0604020202020204"/>
                <a:cs typeface="Arial" panose="020B0604020202020204"/>
              </a:rPr>
              <a:t>(pinch-</a:t>
            </a:r>
            <a:r>
              <a:rPr sz="2100" spc="-20" dirty="0">
                <a:latin typeface="Arial" panose="020B0604020202020204"/>
                <a:cs typeface="Arial" panose="020B0604020202020204"/>
              </a:rPr>
              <a:t>off)</a:t>
            </a:r>
            <a:endParaRPr sz="2100" dirty="0">
              <a:latin typeface="Arial" panose="020B0604020202020204"/>
              <a:cs typeface="Arial" panose="020B0604020202020204"/>
            </a:endParaRPr>
          </a:p>
          <a:p>
            <a:pPr marL="3315335">
              <a:lnSpc>
                <a:spcPct val="100000"/>
              </a:lnSpc>
              <a:spcBef>
                <a:spcPts val="1240"/>
              </a:spcBef>
            </a:pP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b="1" i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800" b="1" i="1" spc="-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 I</a:t>
            </a:r>
            <a:r>
              <a:rPr sz="1800" b="1" i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DSS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(1</a:t>
            </a:r>
            <a:r>
              <a:rPr sz="1800" b="1" i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800" b="1" i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800" b="1" i="1" spc="-1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GS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/V</a:t>
            </a:r>
            <a:r>
              <a:rPr sz="1800" b="1" i="1" spc="-1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800" b="1" i="1" spc="-15" baseline="2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800" baseline="25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432" y="664621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9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481" y="4960636"/>
            <a:ext cx="8404860" cy="8255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30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&lt;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0,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DS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0,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Saturation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current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reduces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when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-2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pinch-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off</a:t>
            </a:r>
            <a:endParaRPr sz="2175" baseline="-210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53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,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5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9011" y="1050498"/>
            <a:ext cx="3370456" cy="37094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6922" y="1429160"/>
            <a:ext cx="4960831" cy="3217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5312" y="1280160"/>
            <a:ext cx="8552815" cy="3535679"/>
            <a:chOff x="591312" y="1280160"/>
            <a:chExt cx="8552815" cy="35356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1447800"/>
              <a:ext cx="6477000" cy="3352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34362" y="4267961"/>
              <a:ext cx="1371600" cy="533400"/>
            </a:xfrm>
            <a:custGeom>
              <a:avLst/>
              <a:gdLst/>
              <a:ahLst/>
              <a:cxnLst/>
              <a:rect l="l" t="t" r="r" b="b"/>
              <a:pathLst>
                <a:path w="1371600" h="533400">
                  <a:moveTo>
                    <a:pt x="0" y="266700"/>
                  </a:moveTo>
                  <a:lnTo>
                    <a:pt x="12367" y="216013"/>
                  </a:lnTo>
                  <a:lnTo>
                    <a:pt x="47936" y="168541"/>
                  </a:lnTo>
                  <a:lnTo>
                    <a:pt x="104406" y="125175"/>
                  </a:lnTo>
                  <a:lnTo>
                    <a:pt x="139761" y="105312"/>
                  </a:lnTo>
                  <a:lnTo>
                    <a:pt x="179477" y="86810"/>
                  </a:lnTo>
                  <a:lnTo>
                    <a:pt x="223269" y="69782"/>
                  </a:lnTo>
                  <a:lnTo>
                    <a:pt x="270848" y="54338"/>
                  </a:lnTo>
                  <a:lnTo>
                    <a:pt x="321928" y="40592"/>
                  </a:lnTo>
                  <a:lnTo>
                    <a:pt x="376219" y="28654"/>
                  </a:lnTo>
                  <a:lnTo>
                    <a:pt x="433436" y="18636"/>
                  </a:lnTo>
                  <a:lnTo>
                    <a:pt x="493290" y="10650"/>
                  </a:lnTo>
                  <a:lnTo>
                    <a:pt x="555493" y="4808"/>
                  </a:lnTo>
                  <a:lnTo>
                    <a:pt x="619759" y="1220"/>
                  </a:lnTo>
                  <a:lnTo>
                    <a:pt x="685800" y="0"/>
                  </a:lnTo>
                  <a:lnTo>
                    <a:pt x="751840" y="1220"/>
                  </a:lnTo>
                  <a:lnTo>
                    <a:pt x="816106" y="4808"/>
                  </a:lnTo>
                  <a:lnTo>
                    <a:pt x="878309" y="10650"/>
                  </a:lnTo>
                  <a:lnTo>
                    <a:pt x="938163" y="18636"/>
                  </a:lnTo>
                  <a:lnTo>
                    <a:pt x="995380" y="28654"/>
                  </a:lnTo>
                  <a:lnTo>
                    <a:pt x="1049671" y="40592"/>
                  </a:lnTo>
                  <a:lnTo>
                    <a:pt x="1100751" y="54338"/>
                  </a:lnTo>
                  <a:lnTo>
                    <a:pt x="1148330" y="69782"/>
                  </a:lnTo>
                  <a:lnTo>
                    <a:pt x="1192122" y="86810"/>
                  </a:lnTo>
                  <a:lnTo>
                    <a:pt x="1231838" y="105312"/>
                  </a:lnTo>
                  <a:lnTo>
                    <a:pt x="1267193" y="125175"/>
                  </a:lnTo>
                  <a:lnTo>
                    <a:pt x="1323663" y="168541"/>
                  </a:lnTo>
                  <a:lnTo>
                    <a:pt x="1359232" y="216013"/>
                  </a:lnTo>
                  <a:lnTo>
                    <a:pt x="1371600" y="266700"/>
                  </a:lnTo>
                  <a:lnTo>
                    <a:pt x="1368460" y="292389"/>
                  </a:lnTo>
                  <a:lnTo>
                    <a:pt x="1344204" y="341580"/>
                  </a:lnTo>
                  <a:lnTo>
                    <a:pt x="1297897" y="387110"/>
                  </a:lnTo>
                  <a:lnTo>
                    <a:pt x="1231838" y="428087"/>
                  </a:lnTo>
                  <a:lnTo>
                    <a:pt x="1192122" y="446589"/>
                  </a:lnTo>
                  <a:lnTo>
                    <a:pt x="1148330" y="463617"/>
                  </a:lnTo>
                  <a:lnTo>
                    <a:pt x="1100751" y="479061"/>
                  </a:lnTo>
                  <a:lnTo>
                    <a:pt x="1049671" y="492807"/>
                  </a:lnTo>
                  <a:lnTo>
                    <a:pt x="995380" y="504745"/>
                  </a:lnTo>
                  <a:lnTo>
                    <a:pt x="938163" y="514763"/>
                  </a:lnTo>
                  <a:lnTo>
                    <a:pt x="878309" y="522749"/>
                  </a:lnTo>
                  <a:lnTo>
                    <a:pt x="816106" y="528591"/>
                  </a:lnTo>
                  <a:lnTo>
                    <a:pt x="751840" y="532179"/>
                  </a:lnTo>
                  <a:lnTo>
                    <a:pt x="685800" y="533400"/>
                  </a:lnTo>
                  <a:lnTo>
                    <a:pt x="619759" y="532179"/>
                  </a:lnTo>
                  <a:lnTo>
                    <a:pt x="555493" y="528591"/>
                  </a:lnTo>
                  <a:lnTo>
                    <a:pt x="493290" y="522749"/>
                  </a:lnTo>
                  <a:lnTo>
                    <a:pt x="433436" y="514763"/>
                  </a:lnTo>
                  <a:lnTo>
                    <a:pt x="376219" y="504745"/>
                  </a:lnTo>
                  <a:lnTo>
                    <a:pt x="321928" y="492807"/>
                  </a:lnTo>
                  <a:lnTo>
                    <a:pt x="270848" y="479061"/>
                  </a:lnTo>
                  <a:lnTo>
                    <a:pt x="223269" y="463617"/>
                  </a:lnTo>
                  <a:lnTo>
                    <a:pt x="179477" y="446589"/>
                  </a:lnTo>
                  <a:lnTo>
                    <a:pt x="139761" y="428087"/>
                  </a:lnTo>
                  <a:lnTo>
                    <a:pt x="104406" y="408224"/>
                  </a:lnTo>
                  <a:lnTo>
                    <a:pt x="47936" y="364858"/>
                  </a:lnTo>
                  <a:lnTo>
                    <a:pt x="12367" y="317386"/>
                  </a:lnTo>
                  <a:lnTo>
                    <a:pt x="0" y="266700"/>
                  </a:lnTo>
                  <a:close/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55103" y="245453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8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Characteristic</a:t>
            </a:r>
            <a:r>
              <a:rPr spc="-35" dirty="0"/>
              <a:t> </a:t>
            </a:r>
            <a:r>
              <a:rPr spc="-10" dirty="0"/>
              <a:t>Curves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86940" y="5055870"/>
            <a:ext cx="4185920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1000" algn="l"/>
                <a:tab pos="178625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0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f(V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200" dirty="0">
                <a:latin typeface="Arial" panose="020B0604020202020204"/>
                <a:cs typeface="Arial" panose="020B0604020202020204"/>
              </a:rPr>
              <a:t>	Shockley</a:t>
            </a:r>
            <a:r>
              <a:rPr sz="22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equation: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6940" y="5389829"/>
            <a:ext cx="1266825" cy="8915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-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0A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0" indent="-342900">
              <a:lnSpc>
                <a:spcPct val="100000"/>
              </a:lnSpc>
              <a:spcBef>
                <a:spcPts val="79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S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5994" y="5389829"/>
            <a:ext cx="4320540" cy="8915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(gate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current)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(I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-2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drain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current,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175" spc="24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source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current)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2428" y="5046344"/>
            <a:ext cx="2214372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800" b="1" i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800" b="1" i="1" spc="-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 I</a:t>
            </a:r>
            <a:r>
              <a:rPr sz="1800" b="1" i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DSS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(1</a:t>
            </a:r>
            <a:r>
              <a:rPr sz="1800" b="1" i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800" b="1" i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800" b="1" i="1" spc="-1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GS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/V</a:t>
            </a:r>
            <a:r>
              <a:rPr sz="1800" b="1" i="1" spc="-1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800" b="1" i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800" b="1" i="1" spc="-15" baseline="25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800" baseline="250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8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dirty="0"/>
              <a:t>Characteristic</a:t>
            </a:r>
            <a:r>
              <a:rPr spc="-35" dirty="0"/>
              <a:t> </a:t>
            </a:r>
            <a:r>
              <a:rPr spc="-10" dirty="0"/>
              <a:t>Curves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83628" y="5184394"/>
            <a:ext cx="339471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Arial" panose="020B0604020202020204"/>
                <a:cs typeface="Arial" panose="020B0604020202020204"/>
              </a:rPr>
              <a:t>P-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channel,</a:t>
            </a:r>
            <a:r>
              <a:rPr sz="19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I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DSS</a:t>
            </a:r>
            <a:r>
              <a:rPr sz="1875" spc="-22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=</a:t>
            </a:r>
            <a:r>
              <a:rPr sz="19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6mA,</a:t>
            </a:r>
            <a:r>
              <a:rPr sz="19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875" spc="-52" baseline="-20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900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6V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2140" y="5285994"/>
            <a:ext cx="355727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Arial" panose="020B0604020202020204"/>
                <a:cs typeface="Arial" panose="020B0604020202020204"/>
              </a:rPr>
              <a:t>N-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channel,</a:t>
            </a:r>
            <a:r>
              <a:rPr sz="1900" spc="2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I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DSS</a:t>
            </a:r>
            <a:r>
              <a:rPr sz="1875" spc="-22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=</a:t>
            </a:r>
            <a:r>
              <a:rPr sz="19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8mA,</a:t>
            </a:r>
            <a:r>
              <a:rPr sz="19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875" spc="-44" baseline="-20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9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9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4V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152" y="2088523"/>
            <a:ext cx="4025406" cy="27395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4951" y="2053990"/>
            <a:ext cx="4601351" cy="29843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JFET</a:t>
            </a:r>
            <a:r>
              <a:rPr spc="-85" dirty="0"/>
              <a:t> </a:t>
            </a:r>
            <a:r>
              <a:rPr dirty="0"/>
              <a:t>–</a:t>
            </a:r>
            <a:r>
              <a:rPr spc="-5" dirty="0"/>
              <a:t> </a:t>
            </a:r>
            <a:r>
              <a:rPr spc="-10" dirty="0"/>
              <a:t>Symbol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9219" y="2542720"/>
            <a:ext cx="1984697" cy="30964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4047" y="1816100"/>
            <a:ext cx="3210135" cy="38650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585" y="189809"/>
            <a:ext cx="10515600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JFET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737743"/>
            <a:ext cx="182943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2N5457</a:t>
            </a:r>
            <a:endParaRPr sz="44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1359" y="189809"/>
            <a:ext cx="4993341" cy="61202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44" y="176250"/>
            <a:ext cx="10515600" cy="662940"/>
          </a:xfrm>
          <a:prstGeom prst="rect">
            <a:avLst/>
          </a:prstGeom>
        </p:spPr>
        <p:txBody>
          <a:bodyPr vert="horz" wrap="square" lIns="0" tIns="140462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3400" spc="-20" dirty="0"/>
              <a:t>Datasheet-</a:t>
            </a:r>
            <a:r>
              <a:rPr sz="3400" spc="-10" dirty="0"/>
              <a:t>2N5457</a:t>
            </a:r>
            <a:endParaRPr sz="3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05977"/>
              </p:ext>
            </p:extLst>
          </p:nvPr>
        </p:nvGraphicFramePr>
        <p:xfrm>
          <a:off x="1805548" y="1137677"/>
          <a:ext cx="8077200" cy="4985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Rating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Symbol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Value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Unit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Drain-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Source</a:t>
                      </a:r>
                      <a:r>
                        <a:rPr sz="2200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voltage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7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DS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Drain-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Gate</a:t>
                      </a:r>
                      <a:r>
                        <a:rPr sz="220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voltage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7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DG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Reverse</a:t>
                      </a:r>
                      <a:r>
                        <a:rPr sz="2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G-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2200" spc="-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voltage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GSR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Gate</a:t>
                      </a:r>
                      <a:r>
                        <a:rPr sz="2200" spc="-5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current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nAdc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Device</a:t>
                      </a:r>
                      <a:r>
                        <a:rPr sz="2200" spc="-1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dissipation</a:t>
                      </a:r>
                      <a:r>
                        <a:rPr sz="2200" spc="-1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r>
                        <a:rPr sz="2175" spc="-30" baseline="250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Derate</a:t>
                      </a:r>
                      <a:r>
                        <a:rPr sz="2200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above</a:t>
                      </a:r>
                      <a:r>
                        <a:rPr sz="2200" spc="-6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r>
                        <a:rPr sz="2175" spc="-30" baseline="250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310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2.82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mW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mW/</a:t>
                      </a:r>
                      <a:r>
                        <a:rPr sz="2175" spc="-15" baseline="2500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5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Junction</a:t>
                      </a:r>
                      <a:r>
                        <a:rPr sz="2200" spc="-8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temp</a:t>
                      </a: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range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J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285"/>
                        </a:lnSpc>
                      </a:pP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3300" spc="-37" baseline="-16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3300" baseline="-16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13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Storage</a:t>
                      </a:r>
                      <a:r>
                        <a:rPr sz="2200" spc="-7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channel</a:t>
                      </a:r>
                      <a:r>
                        <a:rPr sz="2200" spc="-8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temp</a:t>
                      </a:r>
                      <a:r>
                        <a:rPr sz="2200" spc="-7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range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stg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60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to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+150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285"/>
                        </a:lnSpc>
                      </a:pP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3300" spc="-37" baseline="-16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3300" baseline="-16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162" y="334608"/>
            <a:ext cx="10515600" cy="633095"/>
          </a:xfrm>
          <a:prstGeom prst="rect">
            <a:avLst/>
          </a:prstGeom>
        </p:spPr>
        <p:txBody>
          <a:bodyPr vert="horz" wrap="square" lIns="0" tIns="171577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000" spc="-20" dirty="0"/>
              <a:t>Datasheet-</a:t>
            </a:r>
            <a:r>
              <a:rPr sz="3000" spc="-10" dirty="0"/>
              <a:t>2N5457-characteristics</a:t>
            </a:r>
            <a:endParaRPr sz="30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398"/>
              </p:ext>
            </p:extLst>
          </p:nvPr>
        </p:nvGraphicFramePr>
        <p:xfrm>
          <a:off x="1805548" y="1128712"/>
          <a:ext cx="8229600" cy="473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Characteristic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Symbol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Min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Typ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Max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Unit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G-S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breakdown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0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(BR)GSS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0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gate</a:t>
                      </a:r>
                      <a:r>
                        <a:rPr sz="1450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reverse(Vgs=-15,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Vds=0)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GSS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nAdc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G-S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cutoff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GS(off)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0.5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G-</a:t>
                      </a:r>
                      <a:r>
                        <a:rPr sz="1450" spc="-5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7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GS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2.5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6.0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D-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zero gate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volage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DSS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3.0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mAdc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5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7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iss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4.5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7.0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pF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reverse</a:t>
                      </a:r>
                      <a:r>
                        <a:rPr sz="145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transfer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rss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1.5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3.0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pF</a:t>
                      </a:r>
                      <a:endParaRPr sz="22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5907" y="310440"/>
            <a:ext cx="10515600" cy="94551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MOSFET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15692" y="1530832"/>
            <a:ext cx="3523615" cy="16211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Structures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Operation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Characteristic</a:t>
            </a:r>
            <a:r>
              <a:rPr sz="29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Curves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24000" y="1280160"/>
            <a:ext cx="9144000" cy="4133215"/>
            <a:chOff x="0" y="1280160"/>
            <a:chExt cx="9144000" cy="4133215"/>
          </a:xfrm>
        </p:grpSpPr>
        <p:sp>
          <p:nvSpPr>
            <p:cNvPr id="4" name="object 4"/>
            <p:cNvSpPr/>
            <p:nvPr/>
          </p:nvSpPr>
          <p:spPr>
            <a:xfrm>
              <a:off x="591312" y="1280160"/>
              <a:ext cx="8552815" cy="228600"/>
            </a:xfrm>
            <a:custGeom>
              <a:avLst/>
              <a:gdLst/>
              <a:ahLst/>
              <a:cxnLst/>
              <a:rect l="l" t="t" r="r" b="b"/>
              <a:pathLst>
                <a:path w="8552815" h="228600">
                  <a:moveTo>
                    <a:pt x="8552688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8552688" y="228600"/>
                  </a:lnTo>
                  <a:lnTo>
                    <a:pt x="8552688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47800"/>
              <a:ext cx="4343399" cy="39654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6800" y="1371600"/>
              <a:ext cx="4267199" cy="402640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3460" y="576580"/>
            <a:ext cx="10515600" cy="52641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MOSFET</a:t>
            </a:r>
            <a:r>
              <a:rPr spc="-90" dirty="0"/>
              <a:t> </a:t>
            </a:r>
            <a:r>
              <a:rPr dirty="0"/>
              <a:t>– </a:t>
            </a:r>
            <a:r>
              <a:rPr spc="-10" dirty="0"/>
              <a:t>Structure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32828" y="5666638"/>
            <a:ext cx="346773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Arial" panose="020B0604020202020204"/>
                <a:cs typeface="Arial" panose="020B0604020202020204"/>
              </a:rPr>
              <a:t>N-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</a:t>
            </a:r>
            <a:r>
              <a:rPr sz="19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900" dirty="0">
                <a:latin typeface="Arial" panose="020B0604020202020204"/>
                <a:cs typeface="Arial" panose="020B0604020202020204"/>
              </a:rPr>
              <a:t>nhancement</a:t>
            </a:r>
            <a:r>
              <a:rPr sz="19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9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EMOS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9940" y="5666638"/>
            <a:ext cx="301117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20" dirty="0">
                <a:latin typeface="Arial" panose="020B0604020202020204"/>
                <a:cs typeface="Arial" panose="020B0604020202020204"/>
              </a:rPr>
              <a:t>N-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</a:t>
            </a:r>
            <a:r>
              <a:rPr sz="19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900" dirty="0">
                <a:latin typeface="Arial" panose="020B0604020202020204"/>
                <a:cs typeface="Arial" panose="020B0604020202020204"/>
              </a:rPr>
              <a:t>epletion</a:t>
            </a:r>
            <a:r>
              <a:rPr sz="19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19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DMOS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031490"/>
            <a:ext cx="4044696" cy="4191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1655" y="34124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MOSFET</a:t>
            </a:r>
            <a:r>
              <a:rPr spc="-90" dirty="0"/>
              <a:t> </a:t>
            </a:r>
            <a:r>
              <a:rPr dirty="0"/>
              <a:t>– </a:t>
            </a:r>
            <a:r>
              <a:rPr spc="-10" dirty="0"/>
              <a:t>Operation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2600" y="1525266"/>
            <a:ext cx="3916855" cy="36628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83628" y="5267688"/>
            <a:ext cx="2001520" cy="7143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60"/>
              </a:spcBef>
            </a:pPr>
            <a:r>
              <a:rPr sz="1900" spc="-20" dirty="0">
                <a:latin typeface="Arial" panose="020B0604020202020204"/>
                <a:cs typeface="Arial" panose="020B0604020202020204"/>
              </a:rPr>
              <a:t>N-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</a:t>
            </a:r>
            <a:r>
              <a:rPr sz="19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900" spc="-20" dirty="0">
                <a:latin typeface="Arial" panose="020B0604020202020204"/>
                <a:cs typeface="Arial" panose="020B0604020202020204"/>
              </a:rPr>
              <a:t>EMOS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460"/>
              </a:spcBef>
            </a:pPr>
            <a:r>
              <a:rPr sz="1900" dirty="0"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GS </a:t>
            </a:r>
            <a:r>
              <a:rPr sz="1900" dirty="0">
                <a:latin typeface="Arial" panose="020B0604020202020204"/>
                <a:cs typeface="Arial" panose="020B0604020202020204"/>
              </a:rPr>
              <a:t>&gt;</a:t>
            </a:r>
            <a:r>
              <a:rPr sz="19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TH</a:t>
            </a:r>
            <a:r>
              <a:rPr sz="1900" dirty="0">
                <a:latin typeface="Arial" panose="020B0604020202020204"/>
                <a:cs typeface="Arial" panose="020B0604020202020204"/>
              </a:rPr>
              <a:t>,</a:t>
            </a:r>
            <a:r>
              <a:rPr sz="19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DS</a:t>
            </a:r>
            <a:r>
              <a:rPr sz="1875" spc="7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&gt;</a:t>
            </a:r>
            <a:r>
              <a:rPr sz="19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900" spc="-50" dirty="0">
                <a:latin typeface="Arial" panose="020B0604020202020204"/>
                <a:cs typeface="Arial" panose="020B0604020202020204"/>
              </a:rPr>
              <a:t>0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86940" y="5229588"/>
            <a:ext cx="1972945" cy="7143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60"/>
              </a:spcBef>
            </a:pPr>
            <a:r>
              <a:rPr sz="1900" spc="-20" dirty="0">
                <a:latin typeface="Arial" panose="020B0604020202020204"/>
                <a:cs typeface="Arial" panose="020B0604020202020204"/>
              </a:rPr>
              <a:t>N-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</a:t>
            </a:r>
            <a:r>
              <a:rPr sz="19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1900" spc="-20" dirty="0">
                <a:latin typeface="Arial" panose="020B0604020202020204"/>
                <a:cs typeface="Arial" panose="020B0604020202020204"/>
              </a:rPr>
              <a:t>DMOS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460"/>
              </a:spcBef>
            </a:pPr>
            <a:r>
              <a:rPr sz="1900" dirty="0"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GS </a:t>
            </a:r>
            <a:r>
              <a:rPr sz="1900" dirty="0">
                <a:latin typeface="Arial" panose="020B0604020202020204"/>
                <a:cs typeface="Arial" panose="020B0604020202020204"/>
              </a:rPr>
              <a:t>=</a:t>
            </a:r>
            <a:r>
              <a:rPr sz="19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0,</a:t>
            </a:r>
            <a:r>
              <a:rPr sz="19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V</a:t>
            </a:r>
            <a:r>
              <a:rPr sz="1875" baseline="-20000" dirty="0">
                <a:latin typeface="Arial" panose="020B0604020202020204"/>
                <a:cs typeface="Arial" panose="020B0604020202020204"/>
              </a:rPr>
              <a:t>DS</a:t>
            </a:r>
            <a:r>
              <a:rPr sz="1875" spc="-15" baseline="-20000" dirty="0">
                <a:latin typeface="Arial" panose="020B0604020202020204"/>
                <a:cs typeface="Arial" panose="020B0604020202020204"/>
              </a:rPr>
              <a:t> </a:t>
            </a:r>
            <a:r>
              <a:rPr sz="1900" dirty="0">
                <a:latin typeface="Arial" panose="020B0604020202020204"/>
                <a:cs typeface="Arial" panose="020B0604020202020204"/>
              </a:rPr>
              <a:t>&gt;</a:t>
            </a:r>
            <a:r>
              <a:rPr sz="19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1900" spc="-60" dirty="0">
                <a:latin typeface="Arial" panose="020B0604020202020204"/>
                <a:cs typeface="Arial" panose="020B0604020202020204"/>
              </a:rPr>
              <a:t>0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550" y="366171"/>
            <a:ext cx="10515600" cy="677545"/>
          </a:xfrm>
          <a:prstGeom prst="rect">
            <a:avLst/>
          </a:prstGeom>
        </p:spPr>
        <p:txBody>
          <a:bodyPr vert="horz" wrap="square" lIns="0" tIns="124333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DMOS</a:t>
            </a:r>
            <a:r>
              <a:rPr sz="3600" b="1" spc="-1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/>
              <a:t>–</a:t>
            </a:r>
            <a:r>
              <a:rPr sz="3600" spc="-155" dirty="0"/>
              <a:t> </a:t>
            </a:r>
            <a:r>
              <a:rPr sz="3600" spc="-10" dirty="0"/>
              <a:t>Transfer</a:t>
            </a:r>
            <a:r>
              <a:rPr sz="3600" spc="-90" dirty="0"/>
              <a:t> </a:t>
            </a:r>
            <a:r>
              <a:rPr sz="3600" dirty="0"/>
              <a:t>characteristic</a:t>
            </a:r>
            <a:r>
              <a:rPr sz="3600" spc="-80" dirty="0"/>
              <a:t> </a:t>
            </a:r>
            <a:r>
              <a:rPr sz="3600" spc="-10" dirty="0"/>
              <a:t>curves</a:t>
            </a:r>
            <a:endParaRPr sz="36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3140" y="4885540"/>
            <a:ext cx="7220584" cy="1129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Similar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JFET,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transfer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characteristic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3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f(V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0">
              <a:lnSpc>
                <a:spcPct val="100000"/>
              </a:lnSpc>
              <a:tabLst>
                <a:tab pos="398526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follows</a:t>
            </a:r>
            <a:r>
              <a:rPr sz="22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Shockley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equation:</a:t>
            </a:r>
            <a:r>
              <a:rPr sz="2200" dirty="0">
                <a:latin typeface="Arial" panose="020B0604020202020204"/>
                <a:cs typeface="Arial" panose="020B0604020202020204"/>
              </a:rPr>
              <a:t>	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 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DSS</a:t>
            </a:r>
            <a:r>
              <a:rPr sz="2200" dirty="0">
                <a:latin typeface="Arial" panose="020B0604020202020204"/>
                <a:cs typeface="Arial" panose="020B0604020202020204"/>
              </a:rPr>
              <a:t>(1</a:t>
            </a:r>
            <a:r>
              <a:rPr sz="22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-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15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  <a:p>
            <a:pPr marL="381000" indent="-342900">
              <a:lnSpc>
                <a:spcPct val="100000"/>
              </a:lnSpc>
              <a:spcBef>
                <a:spcPts val="7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Can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work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at: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GS</a:t>
            </a:r>
            <a:r>
              <a:rPr sz="2175" spc="270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22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0,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175" spc="27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&gt;</a:t>
            </a:r>
            <a:r>
              <a:rPr sz="22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0703" y="1309146"/>
            <a:ext cx="6956473" cy="35329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447800"/>
            <a:ext cx="7162800" cy="3505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5103" y="386532"/>
            <a:ext cx="10515600" cy="677545"/>
          </a:xfrm>
          <a:prstGeom prst="rect">
            <a:avLst/>
          </a:prstGeom>
        </p:spPr>
        <p:txBody>
          <a:bodyPr vert="horz" wrap="square" lIns="0" tIns="124333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EMOS</a:t>
            </a:r>
            <a:r>
              <a:rPr sz="36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/>
              <a:t>–</a:t>
            </a:r>
            <a:r>
              <a:rPr sz="3600" spc="-155" dirty="0"/>
              <a:t> </a:t>
            </a:r>
            <a:r>
              <a:rPr sz="3600" spc="-10" dirty="0"/>
              <a:t>Transfer</a:t>
            </a:r>
            <a:r>
              <a:rPr sz="3600" spc="-90" dirty="0"/>
              <a:t> </a:t>
            </a:r>
            <a:r>
              <a:rPr sz="3600" dirty="0"/>
              <a:t>characteristic</a:t>
            </a:r>
            <a:r>
              <a:rPr sz="3600" spc="-80" dirty="0"/>
              <a:t> </a:t>
            </a:r>
            <a:r>
              <a:rPr sz="3600" spc="-10" dirty="0"/>
              <a:t>curve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5940" y="5042902"/>
            <a:ext cx="8030209" cy="12312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3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Transfer</a:t>
            </a:r>
            <a:r>
              <a:rPr sz="220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characteristic</a:t>
            </a:r>
            <a:r>
              <a:rPr sz="2200" spc="-1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curve: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3810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k(V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7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–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dirty="0">
                <a:latin typeface="Arial" panose="020B0604020202020204"/>
                <a:cs typeface="Arial" panose="020B0604020202020204"/>
              </a:rPr>
              <a:t>)</a:t>
            </a:r>
            <a:r>
              <a:rPr sz="2175" baseline="25000" dirty="0">
                <a:latin typeface="Arial" panose="020B0604020202020204"/>
                <a:cs typeface="Arial" panose="020B0604020202020204"/>
              </a:rPr>
              <a:t>2</a:t>
            </a:r>
            <a:r>
              <a:rPr sz="2175" spc="262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175" spc="-4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(for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NMOS)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Vt&lt;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PMOS)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525"/>
              </a:spcBef>
              <a:buClr>
                <a:srgbClr val="775F54"/>
              </a:buClr>
              <a:buSzPct val="68000"/>
              <a:buFont typeface="Wingdings" panose="05000000000000000000"/>
              <a:buChar char="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When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&lt;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7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544195"/>
            <a:ext cx="10515600" cy="723265"/>
          </a:xfrm>
          <a:prstGeom prst="rect">
            <a:avLst/>
          </a:prstGeom>
        </p:spPr>
        <p:txBody>
          <a:bodyPr vert="horz" wrap="square" lIns="0" tIns="124333" rIns="0" bIns="0" rtlCol="0">
            <a:no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MOSFET</a:t>
            </a:r>
            <a:r>
              <a:rPr sz="3600" spc="-170" dirty="0"/>
              <a:t> </a:t>
            </a:r>
            <a:r>
              <a:rPr sz="3600" dirty="0"/>
              <a:t>–</a:t>
            </a:r>
            <a:r>
              <a:rPr sz="3600" spc="-155" dirty="0"/>
              <a:t> </a:t>
            </a:r>
            <a:r>
              <a:rPr sz="3600" spc="-10" dirty="0"/>
              <a:t>Transfer</a:t>
            </a:r>
            <a:r>
              <a:rPr sz="3600" spc="-90" dirty="0"/>
              <a:t> </a:t>
            </a:r>
            <a:r>
              <a:rPr sz="3600" dirty="0"/>
              <a:t>characteristic</a:t>
            </a:r>
            <a:r>
              <a:rPr sz="3600" spc="-80" dirty="0"/>
              <a:t> </a:t>
            </a:r>
            <a:r>
              <a:rPr sz="3600" spc="-10" dirty="0"/>
              <a:t>curve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199921"/>
            <a:ext cx="6781800" cy="28409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79975" y="5514543"/>
            <a:ext cx="2159635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Arial" panose="020B0604020202020204"/>
                <a:cs typeface="Arial" panose="020B0604020202020204"/>
              </a:rPr>
              <a:t>P-</a:t>
            </a:r>
            <a:r>
              <a:rPr sz="1900" dirty="0">
                <a:latin typeface="Arial" panose="020B0604020202020204"/>
                <a:cs typeface="Arial" panose="020B0604020202020204"/>
              </a:rPr>
              <a:t>channel</a:t>
            </a:r>
            <a:r>
              <a:rPr sz="19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1900" spc="-10" dirty="0">
                <a:latin typeface="Arial" panose="020B0604020202020204"/>
                <a:cs typeface="Arial" panose="020B0604020202020204"/>
              </a:rPr>
              <a:t>depletion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605155"/>
            <a:ext cx="10515600" cy="674370"/>
          </a:xfrm>
          <a:prstGeom prst="rect">
            <a:avLst/>
          </a:prstGeom>
        </p:spPr>
        <p:txBody>
          <a:bodyPr vert="horz" wrap="square" lIns="0" tIns="124333" rIns="0" bIns="0" rtlCol="0">
            <a:no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MOSFET</a:t>
            </a:r>
            <a:r>
              <a:rPr sz="3600" spc="-170" dirty="0"/>
              <a:t> </a:t>
            </a:r>
            <a:r>
              <a:rPr sz="3600" dirty="0"/>
              <a:t>–</a:t>
            </a:r>
            <a:r>
              <a:rPr sz="3600" spc="-155" dirty="0"/>
              <a:t> </a:t>
            </a:r>
            <a:r>
              <a:rPr sz="3600" spc="-10" dirty="0"/>
              <a:t>Transfer</a:t>
            </a:r>
            <a:r>
              <a:rPr sz="3600" spc="-90" dirty="0"/>
              <a:t> </a:t>
            </a:r>
            <a:r>
              <a:rPr sz="3600" dirty="0"/>
              <a:t>characteristic</a:t>
            </a:r>
            <a:r>
              <a:rPr sz="3600" spc="-80" dirty="0"/>
              <a:t> </a:t>
            </a:r>
            <a:r>
              <a:rPr sz="3600" spc="-10" dirty="0"/>
              <a:t>curve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4952" y="1967442"/>
            <a:ext cx="5897880" cy="365232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51375" y="5819647"/>
            <a:ext cx="2801620" cy="30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P-</a:t>
            </a:r>
            <a:r>
              <a:rPr sz="19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channel</a:t>
            </a:r>
            <a:r>
              <a:rPr sz="19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enhancement</a:t>
            </a:r>
            <a:endParaRPr sz="19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9017" y="347358"/>
            <a:ext cx="10515600" cy="650240"/>
          </a:xfrm>
          <a:prstGeom prst="rect">
            <a:avLst/>
          </a:prstGeom>
        </p:spPr>
        <p:txBody>
          <a:bodyPr vert="horz" wrap="square" lIns="0" tIns="124333" rIns="0" bIns="0" rtlCol="0">
            <a:no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MOSFET</a:t>
            </a:r>
            <a:r>
              <a:rPr sz="3600" spc="-75" dirty="0"/>
              <a:t> </a:t>
            </a:r>
            <a:r>
              <a:rPr sz="3600" dirty="0"/>
              <a:t>–</a:t>
            </a:r>
            <a:r>
              <a:rPr sz="3600" spc="5" dirty="0"/>
              <a:t> </a:t>
            </a:r>
            <a:r>
              <a:rPr sz="3600" spc="-10" dirty="0"/>
              <a:t>Symbol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8418956" y="5970523"/>
            <a:ext cx="92329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EMOS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453" y="1686232"/>
            <a:ext cx="2000364" cy="40017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5480" y="1706879"/>
            <a:ext cx="1760220" cy="36271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34528" y="1524000"/>
            <a:ext cx="1947672" cy="4572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07994" y="5970523"/>
            <a:ext cx="9398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DMOS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9532" y="0"/>
            <a:ext cx="5708538" cy="62865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460" y="996633"/>
            <a:ext cx="1584325" cy="1299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EMOS</a:t>
            </a:r>
            <a:endParaRPr sz="3600"/>
          </a:p>
          <a:p>
            <a:pPr algn="ctr">
              <a:lnSpc>
                <a:spcPct val="100000"/>
              </a:lnSpc>
            </a:pPr>
            <a:r>
              <a:rPr sz="1800" b="1" baseline="14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25</a:t>
            </a:r>
            <a:r>
              <a:rPr sz="1800" b="1" spc="37" baseline="140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10" dirty="0"/>
              <a:t>2N4351</a:t>
            </a:r>
            <a:endParaRPr sz="3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462280"/>
            <a:ext cx="10515600" cy="1500505"/>
          </a:xfrm>
          <a:prstGeom prst="rect">
            <a:avLst/>
          </a:prstGeom>
        </p:spPr>
        <p:txBody>
          <a:bodyPr vert="horz" wrap="square" lIns="0" tIns="171577" rIns="0" bIns="0" rtlCol="0">
            <a:no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000" spc="-20" dirty="0"/>
              <a:t>Datasheet-</a:t>
            </a:r>
            <a:r>
              <a:rPr sz="3000" spc="-10" dirty="0"/>
              <a:t>2N4351-</a:t>
            </a:r>
            <a:r>
              <a:rPr sz="3000" spc="-20" dirty="0"/>
              <a:t>EMOS</a:t>
            </a:r>
            <a:endParaRPr sz="3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66912" y="1585912"/>
          <a:ext cx="8077200" cy="4656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Characteristic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Symbol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Min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Max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Unit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DS</a:t>
                      </a:r>
                      <a:r>
                        <a:rPr sz="1450" spc="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breakdown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(BR)DSX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25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Vdc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91440" marR="1205865">
                        <a:lnSpc>
                          <a:spcPct val="115000"/>
                        </a:lnSpc>
                        <a:spcBef>
                          <a:spcPts val="450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D-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zero gate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volage, 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Vds=10V,Vgs=0,</a:t>
                      </a:r>
                      <a:r>
                        <a:rPr sz="1450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25C</a:t>
                      </a:r>
                      <a:r>
                        <a:rPr sz="145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–</a:t>
                      </a:r>
                      <a:r>
                        <a:rPr sz="145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150C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571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DSS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nAdc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µAdc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gate reverse(Vgs=+-15,</a:t>
                      </a:r>
                      <a:r>
                        <a:rPr sz="1450" spc="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Vds=0)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GSS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+-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nAdc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DS</a:t>
                      </a:r>
                      <a:r>
                        <a:rPr sz="1450" spc="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dirty="0">
                          <a:latin typeface="Arial" panose="020B0604020202020204"/>
                          <a:cs typeface="Arial" panose="020B0604020202020204"/>
                        </a:rPr>
                        <a:t>on</a:t>
                      </a: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Voltage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DS(on)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1.0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in(Vds=10V,Id=2mA,f=140kHz)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iss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pF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DS(Vdsub=10V,f=140KHz)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30" baseline="14000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sz="1450" spc="-20" dirty="0">
                          <a:latin typeface="Arial" panose="020B0604020202020204"/>
                          <a:cs typeface="Arial" panose="020B0604020202020204"/>
                        </a:rPr>
                        <a:t>rss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5.0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pF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DS(Vgs=10V,Id=0,f=1KHz)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3300" spc="-15" baseline="140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450" spc="-10" dirty="0">
                          <a:latin typeface="Arial" panose="020B0604020202020204"/>
                          <a:cs typeface="Arial" panose="020B0604020202020204"/>
                        </a:rPr>
                        <a:t>ds(on)</a:t>
                      </a:r>
                      <a:endParaRPr sz="145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300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00" spc="-20" dirty="0">
                          <a:latin typeface="Arial" panose="020B0604020202020204"/>
                          <a:cs typeface="Arial" panose="020B0604020202020204"/>
                        </a:rPr>
                        <a:t>ohms</a:t>
                      </a:r>
                      <a:endParaRPr sz="2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44" y="290907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VMOS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8223" y="4615365"/>
            <a:ext cx="6931025" cy="129730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VMOS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Vertical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MOSFET,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increase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channel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lengt</a:t>
            </a:r>
            <a:r>
              <a:rPr lang="en-US" sz="2200" spc="-10" dirty="0">
                <a:latin typeface="Times New Roman" panose="02020603050405020304"/>
                <a:cs typeface="Times New Roman" panose="02020603050405020304"/>
              </a:rPr>
              <a:t>h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marL="402590" indent="-38989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40259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Increase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drain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current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thanks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space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heat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release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switching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speed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7283" y="793377"/>
            <a:ext cx="5791200" cy="3810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57346-557E-F8ED-C729-324901069204}"/>
                  </a:ext>
                </a:extLst>
              </p14:cNvPr>
              <p14:cNvContentPartPr/>
              <p14:nvPr/>
            </p14:nvContentPartPr>
            <p14:xfrm>
              <a:off x="7900864" y="4900226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57346-557E-F8ED-C729-3249010692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94744" y="489410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5004" y="202692"/>
            <a:ext cx="10438130" cy="55118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Resume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002" y="3969502"/>
            <a:ext cx="4090834" cy="21442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8960" y="1439662"/>
            <a:ext cx="4057575" cy="21122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3489" y="1211062"/>
            <a:ext cx="4025816" cy="23408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77695" y="1080124"/>
            <a:ext cx="89408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JFET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30059" y="970397"/>
            <a:ext cx="97155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DFET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6930" y="3823959"/>
            <a:ext cx="152527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MOSFET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0" y="4660544"/>
            <a:ext cx="7357109" cy="15894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CMOS=Complementary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MOSFET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435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pMOS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nMOS: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fabricated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same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wafer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440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Reduce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size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power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consumption,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increase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switching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speed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435"/>
              </a:spcBef>
              <a:buClr>
                <a:srgbClr val="DD8046"/>
              </a:buClr>
              <a:buSzPct val="59000"/>
              <a:buFont typeface="Wingdings" panose="05000000000000000000"/>
              <a:buChar char=""/>
              <a:tabLst>
                <a:tab pos="3321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Analog/Digital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IC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design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1447800"/>
            <a:ext cx="67056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664845"/>
            <a:ext cx="10515600" cy="105664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dirty="0"/>
              <a:t>Biasing</a:t>
            </a:r>
            <a:r>
              <a:rPr spc="-10" dirty="0"/>
              <a:t> types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15692" y="1534140"/>
            <a:ext cx="3754120" cy="209486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80"/>
              </a:spcBef>
              <a:buClr>
                <a:srgbClr val="DD8046"/>
              </a:buClr>
              <a:buSzPct val="60000"/>
              <a:buFont typeface="Wingdings" panose="05000000000000000000"/>
              <a:buChar char="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Fixed</a:t>
            </a:r>
            <a:r>
              <a:rPr sz="2900" spc="-20" dirty="0">
                <a:latin typeface="Times New Roman" panose="02020603050405020304"/>
                <a:cs typeface="Times New Roman" panose="02020603050405020304"/>
              </a:rPr>
              <a:t> bias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651510" lvl="1" indent="-271780">
              <a:lnSpc>
                <a:spcPct val="100000"/>
              </a:lnSpc>
              <a:spcBef>
                <a:spcPts val="610"/>
              </a:spcBef>
              <a:buClr>
                <a:srgbClr val="93B6D2"/>
              </a:buClr>
              <a:buSzPct val="69000"/>
              <a:buFont typeface="Wingdings" panose="05000000000000000000"/>
              <a:buChar char=""/>
              <a:tabLst>
                <a:tab pos="651510" algn="l"/>
              </a:tabLst>
            </a:pP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Self-biasing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Wingdings" panose="05000000000000000000"/>
              <a:buChar char=""/>
              <a:tabLst>
                <a:tab pos="332105" algn="l"/>
              </a:tabLst>
            </a:pPr>
            <a:r>
              <a:rPr sz="2900" spc="-40" dirty="0">
                <a:latin typeface="Times New Roman" panose="02020603050405020304"/>
                <a:cs typeface="Times New Roman" panose="02020603050405020304"/>
              </a:rPr>
              <a:t>Voltage</a:t>
            </a:r>
            <a:r>
              <a:rPr sz="29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dirty="0">
                <a:latin typeface="Times New Roman" panose="02020603050405020304"/>
                <a:cs typeface="Times New Roman" panose="02020603050405020304"/>
              </a:rPr>
              <a:t>divider</a:t>
            </a:r>
            <a:r>
              <a:rPr sz="29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biasing</a:t>
            </a:r>
            <a:endParaRPr sz="2900">
              <a:latin typeface="Times New Roman" panose="02020603050405020304"/>
              <a:cs typeface="Times New Roman" panose="02020603050405020304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Wingdings" panose="05000000000000000000"/>
              <a:buChar char=""/>
              <a:tabLst>
                <a:tab pos="332105" algn="l"/>
              </a:tabLst>
            </a:pPr>
            <a:r>
              <a:rPr sz="2900" dirty="0">
                <a:latin typeface="Times New Roman" panose="02020603050405020304"/>
                <a:cs typeface="Times New Roman" panose="02020603050405020304"/>
              </a:rPr>
              <a:t>Feedback</a:t>
            </a:r>
            <a:r>
              <a:rPr sz="2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00" spc="-10" dirty="0">
                <a:latin typeface="Times New Roman" panose="02020603050405020304"/>
                <a:cs typeface="Times New Roman" panose="02020603050405020304"/>
              </a:rPr>
              <a:t>biasing</a:t>
            </a:r>
            <a:endParaRPr sz="29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665480"/>
            <a:ext cx="10515600" cy="132588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dirty="0"/>
              <a:t>Some </a:t>
            </a:r>
            <a:r>
              <a:rPr spc="-10" dirty="0"/>
              <a:t>noted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7576" y="1596593"/>
            <a:ext cx="6017895" cy="2747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80" indent="-271780">
              <a:lnSpc>
                <a:spcPct val="100000"/>
              </a:lnSpc>
              <a:spcBef>
                <a:spcPts val="95"/>
              </a:spcBef>
              <a:buClr>
                <a:srgbClr val="93B6D2"/>
              </a:buClr>
              <a:buSzPct val="68000"/>
              <a:buFont typeface="Wingdings" panose="05000000000000000000"/>
              <a:buChar char=""/>
              <a:tabLst>
                <a:tab pos="309880" algn="l"/>
              </a:tabLst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9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19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kinds</a:t>
            </a:r>
            <a:r>
              <a:rPr sz="1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9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20" dirty="0">
                <a:latin typeface="Times New Roman" panose="02020603050405020304"/>
                <a:cs typeface="Times New Roman" panose="02020603050405020304"/>
              </a:rPr>
              <a:t>FET: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271270" marR="3847465">
              <a:lnSpc>
                <a:spcPts val="2780"/>
              </a:lnSpc>
              <a:spcBef>
                <a:spcPts val="100"/>
              </a:spcBef>
            </a:pPr>
            <a:r>
              <a:rPr sz="220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="1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175" b="1" spc="262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200" b="1" spc="-25" dirty="0">
                <a:latin typeface="Times New Roman" panose="02020603050405020304"/>
                <a:cs typeface="Times New Roman" panose="02020603050405020304"/>
              </a:rPr>
              <a:t>0A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="1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175" b="1" spc="270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="1" spc="-52" baseline="-21000" dirty="0">
                <a:latin typeface="Times New Roman" panose="02020603050405020304"/>
                <a:cs typeface="Times New Roman" panose="02020603050405020304"/>
              </a:rPr>
              <a:t>S</a:t>
            </a:r>
            <a:endParaRPr sz="2175" baseline="-21000">
              <a:latin typeface="Times New Roman" panose="02020603050405020304"/>
              <a:cs typeface="Times New Roman" panose="02020603050405020304"/>
            </a:endParaRPr>
          </a:p>
          <a:p>
            <a:pPr marL="310515" indent="-272415">
              <a:lnSpc>
                <a:spcPct val="100000"/>
              </a:lnSpc>
              <a:spcBef>
                <a:spcPts val="275"/>
              </a:spcBef>
              <a:buClr>
                <a:srgbClr val="93B6D2"/>
              </a:buClr>
              <a:buSzPct val="68000"/>
              <a:buFont typeface="Wingdings" panose="05000000000000000000"/>
              <a:buChar char=""/>
              <a:tabLst>
                <a:tab pos="310515" algn="l"/>
              </a:tabLst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9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JFET</a:t>
            </a:r>
            <a:r>
              <a:rPr sz="1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900" spc="-25" dirty="0">
                <a:latin typeface="Times New Roman" panose="02020603050405020304"/>
                <a:cs typeface="Times New Roman" panose="02020603050405020304"/>
              </a:rPr>
              <a:t> D-</a:t>
            </a: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MOSFET: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271270">
              <a:lnSpc>
                <a:spcPct val="100000"/>
              </a:lnSpc>
              <a:spcBef>
                <a:spcPts val="12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175" spc="262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DSS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(1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/V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75" spc="-15" baseline="25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175" baseline="25000">
              <a:latin typeface="Times New Roman" panose="02020603050405020304"/>
              <a:cs typeface="Times New Roman" panose="02020603050405020304"/>
            </a:endParaRPr>
          </a:p>
          <a:p>
            <a:pPr marL="310515" indent="-272415">
              <a:lnSpc>
                <a:spcPct val="100000"/>
              </a:lnSpc>
              <a:spcBef>
                <a:spcPts val="385"/>
              </a:spcBef>
              <a:buClr>
                <a:srgbClr val="93B6D2"/>
              </a:buClr>
              <a:buSzPct val="68000"/>
              <a:buFont typeface="Wingdings" panose="05000000000000000000"/>
              <a:buChar char=""/>
              <a:tabLst>
                <a:tab pos="310515" algn="l"/>
              </a:tabLst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900" spc="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E-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MOSFET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(MOSFET):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950" spc="24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k(V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1950" spc="254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50" spc="502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(saturation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mode)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71475" indent="-333375">
              <a:lnSpc>
                <a:spcPct val="100000"/>
              </a:lnSpc>
              <a:spcBef>
                <a:spcPts val="375"/>
              </a:spcBef>
              <a:buClr>
                <a:srgbClr val="93B6D2"/>
              </a:buClr>
              <a:buSzPct val="68000"/>
              <a:buFont typeface="Wingdings" panose="05000000000000000000"/>
              <a:buChar char=""/>
              <a:tabLst>
                <a:tab pos="371475" algn="l"/>
              </a:tabLst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Determine</a:t>
            </a:r>
            <a:r>
              <a:rPr sz="1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Q-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point</a:t>
            </a:r>
            <a:r>
              <a:rPr sz="19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(DC</a:t>
            </a:r>
            <a:r>
              <a:rPr sz="1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operating</a:t>
            </a:r>
            <a:r>
              <a:rPr sz="1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point)</a:t>
            </a:r>
            <a:r>
              <a:rPr sz="19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DC</a:t>
            </a:r>
            <a:r>
              <a:rPr sz="19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19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20" dirty="0">
                <a:latin typeface="Times New Roman" panose="02020603050405020304"/>
                <a:cs typeface="Times New Roman" panose="02020603050405020304"/>
              </a:rPr>
              <a:t>line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529590"/>
            <a:ext cx="10515600" cy="146177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Fix</a:t>
            </a:r>
            <a:r>
              <a:rPr spc="-35" dirty="0"/>
              <a:t> </a:t>
            </a:r>
            <a:r>
              <a:rPr dirty="0"/>
              <a:t>biasing</a:t>
            </a:r>
            <a:r>
              <a:rPr spc="-40" dirty="0"/>
              <a:t> </a:t>
            </a:r>
            <a:r>
              <a:rPr dirty="0"/>
              <a:t>(ex:</a:t>
            </a:r>
            <a:r>
              <a:rPr spc="-15" dirty="0"/>
              <a:t> </a:t>
            </a:r>
            <a:r>
              <a:rPr spc="-10" dirty="0"/>
              <a:t>JFET)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5261" y="1772411"/>
            <a:ext cx="3367403" cy="28587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26628" y="1382205"/>
            <a:ext cx="2335530" cy="172212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175" spc="27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0A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175" spc="254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0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8100" marR="30480">
              <a:lnSpc>
                <a:spcPct val="126000"/>
              </a:lnSpc>
              <a:spcBef>
                <a:spcPts val="1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175" spc="254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175" spc="27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175" spc="-37" baseline="-21000" dirty="0">
                <a:latin typeface="Times New Roman" panose="02020603050405020304"/>
                <a:cs typeface="Times New Roman" panose="02020603050405020304"/>
              </a:rPr>
              <a:t>GG</a:t>
            </a:r>
            <a:r>
              <a:rPr sz="2175" spc="750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175" spc="30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DSS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(1-V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/V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75" spc="-15" baseline="25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175" baseline="25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1676400"/>
            <a:ext cx="2782824" cy="3352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58340" y="4979670"/>
            <a:ext cx="256222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7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fixed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GG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5312" y="1280160"/>
            <a:ext cx="8552815" cy="3884929"/>
            <a:chOff x="591312" y="1280160"/>
            <a:chExt cx="8552815" cy="38849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3996" y="1524000"/>
              <a:ext cx="3679003" cy="36408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30162" y="2820162"/>
              <a:ext cx="571500" cy="1905000"/>
            </a:xfrm>
            <a:custGeom>
              <a:avLst/>
              <a:gdLst/>
              <a:ahLst/>
              <a:cxnLst/>
              <a:rect l="l" t="t" r="r" b="b"/>
              <a:pathLst>
                <a:path w="571500" h="1905000">
                  <a:moveTo>
                    <a:pt x="0" y="742950"/>
                  </a:moveTo>
                  <a:lnTo>
                    <a:pt x="29035" y="684300"/>
                  </a:lnTo>
                  <a:lnTo>
                    <a:pt x="62761" y="659540"/>
                  </a:lnTo>
                  <a:lnTo>
                    <a:pt x="107008" y="638891"/>
                  </a:lnTo>
                  <a:lnTo>
                    <a:pt x="160064" y="623151"/>
                  </a:lnTo>
                  <a:lnTo>
                    <a:pt x="220215" y="613121"/>
                  </a:lnTo>
                  <a:lnTo>
                    <a:pt x="285750" y="609600"/>
                  </a:lnTo>
                  <a:lnTo>
                    <a:pt x="351284" y="613121"/>
                  </a:lnTo>
                  <a:lnTo>
                    <a:pt x="411435" y="623151"/>
                  </a:lnTo>
                  <a:lnTo>
                    <a:pt x="464491" y="638891"/>
                  </a:lnTo>
                  <a:lnTo>
                    <a:pt x="508738" y="659540"/>
                  </a:lnTo>
                  <a:lnTo>
                    <a:pt x="542464" y="684300"/>
                  </a:lnTo>
                  <a:lnTo>
                    <a:pt x="571500" y="742950"/>
                  </a:lnTo>
                  <a:lnTo>
                    <a:pt x="563955" y="773529"/>
                  </a:lnTo>
                  <a:lnTo>
                    <a:pt x="508738" y="826359"/>
                  </a:lnTo>
                  <a:lnTo>
                    <a:pt x="464491" y="847008"/>
                  </a:lnTo>
                  <a:lnTo>
                    <a:pt x="411435" y="862748"/>
                  </a:lnTo>
                  <a:lnTo>
                    <a:pt x="351284" y="872778"/>
                  </a:lnTo>
                  <a:lnTo>
                    <a:pt x="285750" y="876300"/>
                  </a:lnTo>
                  <a:lnTo>
                    <a:pt x="220215" y="872778"/>
                  </a:lnTo>
                  <a:lnTo>
                    <a:pt x="160064" y="862748"/>
                  </a:lnTo>
                  <a:lnTo>
                    <a:pt x="107008" y="847008"/>
                  </a:lnTo>
                  <a:lnTo>
                    <a:pt x="62761" y="826359"/>
                  </a:lnTo>
                  <a:lnTo>
                    <a:pt x="29035" y="801599"/>
                  </a:lnTo>
                  <a:lnTo>
                    <a:pt x="0" y="742950"/>
                  </a:lnTo>
                  <a:close/>
                </a:path>
                <a:path w="571500" h="1905000">
                  <a:moveTo>
                    <a:pt x="329184" y="0"/>
                  </a:moveTo>
                  <a:lnTo>
                    <a:pt x="329184" y="190500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3460" y="991870"/>
            <a:ext cx="10515600" cy="101854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Fix</a:t>
            </a:r>
            <a:r>
              <a:rPr spc="-70" dirty="0"/>
              <a:t> </a:t>
            </a:r>
            <a:r>
              <a:rPr spc="-10" dirty="0"/>
              <a:t>biasing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94941" y="1830134"/>
            <a:ext cx="3495040" cy="12065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59000"/>
              <a:buFont typeface="Wingdings" panose="05000000000000000000"/>
              <a:buChar char=""/>
              <a:tabLst>
                <a:tab pos="357505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175" spc="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DSS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(1-V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/V</a:t>
            </a:r>
            <a:r>
              <a:rPr sz="2175" spc="-15" baseline="-210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75" spc="-15" baseline="25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175" baseline="25000">
              <a:latin typeface="Times New Roman" panose="02020603050405020304"/>
              <a:cs typeface="Times New Roman" panose="02020603050405020304"/>
            </a:endParaRPr>
          </a:p>
          <a:p>
            <a:pPr marL="358140" marR="30480">
              <a:lnSpc>
                <a:spcPct val="100000"/>
              </a:lnSpc>
              <a:spcBef>
                <a:spcPts val="70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Build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transfer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characteristic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curve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table: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95512" y="3259137"/>
          <a:ext cx="3352800" cy="175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  <a:spcBef>
                          <a:spcPts val="730"/>
                        </a:spcBef>
                      </a:pPr>
                      <a:r>
                        <a:rPr sz="2550" b="1" spc="-37" baseline="130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GS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27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99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b="1" spc="-25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650" b="1" spc="-37" baseline="-20000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1650" baseline="-20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50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  <a:spcBef>
                          <a:spcPts val="730"/>
                        </a:spcBef>
                      </a:pPr>
                      <a:r>
                        <a:rPr sz="2550" spc="-30" baseline="13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100" spc="-20" dirty="0">
                          <a:latin typeface="Arial" panose="020B0604020202020204"/>
                          <a:cs typeface="Arial" panose="020B0604020202020204"/>
                        </a:rPr>
                        <a:t>DSS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27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0.3V</a:t>
                      </a:r>
                      <a:r>
                        <a:rPr sz="1650" spc="-15" baseline="-2000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endParaRPr sz="1650" baseline="-20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650" spc="-15" baseline="-20000" dirty="0">
                          <a:latin typeface="Arial" panose="020B0604020202020204"/>
                          <a:cs typeface="Arial" panose="020B0604020202020204"/>
                        </a:rPr>
                        <a:t>DSS</a:t>
                      </a: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/2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0.5Vp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650" spc="-15" baseline="-20000" dirty="0">
                          <a:latin typeface="Arial" panose="020B0604020202020204"/>
                          <a:cs typeface="Arial" panose="020B0604020202020204"/>
                        </a:rPr>
                        <a:t>DSS</a:t>
                      </a:r>
                      <a:r>
                        <a:rPr sz="1700" spc="-10" dirty="0">
                          <a:latin typeface="Arial" panose="020B0604020202020204"/>
                          <a:cs typeface="Arial" panose="020B0604020202020204"/>
                        </a:rPr>
                        <a:t>/4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25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1650" spc="-37" baseline="-2000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endParaRPr sz="1650" baseline="-20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700" spc="-25" dirty="0">
                          <a:latin typeface="Arial" panose="020B0604020202020204"/>
                          <a:cs typeface="Arial" panose="020B0604020202020204"/>
                        </a:rPr>
                        <a:t>0mA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263140" y="5182006"/>
            <a:ext cx="1675764" cy="8242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DC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load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line: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75" b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GS</a:t>
            </a:r>
            <a:r>
              <a:rPr sz="2175" b="1" spc="300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 -</a:t>
            </a:r>
            <a:r>
              <a:rPr sz="22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75" b="1" spc="-3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GG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2802" y="5284470"/>
            <a:ext cx="4081145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Intersection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between</a:t>
            </a:r>
            <a:r>
              <a:rPr sz="22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DC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load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line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trans.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Charact.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Curve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5312" y="1280160"/>
            <a:ext cx="8552815" cy="3901440"/>
            <a:chOff x="591312" y="1280160"/>
            <a:chExt cx="8552815" cy="3901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3996" y="1540764"/>
              <a:ext cx="3679003" cy="36408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63562" y="2074926"/>
              <a:ext cx="0" cy="2819400"/>
            </a:xfrm>
            <a:custGeom>
              <a:avLst/>
              <a:gdLst/>
              <a:ahLst/>
              <a:cxnLst/>
              <a:rect l="l" t="t" r="r" b="b"/>
              <a:pathLst>
                <a:path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0128" y="3174492"/>
              <a:ext cx="100584" cy="1021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9762" y="2827909"/>
              <a:ext cx="842644" cy="393700"/>
            </a:xfrm>
            <a:custGeom>
              <a:avLst/>
              <a:gdLst/>
              <a:ahLst/>
              <a:cxnLst/>
              <a:rect l="l" t="t" r="r" b="b"/>
              <a:pathLst>
                <a:path w="842645" h="393700">
                  <a:moveTo>
                    <a:pt x="53594" y="323850"/>
                  </a:moveTo>
                  <a:lnTo>
                    <a:pt x="0" y="390016"/>
                  </a:lnTo>
                  <a:lnTo>
                    <a:pt x="85090" y="393191"/>
                  </a:lnTo>
                  <a:lnTo>
                    <a:pt x="75802" y="372744"/>
                  </a:lnTo>
                  <a:lnTo>
                    <a:pt x="61849" y="372744"/>
                  </a:lnTo>
                  <a:lnTo>
                    <a:pt x="53721" y="354711"/>
                  </a:lnTo>
                  <a:lnTo>
                    <a:pt x="65234" y="349477"/>
                  </a:lnTo>
                  <a:lnTo>
                    <a:pt x="53594" y="323850"/>
                  </a:lnTo>
                  <a:close/>
                </a:path>
                <a:path w="842645" h="393700">
                  <a:moveTo>
                    <a:pt x="65234" y="349477"/>
                  </a:moveTo>
                  <a:lnTo>
                    <a:pt x="53721" y="354711"/>
                  </a:lnTo>
                  <a:lnTo>
                    <a:pt x="61849" y="372744"/>
                  </a:lnTo>
                  <a:lnTo>
                    <a:pt x="73414" y="367488"/>
                  </a:lnTo>
                  <a:lnTo>
                    <a:pt x="65234" y="349477"/>
                  </a:lnTo>
                  <a:close/>
                </a:path>
                <a:path w="842645" h="393700">
                  <a:moveTo>
                    <a:pt x="73414" y="367488"/>
                  </a:moveTo>
                  <a:lnTo>
                    <a:pt x="61849" y="372744"/>
                  </a:lnTo>
                  <a:lnTo>
                    <a:pt x="75802" y="372744"/>
                  </a:lnTo>
                  <a:lnTo>
                    <a:pt x="73414" y="367488"/>
                  </a:lnTo>
                  <a:close/>
                </a:path>
                <a:path w="842645" h="393700">
                  <a:moveTo>
                    <a:pt x="834136" y="0"/>
                  </a:moveTo>
                  <a:lnTo>
                    <a:pt x="65234" y="349477"/>
                  </a:lnTo>
                  <a:lnTo>
                    <a:pt x="73414" y="367488"/>
                  </a:lnTo>
                  <a:lnTo>
                    <a:pt x="842264" y="18033"/>
                  </a:lnTo>
                  <a:lnTo>
                    <a:pt x="834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3460" y="845820"/>
            <a:ext cx="10515600" cy="114554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Temperature</a:t>
            </a:r>
            <a:r>
              <a:rPr spc="-245" dirty="0"/>
              <a:t> </a:t>
            </a:r>
            <a:r>
              <a:rPr spc="-10" dirty="0"/>
              <a:t>effect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16938" y="1919427"/>
            <a:ext cx="3802379" cy="2284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30480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00"/>
              <a:buFont typeface="Wingdings" panose="05000000000000000000"/>
              <a:buChar char=""/>
              <a:tabLst>
                <a:tab pos="35814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Leakage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current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175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2175" spc="21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increases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t0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cannot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neglect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RG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mentioned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previously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so: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427990" indent="-38989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000"/>
              <a:buFont typeface="Wingdings" panose="05000000000000000000"/>
              <a:buChar char=""/>
              <a:tabLst>
                <a:tab pos="42799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move</a:t>
            </a:r>
            <a:r>
              <a:rPr sz="2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50" dirty="0">
                <a:latin typeface="Times New Roman" panose="02020603050405020304"/>
                <a:cs typeface="Times New Roman" panose="02020603050405020304"/>
              </a:rPr>
              <a:t>: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952500">
              <a:lnSpc>
                <a:spcPct val="100000"/>
              </a:lnSpc>
              <a:spcBef>
                <a:spcPts val="1250"/>
              </a:spcBef>
            </a:pPr>
            <a:r>
              <a:rPr sz="3300" baseline="14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45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145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aseline="14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3300" spc="-82" baseline="14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aseline="14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450" dirty="0">
                <a:latin typeface="Times New Roman" panose="02020603050405020304"/>
                <a:cs typeface="Times New Roman" panose="02020603050405020304"/>
              </a:rPr>
              <a:t>GG</a:t>
            </a:r>
            <a:r>
              <a:rPr sz="14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aseline="1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sz="3300" spc="-30" baseline="1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spc="-15" baseline="1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45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3300" spc="-15" baseline="140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*R</a:t>
            </a:r>
            <a:r>
              <a:rPr sz="145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G</a:t>
            </a:r>
            <a:endParaRPr sz="1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28809" y="2559557"/>
            <a:ext cx="1050925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 panose="020B0604020202020204"/>
                <a:cs typeface="Arial" panose="020B0604020202020204"/>
              </a:rPr>
              <a:t>new</a:t>
            </a:r>
            <a:r>
              <a:rPr sz="14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latin typeface="Arial" panose="020B0604020202020204"/>
                <a:cs typeface="Arial" panose="020B0604020202020204"/>
              </a:rPr>
              <a:t>Q-</a:t>
            </a:r>
            <a:r>
              <a:rPr sz="1400" b="1" spc="-20" dirty="0">
                <a:latin typeface="Arial" panose="020B0604020202020204"/>
                <a:cs typeface="Arial" panose="020B0604020202020204"/>
              </a:rPr>
              <a:t>point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646430"/>
            <a:ext cx="10515600" cy="134493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25" dirty="0"/>
              <a:t> </a:t>
            </a:r>
            <a:r>
              <a:rPr dirty="0"/>
              <a:t>of </a:t>
            </a:r>
            <a:r>
              <a:rPr spc="-10" dirty="0"/>
              <a:t>temperature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4540" y="1760677"/>
            <a:ext cx="70592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Question:</a:t>
            </a:r>
            <a:r>
              <a:rPr sz="20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=-1V&amp;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MΩ.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=1nA</a:t>
            </a:r>
            <a:r>
              <a:rPr sz="20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25°C</a:t>
            </a:r>
            <a:r>
              <a:rPr sz="20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increase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temperature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2000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Determine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1950" spc="270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125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?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60210" y="1171575"/>
            <a:ext cx="3679190" cy="3776345"/>
            <a:chOff x="5236396" y="1693164"/>
            <a:chExt cx="3679190" cy="36410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36396" y="1693164"/>
              <a:ext cx="3679003" cy="36408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96961" y="2227326"/>
              <a:ext cx="0" cy="2819400"/>
            </a:xfrm>
            <a:custGeom>
              <a:avLst/>
              <a:gdLst/>
              <a:ahLst/>
              <a:cxnLst/>
              <a:rect l="l" t="t" r="r" b="b"/>
              <a:pathLst>
                <a:path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ln w="2895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0480" y="2407919"/>
              <a:ext cx="100584" cy="1021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73161" y="2515361"/>
              <a:ext cx="464184" cy="405765"/>
            </a:xfrm>
            <a:custGeom>
              <a:avLst/>
              <a:gdLst/>
              <a:ahLst/>
              <a:cxnLst/>
              <a:rect l="l" t="t" r="r" b="b"/>
              <a:pathLst>
                <a:path w="464184" h="405764">
                  <a:moveTo>
                    <a:pt x="63991" y="42546"/>
                  </a:moveTo>
                  <a:lnTo>
                    <a:pt x="50992" y="57492"/>
                  </a:lnTo>
                  <a:lnTo>
                    <a:pt x="450723" y="405257"/>
                  </a:lnTo>
                  <a:lnTo>
                    <a:pt x="463677" y="390271"/>
                  </a:lnTo>
                  <a:lnTo>
                    <a:pt x="63991" y="42546"/>
                  </a:lnTo>
                  <a:close/>
                </a:path>
                <a:path w="464184" h="405764">
                  <a:moveTo>
                    <a:pt x="0" y="0"/>
                  </a:moveTo>
                  <a:lnTo>
                    <a:pt x="32512" y="78739"/>
                  </a:lnTo>
                  <a:lnTo>
                    <a:pt x="50992" y="57492"/>
                  </a:lnTo>
                  <a:lnTo>
                    <a:pt x="41402" y="49149"/>
                  </a:lnTo>
                  <a:lnTo>
                    <a:pt x="54356" y="34162"/>
                  </a:lnTo>
                  <a:lnTo>
                    <a:pt x="71283" y="34162"/>
                  </a:lnTo>
                  <a:lnTo>
                    <a:pt x="82550" y="21209"/>
                  </a:lnTo>
                  <a:lnTo>
                    <a:pt x="0" y="0"/>
                  </a:lnTo>
                  <a:close/>
                </a:path>
                <a:path w="464184" h="405764">
                  <a:moveTo>
                    <a:pt x="54356" y="34162"/>
                  </a:moveTo>
                  <a:lnTo>
                    <a:pt x="41402" y="49149"/>
                  </a:lnTo>
                  <a:lnTo>
                    <a:pt x="50992" y="57492"/>
                  </a:lnTo>
                  <a:lnTo>
                    <a:pt x="63991" y="42546"/>
                  </a:lnTo>
                  <a:lnTo>
                    <a:pt x="54356" y="34162"/>
                  </a:lnTo>
                  <a:close/>
                </a:path>
                <a:path w="464184" h="405764">
                  <a:moveTo>
                    <a:pt x="71283" y="34162"/>
                  </a:moveTo>
                  <a:lnTo>
                    <a:pt x="54356" y="34162"/>
                  </a:lnTo>
                  <a:lnTo>
                    <a:pt x="63991" y="42546"/>
                  </a:lnTo>
                  <a:lnTo>
                    <a:pt x="71283" y="341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28809" y="2999054"/>
            <a:ext cx="105156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 panose="020B0604020202020204"/>
                <a:cs typeface="Arial" panose="020B0604020202020204"/>
              </a:rPr>
              <a:t>new</a:t>
            </a:r>
            <a:r>
              <a:rPr sz="1400" b="1" spc="-10" dirty="0">
                <a:latin typeface="Arial" panose="020B0604020202020204"/>
                <a:cs typeface="Arial" panose="020B0604020202020204"/>
              </a:rPr>
              <a:t> Q-</a:t>
            </a:r>
            <a:r>
              <a:rPr sz="1400" b="1" spc="-20" dirty="0">
                <a:latin typeface="Arial" panose="020B0604020202020204"/>
                <a:cs typeface="Arial" panose="020B0604020202020204"/>
              </a:rPr>
              <a:t>point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4540" y="2649855"/>
            <a:ext cx="4538980" cy="154686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Answer: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0365" indent="-342265">
              <a:lnSpc>
                <a:spcPct val="100000"/>
              </a:lnSpc>
              <a:buFont typeface="Wingdings" panose="05000000000000000000"/>
              <a:buChar char=""/>
              <a:tabLst>
                <a:tab pos="3803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25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C,</a:t>
            </a:r>
            <a:r>
              <a:rPr sz="2000" spc="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×R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=10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-9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×10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1950" spc="209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1mV,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can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neglected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compare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-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1V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(or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999mV).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0975" y="5187950"/>
            <a:ext cx="4046855" cy="132143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 panose="020B0604020202020204"/>
                <a:cs typeface="Arial" panose="020B0604020202020204"/>
              </a:rPr>
              <a:t>Q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point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at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125</a:t>
            </a:r>
            <a:r>
              <a:rPr sz="1950" baseline="26000" dirty="0"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latin typeface="Arial" panose="020B0604020202020204"/>
                <a:cs typeface="Arial" panose="020B0604020202020204"/>
              </a:rPr>
              <a:t>C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is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shifted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to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new </a:t>
            </a:r>
            <a:r>
              <a:rPr sz="2000" dirty="0">
                <a:latin typeface="Arial" panose="020B0604020202020204"/>
                <a:cs typeface="Arial" panose="020B0604020202020204"/>
              </a:rPr>
              <a:t>point</a:t>
            </a:r>
            <a:r>
              <a:rPr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and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it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is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far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from</a:t>
            </a:r>
            <a:r>
              <a:rPr sz="20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</a:t>
            </a:r>
            <a:r>
              <a:rPr sz="20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initial</a:t>
            </a:r>
            <a:r>
              <a:rPr sz="20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50" dirty="0">
                <a:latin typeface="Arial" panose="020B0604020202020204"/>
                <a:cs typeface="Arial" panose="020B0604020202020204"/>
              </a:rPr>
              <a:t>Q </a:t>
            </a:r>
            <a:r>
              <a:rPr sz="2000" dirty="0">
                <a:latin typeface="Arial" panose="020B0604020202020204"/>
                <a:cs typeface="Arial" panose="020B0604020202020204"/>
              </a:rPr>
              <a:t>point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at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room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temperature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6940" y="1348740"/>
            <a:ext cx="4629150" cy="130111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Question:</a:t>
            </a:r>
            <a:r>
              <a:rPr sz="20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=-1V&amp;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MΩ.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=1nA</a:t>
            </a:r>
            <a:r>
              <a:rPr sz="20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25°C  and increase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double</a:t>
            </a:r>
            <a:r>
              <a:rPr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temperature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C.</a:t>
            </a:r>
            <a:r>
              <a:rPr sz="2000" spc="4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Determine</a:t>
            </a:r>
            <a:r>
              <a:rPr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spc="-37" baseline="-21000" dirty="0">
                <a:latin typeface="Times New Roman" panose="02020603050405020304"/>
                <a:cs typeface="Times New Roman" panose="02020603050405020304"/>
              </a:rPr>
              <a:t>GS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125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?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4540" y="4196080"/>
            <a:ext cx="4523740" cy="225806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"/>
              <a:tabLst>
                <a:tab pos="381000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0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Temp.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125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C,</a:t>
            </a:r>
            <a:r>
              <a:rPr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current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1950" spc="24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increases</a:t>
            </a:r>
            <a:r>
              <a:rPr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to 2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950" spc="232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times</a:t>
            </a:r>
            <a:r>
              <a:rPr sz="20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≈10</a:t>
            </a:r>
            <a:r>
              <a:rPr sz="1950" spc="-15" baseline="26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1950" spc="270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950" baseline="2600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1950" spc="7" baseline="26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×1nA</a:t>
            </a:r>
            <a:r>
              <a:rPr sz="2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=1µA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  <a:tabLst>
                <a:tab pos="2915920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GSS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×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=1µA* 1MOhm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1V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</a:pPr>
            <a:r>
              <a:rPr sz="200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point:</a:t>
            </a:r>
            <a:r>
              <a:rPr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1950" spc="254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0V</a:t>
            </a:r>
            <a:r>
              <a:rPr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baseline="-2100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1950" spc="7" baseline="-2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0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950" spc="-30" baseline="-21000" dirty="0">
                <a:latin typeface="Times New Roman" panose="02020603050405020304"/>
                <a:cs typeface="Times New Roman" panose="02020603050405020304"/>
              </a:rPr>
              <a:t>DSS</a:t>
            </a:r>
            <a:endParaRPr sz="1950" baseline="-2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13460" y="225425"/>
            <a:ext cx="10515600" cy="12280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25" dirty="0"/>
              <a:t> </a:t>
            </a:r>
            <a:r>
              <a:rPr dirty="0"/>
              <a:t>of </a:t>
            </a:r>
            <a:r>
              <a:rPr spc="-10" dirty="0"/>
              <a:t>temperature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9519" y="1524000"/>
            <a:ext cx="1990680" cy="3505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Self </a:t>
            </a:r>
            <a:r>
              <a:rPr spc="-10" dirty="0"/>
              <a:t>biasing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05940" y="5064833"/>
            <a:ext cx="7219950" cy="122999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25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What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main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difference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compared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fixed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biasing?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525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Role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?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Remove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reduce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impact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temperature?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2133" y="1715719"/>
            <a:ext cx="3711222" cy="30820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Self-biasing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8139" y="1841144"/>
            <a:ext cx="5120005" cy="353314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625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4057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Loop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input: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530"/>
              </a:spcBef>
              <a:tabLst>
                <a:tab pos="12573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0</a:t>
            </a:r>
            <a:r>
              <a:rPr sz="2200" dirty="0">
                <a:latin typeface="Arial" panose="020B0604020202020204"/>
                <a:cs typeface="Arial" panose="020B0604020202020204"/>
              </a:rPr>
              <a:t>	=&gt; 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0V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</a:t>
            </a:r>
            <a:r>
              <a:rPr sz="2200" spc="5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GS</a:t>
            </a:r>
            <a:r>
              <a:rPr sz="2175" spc="284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200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2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175" spc="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(1)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530"/>
              </a:spcBef>
              <a:tabLst>
                <a:tab pos="933450" algn="l"/>
                <a:tab pos="1252220" algn="l"/>
                <a:tab pos="3721100" algn="l"/>
              </a:tabLst>
            </a:pPr>
            <a:r>
              <a:rPr sz="2200" spc="-25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=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DSS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(1-V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15" baseline="25000" dirty="0">
                <a:latin typeface="Arial" panose="020B0604020202020204"/>
                <a:cs typeface="Arial" panose="020B0604020202020204"/>
              </a:rPr>
              <a:t>2</a:t>
            </a:r>
            <a:r>
              <a:rPr sz="2175" baseline="250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(2)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5765" indent="-342265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405765" algn="l"/>
              </a:tabLst>
            </a:pPr>
            <a:r>
              <a:rPr sz="2200" spc="-12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Sole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equation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system: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(1)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+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(2)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 marR="182245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by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using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method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as </a:t>
            </a:r>
            <a:r>
              <a:rPr sz="2200" dirty="0">
                <a:latin typeface="Arial" panose="020B0604020202020204"/>
                <a:cs typeface="Arial" panose="020B0604020202020204"/>
              </a:rPr>
              <a:t>shown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in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paragraph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(intersection point)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5765" indent="-342265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4057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Consider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impact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Temp.?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19757" y="1828800"/>
            <a:ext cx="3550920" cy="3620770"/>
            <a:chOff x="5495757" y="1828800"/>
            <a:chExt cx="3550920" cy="3620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757" y="1930400"/>
              <a:ext cx="3550652" cy="35185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0" y="1828800"/>
              <a:ext cx="2161031" cy="3505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742315"/>
            <a:ext cx="10515600" cy="124904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45" dirty="0"/>
              <a:t>V</a:t>
            </a:r>
            <a:r>
              <a:rPr spc="20" dirty="0"/>
              <a:t>oltage</a:t>
            </a:r>
            <a:r>
              <a:rPr spc="-60" dirty="0"/>
              <a:t> </a:t>
            </a:r>
            <a:r>
              <a:rPr dirty="0"/>
              <a:t>divider</a:t>
            </a:r>
            <a:r>
              <a:rPr spc="-65" dirty="0"/>
              <a:t> </a:t>
            </a:r>
            <a:r>
              <a:rPr dirty="0"/>
              <a:t>biasing</a:t>
            </a:r>
            <a:r>
              <a:rPr spc="-60" dirty="0"/>
              <a:t> </a:t>
            </a:r>
            <a:r>
              <a:rPr dirty="0"/>
              <a:t>(ex:</a:t>
            </a:r>
            <a:r>
              <a:rPr spc="-30" dirty="0"/>
              <a:t> </a:t>
            </a:r>
            <a:r>
              <a:rPr spc="-10" dirty="0"/>
              <a:t>JFET)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367" y="1790952"/>
            <a:ext cx="4228843" cy="31832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8324" y="1755986"/>
            <a:ext cx="3308591" cy="32325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52090" y="5271896"/>
            <a:ext cx="584517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8470" indent="-42037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45847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0,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current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controlled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by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GS</a:t>
            </a:r>
            <a:endParaRPr sz="2175" baseline="-21000">
              <a:latin typeface="Arial" panose="020B0604020202020204"/>
              <a:cs typeface="Arial" panose="020B0604020202020204"/>
            </a:endParaRPr>
          </a:p>
          <a:p>
            <a:pPr marL="381000" indent="-342900">
              <a:lnSpc>
                <a:spcPct val="100000"/>
              </a:lnSpc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This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biasing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method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usually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used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FET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8400" y="1654226"/>
            <a:ext cx="4157979" cy="4912995"/>
            <a:chOff x="4724400" y="1654226"/>
            <a:chExt cx="4157979" cy="49129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6869" y="4123657"/>
              <a:ext cx="3861261" cy="24432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0" y="1654226"/>
              <a:ext cx="4157738" cy="242704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3460" y="709930"/>
            <a:ext cx="10515600" cy="128143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45" dirty="0"/>
              <a:t>V</a:t>
            </a:r>
            <a:r>
              <a:rPr spc="20" dirty="0"/>
              <a:t>oltage</a:t>
            </a:r>
            <a:r>
              <a:rPr spc="-60" dirty="0"/>
              <a:t> </a:t>
            </a:r>
            <a:r>
              <a:rPr dirty="0"/>
              <a:t>divider</a:t>
            </a:r>
            <a:r>
              <a:rPr spc="-65" dirty="0"/>
              <a:t> </a:t>
            </a:r>
            <a:r>
              <a:rPr dirty="0"/>
              <a:t>biasing</a:t>
            </a:r>
            <a:r>
              <a:rPr spc="-60" dirty="0"/>
              <a:t> </a:t>
            </a:r>
            <a:r>
              <a:rPr dirty="0"/>
              <a:t>(ex:</a:t>
            </a:r>
            <a:r>
              <a:rPr spc="-30" dirty="0"/>
              <a:t> </a:t>
            </a:r>
            <a:r>
              <a:rPr spc="-10" dirty="0"/>
              <a:t>JFET)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1940" y="1753641"/>
            <a:ext cx="5079365" cy="448056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89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05765" algn="l"/>
                <a:tab pos="866140" algn="l"/>
              </a:tabLst>
            </a:pP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2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1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2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795"/>
              </a:spcBef>
              <a:tabLst>
                <a:tab pos="2817495" algn="l"/>
              </a:tabLst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DC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load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line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is:</a:t>
            </a:r>
            <a:r>
              <a:rPr sz="2200" dirty="0">
                <a:latin typeface="Arial" panose="020B0604020202020204"/>
                <a:cs typeface="Arial" panose="020B0604020202020204"/>
              </a:rPr>
              <a:t>	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20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175" spc="-24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 marR="260350">
              <a:lnSpc>
                <a:spcPct val="100000"/>
              </a:lnSpc>
              <a:spcBef>
                <a:spcPts val="79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175" spc="26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varies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shift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point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DC </a:t>
            </a:r>
            <a:r>
              <a:rPr sz="2200" dirty="0">
                <a:latin typeface="Arial" panose="020B0604020202020204"/>
                <a:cs typeface="Arial" panose="020B0604020202020204"/>
              </a:rPr>
              <a:t>load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line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 marR="1008380" indent="-342900">
              <a:lnSpc>
                <a:spcPct val="130000"/>
              </a:lnSpc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06400" algn="l"/>
                <a:tab pos="37211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Characteristic</a:t>
            </a:r>
            <a:r>
              <a:rPr sz="22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FET</a:t>
            </a:r>
            <a:r>
              <a:rPr sz="2200" spc="5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DSS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(1-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dirty="0">
                <a:latin typeface="Arial" panose="020B0604020202020204"/>
                <a:cs typeface="Arial" panose="020B0604020202020204"/>
              </a:rPr>
              <a:t>/V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dirty="0">
                <a:latin typeface="Arial" panose="020B0604020202020204"/>
                <a:cs typeface="Arial" panose="020B0604020202020204"/>
              </a:rPr>
              <a:t>)</a:t>
            </a:r>
            <a:r>
              <a:rPr sz="2175" baseline="25000" dirty="0">
                <a:latin typeface="Arial" panose="020B0604020202020204"/>
                <a:cs typeface="Arial" panose="020B0604020202020204"/>
              </a:rPr>
              <a:t>2</a:t>
            </a:r>
            <a:r>
              <a:rPr sz="2175" spc="75" baseline="25000" dirty="0">
                <a:latin typeface="Arial" panose="020B0604020202020204"/>
                <a:cs typeface="Arial" panose="020B0604020202020204"/>
              </a:rPr>
              <a:t> </a:t>
            </a:r>
            <a:r>
              <a:rPr sz="2175" spc="-75" baseline="-21000" dirty="0">
                <a:latin typeface="Arial" panose="020B0604020202020204"/>
                <a:cs typeface="Arial" panose="020B0604020202020204"/>
              </a:rPr>
              <a:t>,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5765" indent="-342265">
              <a:lnSpc>
                <a:spcPct val="100000"/>
              </a:lnSpc>
              <a:spcBef>
                <a:spcPts val="795"/>
              </a:spcBef>
              <a:buClr>
                <a:srgbClr val="775F54"/>
              </a:buClr>
              <a:buSzPct val="68000"/>
              <a:buFont typeface="Wingdings" panose="05000000000000000000"/>
              <a:buChar char=""/>
              <a:tabLst>
                <a:tab pos="405765" algn="l"/>
              </a:tabLst>
            </a:pPr>
            <a:r>
              <a:rPr sz="2200" spc="-12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Sole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equation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system: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(1)+(2)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06400" marR="141605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by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using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method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as </a:t>
            </a:r>
            <a:r>
              <a:rPr sz="2200" dirty="0">
                <a:latin typeface="Arial" panose="020B0604020202020204"/>
                <a:cs typeface="Arial" panose="020B0604020202020204"/>
              </a:rPr>
              <a:t>shown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in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paragraph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(intersection point)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2018557"/>
            <a:ext cx="3985259" cy="3063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7568" y="1677441"/>
            <a:ext cx="5053965" cy="38373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89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184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DD</a:t>
            </a:r>
            <a:r>
              <a:rPr sz="2200" dirty="0">
                <a:latin typeface="Arial" panose="020B0604020202020204"/>
                <a:cs typeface="Arial" panose="020B0604020202020204"/>
              </a:rPr>
              <a:t>*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10MΩ/(110MΩ+10MΩ)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6200">
              <a:lnSpc>
                <a:spcPct val="100000"/>
              </a:lnSpc>
              <a:spcBef>
                <a:spcPts val="795"/>
              </a:spcBef>
              <a:tabLst>
                <a:tab pos="418465" algn="l"/>
                <a:tab pos="4648200" algn="l"/>
              </a:tabLst>
            </a:pPr>
            <a:r>
              <a:rPr sz="1500" spc="-50" dirty="0">
                <a:solidFill>
                  <a:srgbClr val="775F54"/>
                </a:solidFill>
                <a:latin typeface="Wingdings" panose="05000000000000000000"/>
                <a:cs typeface="Wingdings" panose="05000000000000000000"/>
              </a:rPr>
              <a:t></a:t>
            </a:r>
            <a:r>
              <a:rPr sz="15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DC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load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line: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–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*750Ω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18465" indent="-342265">
              <a:lnSpc>
                <a:spcPct val="100000"/>
              </a:lnSpc>
              <a:spcBef>
                <a:spcPts val="260"/>
              </a:spcBef>
              <a:buFont typeface="Wingdings" panose="05000000000000000000"/>
              <a:buChar char=""/>
              <a:tabLst>
                <a:tab pos="4184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6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current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DMOS: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6200">
              <a:lnSpc>
                <a:spcPct val="100000"/>
              </a:lnSpc>
              <a:tabLst>
                <a:tab pos="28194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DSS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(1-V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15" baseline="25000" dirty="0">
                <a:latin typeface="Arial" panose="020B0604020202020204"/>
                <a:cs typeface="Arial" panose="020B0604020202020204"/>
              </a:rPr>
              <a:t>2</a:t>
            </a:r>
            <a:r>
              <a:rPr sz="2175" baseline="250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</a:t>
            </a:r>
            <a:r>
              <a:rPr sz="2200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18465" indent="-342265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18465" algn="l"/>
              </a:tabLst>
            </a:pPr>
            <a:r>
              <a:rPr sz="2200" spc="-12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19100" marR="371475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Sole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equation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system: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(1)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+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(2)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419100" marR="10414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Wingdings" panose="05000000000000000000"/>
                <a:cs typeface="Wingdings" panose="05000000000000000000"/>
              </a:rPr>
              <a:t>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by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using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method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as </a:t>
            </a:r>
            <a:r>
              <a:rPr sz="2200" dirty="0">
                <a:latin typeface="Arial" panose="020B0604020202020204"/>
                <a:cs typeface="Arial" panose="020B0604020202020204"/>
              </a:rPr>
              <a:t>shown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in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paragraph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(intersection point)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3460" y="974725"/>
            <a:ext cx="10515600" cy="98552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30" dirty="0"/>
              <a:t>V</a:t>
            </a:r>
            <a:r>
              <a:rPr sz="4000" dirty="0"/>
              <a:t>ol</a:t>
            </a:r>
            <a:r>
              <a:rPr sz="4000" spc="10" dirty="0"/>
              <a:t>t</a:t>
            </a:r>
            <a:r>
              <a:rPr sz="4000" dirty="0"/>
              <a:t>age</a:t>
            </a:r>
            <a:r>
              <a:rPr sz="4000" spc="-105" dirty="0"/>
              <a:t> </a:t>
            </a:r>
            <a:r>
              <a:rPr sz="4000" dirty="0"/>
              <a:t>divider</a:t>
            </a:r>
            <a:r>
              <a:rPr sz="4000" spc="-100" dirty="0"/>
              <a:t> </a:t>
            </a:r>
            <a:r>
              <a:rPr sz="4000" dirty="0"/>
              <a:t>biasing</a:t>
            </a:r>
            <a:r>
              <a:rPr sz="4000" spc="-100" dirty="0"/>
              <a:t> </a:t>
            </a:r>
            <a:r>
              <a:rPr sz="4000" dirty="0"/>
              <a:t>(ex:</a:t>
            </a:r>
            <a:r>
              <a:rPr sz="4000" spc="-90" dirty="0"/>
              <a:t> </a:t>
            </a:r>
            <a:r>
              <a:rPr sz="4000" spc="-10" dirty="0"/>
              <a:t>DMOSFET)</a:t>
            </a:r>
            <a:endParaRPr sz="4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540" y="5284470"/>
            <a:ext cx="4051300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DMOS: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DSS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(1-V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15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1828" y="5284470"/>
            <a:ext cx="247205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can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positive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863" y="1714387"/>
            <a:ext cx="3126529" cy="3138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600" y="1714097"/>
            <a:ext cx="3052706" cy="308650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13460" y="1221740"/>
            <a:ext cx="10515600" cy="73850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30" dirty="0"/>
              <a:t>V</a:t>
            </a:r>
            <a:r>
              <a:rPr sz="4000" dirty="0"/>
              <a:t>ol</a:t>
            </a:r>
            <a:r>
              <a:rPr sz="4000" spc="10" dirty="0"/>
              <a:t>t</a:t>
            </a:r>
            <a:r>
              <a:rPr sz="4000" dirty="0"/>
              <a:t>age</a:t>
            </a:r>
            <a:r>
              <a:rPr sz="4000" spc="-105" dirty="0"/>
              <a:t> </a:t>
            </a:r>
            <a:r>
              <a:rPr sz="4000" dirty="0"/>
              <a:t>divider</a:t>
            </a:r>
            <a:r>
              <a:rPr sz="4000" spc="-100" dirty="0"/>
              <a:t> </a:t>
            </a:r>
            <a:r>
              <a:rPr sz="4000" dirty="0"/>
              <a:t>biasing</a:t>
            </a:r>
            <a:r>
              <a:rPr sz="4000" spc="-100" dirty="0"/>
              <a:t> </a:t>
            </a:r>
            <a:r>
              <a:rPr sz="4000" dirty="0"/>
              <a:t>(ex:</a:t>
            </a:r>
            <a:r>
              <a:rPr sz="4000" spc="-90" dirty="0"/>
              <a:t> </a:t>
            </a:r>
            <a:r>
              <a:rPr sz="4000" spc="-10" dirty="0"/>
              <a:t>DMOSFET)</a:t>
            </a:r>
            <a:endParaRPr sz="4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07428" y="4726076"/>
            <a:ext cx="2222500" cy="133159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EMOS: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k(V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30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k=I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2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240" y="1838960"/>
            <a:ext cx="3169920" cy="34137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2154379"/>
            <a:ext cx="3877887" cy="224000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3460" y="637540"/>
            <a:ext cx="10515600" cy="88265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45" dirty="0"/>
              <a:t>V</a:t>
            </a:r>
            <a:r>
              <a:rPr spc="20" dirty="0"/>
              <a:t>oltage</a:t>
            </a:r>
            <a:r>
              <a:rPr spc="-65" dirty="0"/>
              <a:t> </a:t>
            </a:r>
            <a:r>
              <a:rPr dirty="0"/>
              <a:t>divider</a:t>
            </a:r>
            <a:r>
              <a:rPr spc="-75" dirty="0"/>
              <a:t> </a:t>
            </a:r>
            <a:r>
              <a:rPr dirty="0"/>
              <a:t>biasing</a:t>
            </a:r>
            <a:r>
              <a:rPr spc="-65" dirty="0"/>
              <a:t> </a:t>
            </a:r>
            <a:r>
              <a:rPr dirty="0"/>
              <a:t>(E-</a:t>
            </a:r>
            <a:r>
              <a:rPr spc="-10" dirty="0"/>
              <a:t>MOSFET)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540" y="1982241"/>
            <a:ext cx="3825875" cy="16700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89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EMOS: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k(V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30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  <a:p>
            <a:pPr marL="3810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where k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D-on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30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79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Draw</a:t>
            </a:r>
            <a:r>
              <a:rPr sz="2200" spc="-7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transfer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characteristic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0">
              <a:lnSpc>
                <a:spcPct val="100000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curve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E-MOSFET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795898"/>
            <a:ext cx="4463300" cy="35505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3460" y="1203960"/>
            <a:ext cx="10515600" cy="76835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30" dirty="0"/>
              <a:t>V</a:t>
            </a:r>
            <a:r>
              <a:rPr sz="4000" dirty="0"/>
              <a:t>ol</a:t>
            </a:r>
            <a:r>
              <a:rPr sz="4000" spc="10" dirty="0"/>
              <a:t>t</a:t>
            </a:r>
            <a:r>
              <a:rPr sz="4000" dirty="0"/>
              <a:t>age</a:t>
            </a:r>
            <a:r>
              <a:rPr sz="4000" spc="-100" dirty="0"/>
              <a:t> </a:t>
            </a:r>
            <a:r>
              <a:rPr sz="4000" dirty="0"/>
              <a:t>divider</a:t>
            </a:r>
            <a:r>
              <a:rPr sz="4000" spc="-100" dirty="0"/>
              <a:t> </a:t>
            </a:r>
            <a:r>
              <a:rPr sz="4000" dirty="0"/>
              <a:t>biasing</a:t>
            </a:r>
            <a:r>
              <a:rPr sz="4000" spc="-100" dirty="0"/>
              <a:t> </a:t>
            </a:r>
            <a:r>
              <a:rPr sz="4000" dirty="0"/>
              <a:t>(ex:</a:t>
            </a:r>
            <a:r>
              <a:rPr sz="4000" spc="-85" dirty="0"/>
              <a:t> </a:t>
            </a:r>
            <a:r>
              <a:rPr sz="4000" dirty="0"/>
              <a:t>E-</a:t>
            </a:r>
            <a:r>
              <a:rPr sz="4000" spc="-10" dirty="0"/>
              <a:t>MOSFET)</a:t>
            </a:r>
            <a:endParaRPr sz="4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463550"/>
            <a:ext cx="10515600" cy="82867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Feedback</a:t>
            </a:r>
            <a:r>
              <a:rPr spc="-35" dirty="0"/>
              <a:t> </a:t>
            </a:r>
            <a:r>
              <a:rPr dirty="0"/>
              <a:t>biasing</a:t>
            </a:r>
            <a:r>
              <a:rPr spc="-20" dirty="0"/>
              <a:t> </a:t>
            </a:r>
            <a:r>
              <a:rPr dirty="0"/>
              <a:t>(ex:</a:t>
            </a:r>
            <a:r>
              <a:rPr spc="-10" dirty="0"/>
              <a:t> </a:t>
            </a:r>
            <a:r>
              <a:rPr dirty="0"/>
              <a:t>E-</a:t>
            </a:r>
            <a:r>
              <a:rPr spc="-10" dirty="0"/>
              <a:t>MOSFET)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4175" y="1682970"/>
            <a:ext cx="3972511" cy="33383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6826" y="1710689"/>
            <a:ext cx="1927046" cy="33604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30144" y="5063338"/>
            <a:ext cx="2172335" cy="89154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node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G: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 </a:t>
            </a:r>
            <a:r>
              <a:rPr sz="2200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2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5375" y="3323970"/>
            <a:ext cx="676275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</a:t>
            </a:r>
            <a:endParaRPr sz="4800">
              <a:latin typeface="Wingdings" panose="05000000000000000000"/>
              <a:cs typeface="Wingdings" panose="0500000000000000000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5312" y="1219200"/>
            <a:ext cx="8552815" cy="5057775"/>
            <a:chOff x="591312" y="1219200"/>
            <a:chExt cx="8552815" cy="5057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0" y="3636941"/>
              <a:ext cx="4545158" cy="26395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0400" y="1219200"/>
              <a:ext cx="2133599" cy="37338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729740" y="1854835"/>
            <a:ext cx="4051300" cy="1129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the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node G: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0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=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79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DC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load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line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3375" y="3933825"/>
            <a:ext cx="36639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Arial" panose="020B0604020202020204"/>
                <a:cs typeface="Arial" panose="020B0604020202020204"/>
              </a:rPr>
              <a:t>(2)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17039" y="2960903"/>
            <a:ext cx="4088129" cy="17716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890"/>
              </a:spcBef>
              <a:tabLst>
                <a:tab pos="37084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DS</a:t>
            </a:r>
            <a:r>
              <a:rPr sz="2175" spc="31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DD</a:t>
            </a:r>
            <a:r>
              <a:rPr sz="2175" spc="3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(1)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3700" marR="742950" indent="-342900">
              <a:lnSpc>
                <a:spcPct val="130000"/>
              </a:lnSpc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937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Transfer</a:t>
            </a:r>
            <a:r>
              <a:rPr sz="22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char.</a:t>
            </a:r>
            <a:r>
              <a:rPr sz="22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equation: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1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k(V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dirty="0">
                <a:latin typeface="Arial" panose="020B0604020202020204"/>
                <a:cs typeface="Arial" panose="020B0604020202020204"/>
              </a:rPr>
              <a:t>)</a:t>
            </a:r>
            <a:r>
              <a:rPr sz="2175" baseline="25000" dirty="0">
                <a:latin typeface="Arial" panose="020B0604020202020204"/>
                <a:cs typeface="Arial" panose="020B0604020202020204"/>
              </a:rPr>
              <a:t>2 </a:t>
            </a:r>
            <a:r>
              <a:rPr sz="2175" spc="-75" baseline="-21000" dirty="0">
                <a:latin typeface="Arial" panose="020B0604020202020204"/>
                <a:cs typeface="Arial" panose="020B0604020202020204"/>
              </a:rPr>
              <a:t>,</a:t>
            </a:r>
            <a:endParaRPr sz="2175" baseline="-21000">
              <a:latin typeface="Arial" panose="020B0604020202020204"/>
              <a:cs typeface="Arial" panose="020B0604020202020204"/>
            </a:endParaRPr>
          </a:p>
          <a:p>
            <a:pPr marL="393700">
              <a:lnSpc>
                <a:spcPct val="100000"/>
              </a:lnSpc>
              <a:spcBef>
                <a:spcPts val="7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k</a:t>
            </a:r>
            <a:r>
              <a:rPr sz="2200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GSon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)</a:t>
            </a:r>
            <a:r>
              <a:rPr sz="2175" spc="-30" baseline="25000" dirty="0">
                <a:latin typeface="Arial" panose="020B0604020202020204"/>
                <a:cs typeface="Arial" panose="020B0604020202020204"/>
              </a:rPr>
              <a:t>2</a:t>
            </a:r>
            <a:endParaRPr sz="2175" baseline="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5140" y="4805934"/>
            <a:ext cx="381762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Solve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equ.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Sys.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(1,2)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or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use </a:t>
            </a:r>
            <a:r>
              <a:rPr sz="2200" dirty="0">
                <a:latin typeface="Arial" panose="020B0604020202020204"/>
                <a:cs typeface="Arial" panose="020B0604020202020204"/>
              </a:rPr>
              <a:t>paragraph</a:t>
            </a:r>
            <a:r>
              <a:rPr sz="2200" spc="-9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method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13460" y="1069975"/>
            <a:ext cx="10515600" cy="93345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Feedback</a:t>
            </a:r>
            <a:r>
              <a:rPr spc="-35" dirty="0"/>
              <a:t> </a:t>
            </a:r>
            <a:r>
              <a:rPr dirty="0"/>
              <a:t>biasing</a:t>
            </a:r>
            <a:r>
              <a:rPr spc="-20" dirty="0"/>
              <a:t> </a:t>
            </a:r>
            <a:r>
              <a:rPr dirty="0"/>
              <a:t>(ex:</a:t>
            </a:r>
            <a:r>
              <a:rPr spc="-10" dirty="0"/>
              <a:t> </a:t>
            </a:r>
            <a:r>
              <a:rPr dirty="0"/>
              <a:t>E-</a:t>
            </a:r>
            <a:r>
              <a:rPr spc="-10" dirty="0"/>
              <a:t>MOSFET)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31" y="235804"/>
            <a:ext cx="10515600" cy="108458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0862" y="5807026"/>
            <a:ext cx="686308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775F54"/>
              </a:buClr>
              <a:buSzPct val="70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000" dirty="0">
                <a:latin typeface="Arial" panose="020B0604020202020204"/>
                <a:cs typeface="Arial" panose="020B0604020202020204"/>
              </a:rPr>
              <a:t>Question:</a:t>
            </a:r>
            <a:r>
              <a:rPr sz="20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Q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(I</a:t>
            </a:r>
            <a:r>
              <a:rPr sz="1950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000" dirty="0">
                <a:latin typeface="Arial" panose="020B0604020202020204"/>
                <a:cs typeface="Arial" panose="020B0604020202020204"/>
              </a:rPr>
              <a:t>,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V</a:t>
            </a:r>
            <a:r>
              <a:rPr sz="1950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000" dirty="0">
                <a:latin typeface="Arial" panose="020B0604020202020204"/>
                <a:cs typeface="Arial" panose="020B0604020202020204"/>
              </a:rPr>
              <a:t>)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point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Q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of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these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circuits?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2922" y="1436703"/>
            <a:ext cx="3166674" cy="4191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9371" y="1528985"/>
            <a:ext cx="3415097" cy="38297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752599"/>
            <a:ext cx="3135551" cy="39121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2600" y="1647459"/>
            <a:ext cx="5058127" cy="38753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29740" y="6046723"/>
            <a:ext cx="686308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00"/>
              </a:spcBef>
              <a:buClr>
                <a:srgbClr val="775F54"/>
              </a:buClr>
              <a:buSzPct val="70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000" dirty="0">
                <a:latin typeface="Arial" panose="020B0604020202020204"/>
                <a:cs typeface="Arial" panose="020B0604020202020204"/>
              </a:rPr>
              <a:t>Question:</a:t>
            </a:r>
            <a:r>
              <a:rPr sz="20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Q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(I</a:t>
            </a:r>
            <a:r>
              <a:rPr sz="1950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000" dirty="0">
                <a:latin typeface="Arial" panose="020B0604020202020204"/>
                <a:cs typeface="Arial" panose="020B0604020202020204"/>
              </a:rPr>
              <a:t>,</a:t>
            </a:r>
            <a:r>
              <a:rPr sz="20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V</a:t>
            </a:r>
            <a:r>
              <a:rPr sz="1950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000" dirty="0">
                <a:latin typeface="Arial" panose="020B0604020202020204"/>
                <a:cs typeface="Arial" panose="020B0604020202020204"/>
              </a:rPr>
              <a:t>)</a:t>
            </a:r>
            <a:r>
              <a:rPr sz="20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point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Q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of</a:t>
            </a:r>
            <a:r>
              <a:rPr sz="20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latin typeface="Arial" panose="020B0604020202020204"/>
                <a:cs typeface="Arial" panose="020B0604020202020204"/>
              </a:rPr>
              <a:t>these</a:t>
            </a:r>
            <a:r>
              <a:rPr sz="20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latin typeface="Arial" panose="020B0604020202020204"/>
                <a:cs typeface="Arial" panose="020B0604020202020204"/>
              </a:rPr>
              <a:t>circuits?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69440" y="4666310"/>
            <a:ext cx="363982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100"/>
              </a:spcBef>
              <a:buClr>
                <a:srgbClr val="775F54"/>
              </a:buClr>
              <a:buSzPct val="69000"/>
              <a:buFont typeface="Wingdings" panose="05000000000000000000"/>
              <a:buChar char=""/>
              <a:tabLst>
                <a:tab pos="39306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Question:</a:t>
            </a:r>
            <a:r>
              <a:rPr sz="1800" b="1" u="sng" spc="335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Determine</a:t>
            </a:r>
            <a:r>
              <a:rPr sz="1800" spc="34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V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1800" spc="120" baseline="-21000" dirty="0">
                <a:latin typeface="Arial" panose="020B0604020202020204"/>
                <a:cs typeface="Arial" panose="020B0604020202020204"/>
              </a:rPr>
              <a:t> 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and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5040" y="4997577"/>
            <a:ext cx="440055" cy="28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4000" dirty="0">
                <a:latin typeface="Arial" panose="020B0604020202020204"/>
                <a:cs typeface="Arial" panose="020B0604020202020204"/>
              </a:rPr>
              <a:t>V</a:t>
            </a:r>
            <a:r>
              <a:rPr sz="1200" spc="-25" dirty="0">
                <a:latin typeface="Arial" panose="020B0604020202020204"/>
                <a:cs typeface="Arial" panose="020B0604020202020204"/>
              </a:rPr>
              <a:t>DS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6900" y="4941189"/>
            <a:ext cx="274764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for</a:t>
            </a:r>
            <a:r>
              <a:rPr sz="1800" spc="434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the</a:t>
            </a:r>
            <a:r>
              <a:rPr sz="1800" spc="44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E-</a:t>
            </a:r>
            <a:r>
              <a:rPr sz="1800" dirty="0">
                <a:latin typeface="Arial" panose="020B0604020202020204"/>
                <a:cs typeface="Arial" panose="020B0604020202020204"/>
              </a:rPr>
              <a:t>MOSFET</a:t>
            </a:r>
            <a:r>
              <a:rPr sz="1800" spc="434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circuit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340" y="5215508"/>
            <a:ext cx="330962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254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 panose="020B0604020202020204"/>
                <a:cs typeface="Arial" panose="020B0604020202020204"/>
              </a:rPr>
              <a:t>above.</a:t>
            </a:r>
            <a:r>
              <a:rPr sz="1800" spc="270" dirty="0">
                <a:latin typeface="Arial" panose="020B0604020202020204"/>
                <a:cs typeface="Arial" panose="020B0604020202020204"/>
              </a:rPr>
              <a:t>    </a:t>
            </a:r>
            <a:r>
              <a:rPr sz="1800" dirty="0">
                <a:latin typeface="Arial" panose="020B0604020202020204"/>
                <a:cs typeface="Arial" panose="020B0604020202020204"/>
              </a:rPr>
              <a:t>Given</a:t>
            </a:r>
            <a:r>
              <a:rPr sz="1800" spc="275" dirty="0">
                <a:latin typeface="Arial" panose="020B0604020202020204"/>
                <a:cs typeface="Arial" panose="020B0604020202020204"/>
              </a:rPr>
              <a:t>    </a:t>
            </a:r>
            <a:r>
              <a:rPr sz="1800" dirty="0">
                <a:latin typeface="Arial" panose="020B0604020202020204"/>
                <a:cs typeface="Arial" panose="020B0604020202020204"/>
              </a:rPr>
              <a:t>that</a:t>
            </a:r>
            <a:r>
              <a:rPr sz="1800" spc="275" dirty="0">
                <a:latin typeface="Arial" panose="020B0604020202020204"/>
                <a:cs typeface="Arial" panose="020B0604020202020204"/>
              </a:rPr>
              <a:t>    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this </a:t>
            </a:r>
            <a:r>
              <a:rPr sz="1800" dirty="0">
                <a:latin typeface="Arial" panose="020B0604020202020204"/>
                <a:cs typeface="Arial" panose="020B0604020202020204"/>
              </a:rPr>
              <a:t>MOSFET</a:t>
            </a:r>
            <a:r>
              <a:rPr sz="1800" spc="24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has</a:t>
            </a:r>
            <a:r>
              <a:rPr sz="1800" spc="26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minimum</a:t>
            </a:r>
            <a:r>
              <a:rPr sz="1800" spc="27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values </a:t>
            </a:r>
            <a:r>
              <a:rPr sz="1800" dirty="0">
                <a:latin typeface="Arial" panose="020B0604020202020204"/>
                <a:cs typeface="Arial" panose="020B0604020202020204"/>
              </a:rPr>
              <a:t>of</a:t>
            </a:r>
            <a:r>
              <a:rPr sz="1800" spc="27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I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D(on)</a:t>
            </a:r>
            <a:r>
              <a:rPr sz="1800" spc="20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27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200</a:t>
            </a:r>
            <a:r>
              <a:rPr sz="1800" spc="254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mA</a:t>
            </a:r>
            <a:r>
              <a:rPr sz="1800" spc="17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at</a:t>
            </a:r>
            <a:r>
              <a:rPr sz="1800" spc="275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V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1800" spc="63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27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4V </a:t>
            </a:r>
            <a:r>
              <a:rPr sz="1800" dirty="0">
                <a:latin typeface="Arial" panose="020B0604020202020204"/>
                <a:cs typeface="Arial" panose="020B0604020202020204"/>
              </a:rPr>
              <a:t>and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V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th</a:t>
            </a:r>
            <a:r>
              <a:rPr sz="1800" spc="22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2V.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925" y="1819294"/>
            <a:ext cx="1619250" cy="25149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684" y="1779995"/>
            <a:ext cx="2542032" cy="22662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54775" y="4600194"/>
            <a:ext cx="365125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5880" indent="-343535">
              <a:lnSpc>
                <a:spcPct val="100000"/>
              </a:lnSpc>
              <a:spcBef>
                <a:spcPts val="100"/>
              </a:spcBef>
              <a:buClr>
                <a:srgbClr val="775F54"/>
              </a:buClr>
              <a:buSzPct val="69000"/>
              <a:buFont typeface="Wingdings" panose="05000000000000000000"/>
              <a:buChar char=""/>
              <a:tabLst>
                <a:tab pos="381000" algn="l"/>
                <a:tab pos="1617345" algn="l"/>
                <a:tab pos="2837815" algn="l"/>
                <a:tab pos="3182620" algn="l"/>
              </a:tabLst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Question: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	</a:t>
            </a:r>
            <a:r>
              <a:rPr sz="1800" spc="-10" dirty="0">
                <a:latin typeface="Arial" panose="020B0604020202020204"/>
                <a:cs typeface="Arial" panose="020B0604020202020204"/>
              </a:rPr>
              <a:t>Determine</a:t>
            </a:r>
            <a:r>
              <a:rPr sz="1800" dirty="0">
                <a:latin typeface="Arial" panose="020B0604020202020204"/>
                <a:cs typeface="Arial" panose="020B0604020202020204"/>
              </a:rPr>
              <a:t>	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I</a:t>
            </a:r>
            <a:r>
              <a:rPr sz="1800" spc="-37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1800" spc="-20" dirty="0">
                <a:latin typeface="Arial" panose="020B0604020202020204"/>
                <a:cs typeface="Arial" panose="020B0604020202020204"/>
              </a:rPr>
              <a:t>with </a:t>
            </a:r>
            <a:r>
              <a:rPr sz="1800" dirty="0">
                <a:latin typeface="Arial" panose="020B0604020202020204"/>
                <a:cs typeface="Arial" panose="020B0604020202020204"/>
              </a:rPr>
              <a:t>V</a:t>
            </a:r>
            <a:r>
              <a:rPr sz="1800" baseline="-21000" dirty="0">
                <a:latin typeface="Arial" panose="020B0604020202020204"/>
                <a:cs typeface="Arial" panose="020B0604020202020204"/>
              </a:rPr>
              <a:t>th</a:t>
            </a:r>
            <a:r>
              <a:rPr sz="1800" spc="23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latin typeface="Arial" panose="020B0604020202020204"/>
                <a:cs typeface="Arial" panose="020B0604020202020204"/>
              </a:rPr>
              <a:t>=</a:t>
            </a:r>
            <a:r>
              <a:rPr sz="18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latin typeface="Arial" panose="020B0604020202020204"/>
                <a:cs typeface="Arial" panose="020B0604020202020204"/>
              </a:rPr>
              <a:t>3V.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84400" marR="5080" indent="-2172335">
              <a:lnSpc>
                <a:spcPct val="100000"/>
              </a:lnSpc>
              <a:spcBef>
                <a:spcPts val="105"/>
              </a:spcBef>
            </a:pPr>
            <a:r>
              <a:rPr dirty="0"/>
              <a:t>Analyze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circuit</a:t>
            </a:r>
            <a:r>
              <a:rPr spc="-20" dirty="0"/>
              <a:t> </a:t>
            </a:r>
            <a:r>
              <a:rPr dirty="0"/>
              <a:t>for</a:t>
            </a:r>
            <a:r>
              <a:rPr spc="-250" dirty="0"/>
              <a:t> </a:t>
            </a:r>
            <a:r>
              <a:rPr dirty="0"/>
              <a:t>AC</a:t>
            </a:r>
            <a:r>
              <a:rPr spc="5" dirty="0"/>
              <a:t> </a:t>
            </a:r>
            <a:r>
              <a:rPr spc="-10" dirty="0"/>
              <a:t>signal </a:t>
            </a:r>
            <a:r>
              <a:rPr dirty="0"/>
              <a:t>(small</a:t>
            </a:r>
            <a:r>
              <a:rPr spc="-15" dirty="0"/>
              <a:t> </a:t>
            </a:r>
            <a:r>
              <a:rPr spc="-10" dirty="0"/>
              <a:t>signal)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292225"/>
            <a:ext cx="10515600" cy="708025"/>
          </a:xfrm>
          <a:prstGeom prst="rect">
            <a:avLst/>
          </a:prstGeom>
        </p:spPr>
        <p:txBody>
          <a:bodyPr vert="horz" wrap="square" lIns="0" tIns="154431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Small</a:t>
            </a:r>
            <a:r>
              <a:rPr sz="3600" spc="-55" dirty="0"/>
              <a:t> </a:t>
            </a:r>
            <a:r>
              <a:rPr sz="3600" dirty="0"/>
              <a:t>signal</a:t>
            </a:r>
            <a:r>
              <a:rPr sz="3600" spc="-50" dirty="0"/>
              <a:t> </a:t>
            </a:r>
            <a:r>
              <a:rPr sz="3600" spc="-10" dirty="0"/>
              <a:t>model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600200" y="1981200"/>
            <a:ext cx="8913495" cy="4495800"/>
            <a:chOff x="76200" y="1981200"/>
            <a:chExt cx="8913495" cy="4495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4821" y="2055020"/>
              <a:ext cx="4724544" cy="23622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1981200"/>
              <a:ext cx="4191000" cy="4495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Transconductance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8950" y="1987187"/>
            <a:ext cx="3833917" cy="33696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9740" y="1787169"/>
            <a:ext cx="3806190" cy="156908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2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 ∆I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/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∆V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d(I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(V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1000" marR="233680" indent="-342900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1000" algn="l"/>
                <a:tab pos="182435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Derivation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current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4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as </a:t>
            </a:r>
            <a:r>
              <a:rPr sz="2200" dirty="0">
                <a:latin typeface="Arial" panose="020B0604020202020204"/>
                <a:cs typeface="Arial" panose="020B0604020202020204"/>
              </a:rPr>
              <a:t>function</a:t>
            </a:r>
            <a:r>
              <a:rPr sz="2200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of</a:t>
            </a:r>
            <a:r>
              <a:rPr sz="2200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GS</a:t>
            </a:r>
            <a:endParaRPr sz="2175" baseline="-210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53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Slope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(V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200" dirty="0">
                <a:latin typeface="Arial" panose="020B0604020202020204"/>
                <a:cs typeface="Arial" panose="020B0604020202020204"/>
              </a:rPr>
              <a:t>)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30325"/>
            <a:ext cx="10515600" cy="631825"/>
          </a:xfrm>
          <a:prstGeom prst="rect">
            <a:avLst/>
          </a:prstGeom>
        </p:spPr>
        <p:txBody>
          <a:bodyPr vert="horz" wrap="square" lIns="0" tIns="78231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Transconductance</a:t>
            </a:r>
            <a:r>
              <a:rPr sz="3600" dirty="0"/>
              <a:t> g</a:t>
            </a:r>
            <a:r>
              <a:rPr sz="3600" baseline="-21000" dirty="0"/>
              <a:t>m</a:t>
            </a:r>
            <a:r>
              <a:rPr sz="3600" spc="-44" baseline="-21000" dirty="0"/>
              <a:t> </a:t>
            </a:r>
            <a:r>
              <a:rPr sz="3600" dirty="0"/>
              <a:t>(JFET</a:t>
            </a:r>
            <a:r>
              <a:rPr sz="3600" spc="-85" dirty="0"/>
              <a:t> </a:t>
            </a:r>
            <a:r>
              <a:rPr sz="3600" dirty="0"/>
              <a:t>&amp;</a:t>
            </a:r>
            <a:r>
              <a:rPr sz="3600" spc="-25" dirty="0"/>
              <a:t> </a:t>
            </a:r>
            <a:r>
              <a:rPr sz="3600" spc="-10" dirty="0"/>
              <a:t>DMOS)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556864" y="2944477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48"/>
                </a:lnTo>
              </a:path>
            </a:pathLst>
          </a:custGeom>
          <a:ln w="120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14797" y="2944477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48"/>
                </a:lnTo>
              </a:path>
            </a:pathLst>
          </a:custGeom>
          <a:ln w="120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44608" y="2891676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6068" y="0"/>
                </a:lnTo>
              </a:path>
            </a:pathLst>
          </a:custGeom>
          <a:ln w="118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98624" y="2891676"/>
            <a:ext cx="465455" cy="0"/>
          </a:xfrm>
          <a:custGeom>
            <a:avLst/>
            <a:gdLst/>
            <a:ahLst/>
            <a:cxnLst/>
            <a:rect l="l" t="t" r="r" b="b"/>
            <a:pathLst>
              <a:path w="465454">
                <a:moveTo>
                  <a:pt x="0" y="0"/>
                </a:moveTo>
                <a:lnTo>
                  <a:pt x="465356" y="0"/>
                </a:lnTo>
              </a:path>
            </a:pathLst>
          </a:custGeom>
          <a:ln w="118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53537" y="2788347"/>
            <a:ext cx="191135" cy="36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00" spc="-465" dirty="0">
                <a:latin typeface="Symbol" panose="05050102010706020507"/>
                <a:cs typeface="Symbol" panose="05050102010706020507"/>
              </a:rPr>
              <a:t></a:t>
            </a:r>
            <a:r>
              <a:rPr sz="3450" spc="-697" baseline="-25000" dirty="0">
                <a:latin typeface="Symbol" panose="05050102010706020507"/>
                <a:cs typeface="Symbol" panose="05050102010706020507"/>
              </a:rPr>
              <a:t></a:t>
            </a:r>
            <a:endParaRPr sz="3450" baseline="-25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7130" y="2887392"/>
            <a:ext cx="1698625" cy="36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31570" algn="l"/>
              </a:tabLst>
            </a:pP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350" spc="-2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35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-697" baseline="19000" dirty="0">
                <a:latin typeface="Symbol" panose="05050102010706020507"/>
                <a:cs typeface="Symbol" panose="05050102010706020507"/>
              </a:rPr>
              <a:t></a:t>
            </a:r>
            <a:r>
              <a:rPr sz="3450" spc="-697" baseline="-7000" dirty="0">
                <a:latin typeface="Symbol" panose="05050102010706020507"/>
                <a:cs typeface="Symbol" panose="05050102010706020507"/>
              </a:rPr>
              <a:t></a:t>
            </a:r>
            <a:endParaRPr sz="3450" baseline="-7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6239" y="1931035"/>
            <a:ext cx="6701155" cy="917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676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E-</a:t>
            </a:r>
            <a:r>
              <a:rPr sz="2200" dirty="0">
                <a:latin typeface="Arial" panose="020B0604020202020204"/>
                <a:cs typeface="Arial" panose="020B0604020202020204"/>
              </a:rPr>
              <a:t>MOS;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gm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defined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from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Shockley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equation: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175635">
              <a:lnSpc>
                <a:spcPct val="100000"/>
              </a:lnSpc>
              <a:spcBef>
                <a:spcPts val="1665"/>
              </a:spcBef>
            </a:pPr>
            <a:r>
              <a:rPr sz="3450" baseline="-35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025" baseline="-600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025" spc="434" baseline="-60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baseline="-35000" dirty="0">
                <a:latin typeface="Symbol" panose="05050102010706020507"/>
                <a:cs typeface="Symbol" panose="05050102010706020507"/>
              </a:rPr>
              <a:t></a:t>
            </a:r>
            <a:r>
              <a:rPr sz="3450" spc="307" baseline="-3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2I</a:t>
            </a:r>
            <a:r>
              <a:rPr sz="1350" dirty="0">
                <a:latin typeface="Times New Roman" panose="02020603050405020304"/>
                <a:cs typeface="Times New Roman" panose="02020603050405020304"/>
              </a:rPr>
              <a:t>DSS</a:t>
            </a:r>
            <a:r>
              <a:rPr sz="135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-120" baseline="-5000" dirty="0">
                <a:latin typeface="Symbol" panose="05050102010706020507"/>
                <a:cs typeface="Symbol" panose="05050102010706020507"/>
              </a:rPr>
              <a:t></a:t>
            </a:r>
            <a:r>
              <a:rPr sz="3450" spc="-120" baseline="-3500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450" spc="-427" baseline="-3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baseline="-35000" dirty="0">
                <a:latin typeface="Symbol" panose="05050102010706020507"/>
                <a:cs typeface="Symbol" panose="05050102010706020507"/>
              </a:rPr>
              <a:t></a:t>
            </a:r>
            <a:r>
              <a:rPr sz="3450" spc="157" baseline="-3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350" spc="-1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13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-75" baseline="-5000" dirty="0">
                <a:latin typeface="Symbol" panose="05050102010706020507"/>
                <a:cs typeface="Symbol" panose="05050102010706020507"/>
              </a:rPr>
              <a:t></a:t>
            </a:r>
            <a:endParaRPr sz="3450" baseline="-5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74859" y="4373492"/>
            <a:ext cx="0" cy="414655"/>
          </a:xfrm>
          <a:custGeom>
            <a:avLst/>
            <a:gdLst/>
            <a:ahLst/>
            <a:cxnLst/>
            <a:rect l="l" t="t" r="r" b="b"/>
            <a:pathLst>
              <a:path h="414654">
                <a:moveTo>
                  <a:pt x="0" y="0"/>
                </a:moveTo>
                <a:lnTo>
                  <a:pt x="0" y="414215"/>
                </a:lnTo>
              </a:path>
            </a:pathLst>
          </a:custGeom>
          <a:ln w="14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00319" y="4373492"/>
            <a:ext cx="0" cy="414655"/>
          </a:xfrm>
          <a:custGeom>
            <a:avLst/>
            <a:gdLst/>
            <a:ahLst/>
            <a:cxnLst/>
            <a:rect l="l" t="t" r="r" b="b"/>
            <a:pathLst>
              <a:path h="414654">
                <a:moveTo>
                  <a:pt x="0" y="0"/>
                </a:moveTo>
                <a:lnTo>
                  <a:pt x="0" y="414215"/>
                </a:lnTo>
              </a:path>
            </a:pathLst>
          </a:custGeom>
          <a:ln w="141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47162" y="4310613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>
                <a:moveTo>
                  <a:pt x="0" y="0"/>
                </a:moveTo>
                <a:lnTo>
                  <a:pt x="687915" y="0"/>
                </a:lnTo>
              </a:path>
            </a:pathLst>
          </a:custGeom>
          <a:ln w="139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15439" y="3540633"/>
            <a:ext cx="5084445" cy="1636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8465" indent="-342265">
              <a:lnSpc>
                <a:spcPts val="2435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184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When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0: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R="68580" algn="r">
              <a:lnSpc>
                <a:spcPts val="3035"/>
              </a:lnSpc>
            </a:pPr>
            <a:r>
              <a:rPr sz="4050" baseline="-350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325" baseline="-61000" dirty="0">
                <a:latin typeface="Times New Roman" panose="02020603050405020304"/>
                <a:cs typeface="Times New Roman" panose="02020603050405020304"/>
              </a:rPr>
              <a:t>m0</a:t>
            </a:r>
            <a:r>
              <a:rPr sz="2325" spc="60" baseline="-6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50" baseline="-35000" dirty="0">
                <a:latin typeface="Symbol" panose="05050102010706020507"/>
                <a:cs typeface="Symbol" panose="05050102010706020507"/>
              </a:rPr>
              <a:t></a:t>
            </a:r>
            <a:r>
              <a:rPr sz="4050" spc="-172" baseline="-3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0" dirty="0">
                <a:latin typeface="Times New Roman" panose="02020603050405020304"/>
                <a:cs typeface="Times New Roman" panose="02020603050405020304"/>
              </a:rPr>
              <a:t>2I</a:t>
            </a:r>
            <a:r>
              <a:rPr sz="1550" spc="-20" dirty="0">
                <a:latin typeface="Times New Roman" panose="02020603050405020304"/>
                <a:cs typeface="Times New Roman" panose="02020603050405020304"/>
              </a:rPr>
              <a:t>DSS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R="219075" algn="r">
              <a:lnSpc>
                <a:spcPct val="100000"/>
              </a:lnSpc>
              <a:spcBef>
                <a:spcPts val="600"/>
              </a:spcBef>
            </a:pPr>
            <a:r>
              <a:rPr sz="2700" spc="-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1550" spc="-25" dirty="0">
                <a:latin typeface="Times New Roman" panose="02020603050405020304"/>
                <a:cs typeface="Times New Roman" panose="02020603050405020304"/>
              </a:rPr>
              <a:t>P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418465" indent="-342265">
              <a:lnSpc>
                <a:spcPct val="100000"/>
              </a:lnSpc>
              <a:spcBef>
                <a:spcPts val="720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184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point: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76381" y="5695793"/>
            <a:ext cx="525145" cy="0"/>
          </a:xfrm>
          <a:custGeom>
            <a:avLst/>
            <a:gdLst/>
            <a:ahLst/>
            <a:cxnLst/>
            <a:rect l="l" t="t" r="r" b="b"/>
            <a:pathLst>
              <a:path w="525145">
                <a:moveTo>
                  <a:pt x="0" y="0"/>
                </a:moveTo>
                <a:lnTo>
                  <a:pt x="524676" y="0"/>
                </a:lnTo>
              </a:path>
            </a:pathLst>
          </a:custGeom>
          <a:ln w="134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87875" y="5734577"/>
            <a:ext cx="156210" cy="415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50" dirty="0">
                <a:latin typeface="Symbol" panose="05050102010706020507"/>
                <a:cs typeface="Symbol" panose="05050102010706020507"/>
              </a:rPr>
              <a:t></a:t>
            </a:r>
            <a:endParaRPr sz="2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66703" y="5694691"/>
            <a:ext cx="424815" cy="405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500" spc="4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00" spc="-89" baseline="-6000" dirty="0">
                <a:latin typeface="Symbol" panose="05050102010706020507"/>
                <a:cs typeface="Symbol" panose="05050102010706020507"/>
              </a:rPr>
              <a:t></a:t>
            </a:r>
            <a:endParaRPr sz="3900" baseline="-60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51113" y="5567603"/>
            <a:ext cx="615315" cy="415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71170" algn="l"/>
              </a:tabLst>
            </a:pPr>
            <a:r>
              <a:rPr sz="3900" spc="7" baseline="-21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900" baseline="-21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spc="-50" dirty="0">
                <a:latin typeface="Symbol" panose="05050102010706020507"/>
                <a:cs typeface="Symbol" panose="05050102010706020507"/>
              </a:rPr>
              <a:t></a:t>
            </a:r>
            <a:endParaRPr sz="2600">
              <a:latin typeface="Symbol" panose="05050102010706020507"/>
              <a:cs typeface="Symbol" panose="05050102010706020507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3844" y="5433069"/>
            <a:ext cx="2280285" cy="415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1560"/>
              </a:lnSpc>
              <a:spcBef>
                <a:spcPts val="125"/>
              </a:spcBef>
              <a:tabLst>
                <a:tab pos="1337310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5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70" dirty="0">
                <a:latin typeface="Symbol" panose="05050102010706020507"/>
                <a:cs typeface="Symbol" panose="05050102010706020507"/>
              </a:rPr>
              <a:t></a:t>
            </a:r>
            <a:r>
              <a:rPr sz="2600" spc="7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500" spc="70" dirty="0">
                <a:latin typeface="Times New Roman" panose="02020603050405020304"/>
                <a:cs typeface="Times New Roman" panose="02020603050405020304"/>
              </a:rPr>
              <a:t>m0</a:t>
            </a:r>
            <a:r>
              <a:rPr sz="15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00" spc="-75" baseline="31000" dirty="0">
                <a:latin typeface="Symbol" panose="05050102010706020507"/>
                <a:cs typeface="Symbol" panose="05050102010706020507"/>
              </a:rPr>
              <a:t></a:t>
            </a:r>
            <a:r>
              <a:rPr sz="3900" baseline="31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00" dirty="0">
                <a:latin typeface="Symbol" panose="05050102010706020507"/>
                <a:cs typeface="Symbol" panose="05050102010706020507"/>
              </a:rPr>
              <a:t></a:t>
            </a:r>
            <a:r>
              <a:rPr sz="2600" spc="-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00" baseline="3500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250" baseline="61000" dirty="0">
                <a:latin typeface="Times New Roman" panose="02020603050405020304"/>
                <a:cs typeface="Times New Roman" panose="02020603050405020304"/>
              </a:rPr>
              <a:t>GS</a:t>
            </a:r>
            <a:r>
              <a:rPr sz="2250" spc="-120" baseline="61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900" spc="-75" baseline="31000" dirty="0">
                <a:latin typeface="Symbol" panose="05050102010706020507"/>
                <a:cs typeface="Symbol" panose="05050102010706020507"/>
              </a:rPr>
              <a:t></a:t>
            </a:r>
            <a:endParaRPr sz="3900" baseline="31000">
              <a:latin typeface="Symbol" panose="05050102010706020507"/>
              <a:cs typeface="Symbol" panose="05050102010706020507"/>
            </a:endParaRPr>
          </a:p>
          <a:p>
            <a:pPr marL="142875" algn="ctr">
              <a:lnSpc>
                <a:spcPts val="1560"/>
              </a:lnSpc>
            </a:pPr>
            <a:r>
              <a:rPr sz="3900" spc="-37" baseline="-22000" dirty="0">
                <a:latin typeface="Symbol" panose="05050102010706020507"/>
                <a:cs typeface="Symbol" panose="05050102010706020507"/>
              </a:rPr>
              <a:t>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1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30325"/>
            <a:ext cx="10515600" cy="631825"/>
          </a:xfrm>
          <a:prstGeom prst="rect">
            <a:avLst/>
          </a:prstGeom>
        </p:spPr>
        <p:txBody>
          <a:bodyPr vert="horz" wrap="square" lIns="0" tIns="78231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Transconductance</a:t>
            </a:r>
            <a:r>
              <a:rPr sz="3600" spc="-15" dirty="0"/>
              <a:t> </a:t>
            </a:r>
            <a:r>
              <a:rPr sz="3600" dirty="0"/>
              <a:t>g</a:t>
            </a:r>
            <a:r>
              <a:rPr sz="3600" baseline="-21000" dirty="0"/>
              <a:t>m</a:t>
            </a:r>
            <a:r>
              <a:rPr sz="3600" spc="-52" baseline="-21000" dirty="0"/>
              <a:t> </a:t>
            </a:r>
            <a:r>
              <a:rPr sz="3600" spc="-25" dirty="0"/>
              <a:t>(E-</a:t>
            </a:r>
            <a:r>
              <a:rPr sz="3600" spc="-10" dirty="0"/>
              <a:t>MOSFET)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678939" y="1931035"/>
            <a:ext cx="5240020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JFET</a:t>
            </a:r>
            <a:r>
              <a:rPr sz="22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&amp;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DMOS,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gm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defined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from: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3539" y="3574160"/>
            <a:ext cx="357822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9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determined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Q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point: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6413" y="2581988"/>
            <a:ext cx="3933461" cy="5613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3099" y="4382663"/>
            <a:ext cx="3076200" cy="46706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4540" y="5208270"/>
            <a:ext cx="7901940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 panose="020B0604020202020204"/>
                <a:cs typeface="Arial" panose="020B0604020202020204"/>
              </a:rPr>
              <a:t>Notes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91845" indent="-296545">
              <a:lnSpc>
                <a:spcPct val="100000"/>
              </a:lnSpc>
              <a:buFont typeface="Wingdings" panose="05000000000000000000"/>
              <a:buChar char=""/>
              <a:tabLst>
                <a:tab pos="79184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2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should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positive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NMOS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negative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PMOS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91845" indent="-296545">
              <a:lnSpc>
                <a:spcPct val="100000"/>
              </a:lnSpc>
              <a:buFont typeface="Wingdings" panose="05000000000000000000"/>
              <a:buChar char=""/>
              <a:tabLst>
                <a:tab pos="79184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2k(V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–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)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447799"/>
            <a:ext cx="6781800" cy="37886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AC equivalent</a:t>
            </a:r>
            <a:r>
              <a:rPr spc="-40" dirty="0"/>
              <a:t> </a:t>
            </a:r>
            <a:r>
              <a:rPr dirty="0"/>
              <a:t>circuit</a:t>
            </a:r>
            <a:r>
              <a:rPr spc="-15" dirty="0"/>
              <a:t> </a:t>
            </a:r>
            <a:r>
              <a:rPr spc="-10" dirty="0"/>
              <a:t>(EMOS)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586740"/>
            <a:ext cx="10515600" cy="69342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3 types of</a:t>
            </a:r>
            <a:r>
              <a:rPr spc="-15" dirty="0"/>
              <a:t> </a:t>
            </a:r>
            <a:r>
              <a:rPr dirty="0"/>
              <a:t>MOSFET</a:t>
            </a:r>
            <a:r>
              <a:rPr spc="-90" dirty="0"/>
              <a:t> </a:t>
            </a:r>
            <a:r>
              <a:rPr spc="-10" dirty="0"/>
              <a:t>amplifier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64739" y="1702435"/>
            <a:ext cx="4569461" cy="70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CS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–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CD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z="2200" dirty="0">
                <a:latin typeface="Arial" panose="020B0604020202020204"/>
                <a:cs typeface="Arial" panose="020B0604020202020204"/>
              </a:rPr>
              <a:t>–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CG</a:t>
            </a:r>
            <a:endParaRPr lang="en-US" sz="2200" spc="-25" dirty="0">
              <a:latin typeface="Arial" panose="020B0604020202020204"/>
              <a:cs typeface="Arial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</a:tabLst>
            </a:pPr>
            <a:endParaRPr sz="22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0" dirty="0"/>
              <a:t> </a:t>
            </a:r>
            <a:r>
              <a:rPr sz="3600" dirty="0"/>
              <a:t>–</a:t>
            </a:r>
            <a:r>
              <a:rPr sz="3600" spc="-20" dirty="0"/>
              <a:t> </a:t>
            </a:r>
            <a:r>
              <a:rPr sz="3600" dirty="0"/>
              <a:t>CS</a:t>
            </a:r>
            <a:r>
              <a:rPr sz="3600" spc="-25" dirty="0"/>
              <a:t> </a:t>
            </a:r>
            <a:r>
              <a:rPr sz="3600" dirty="0"/>
              <a:t>with</a:t>
            </a:r>
            <a:r>
              <a:rPr sz="3600" spc="-20" dirty="0"/>
              <a:t> </a:t>
            </a:r>
            <a:r>
              <a:rPr sz="3600" dirty="0"/>
              <a:t>fixed</a:t>
            </a:r>
            <a:r>
              <a:rPr sz="3600" spc="-20" dirty="0"/>
              <a:t> </a:t>
            </a:r>
            <a:r>
              <a:rPr sz="3600" dirty="0"/>
              <a:t>bias</a:t>
            </a:r>
            <a:r>
              <a:rPr sz="3600" spc="-25" dirty="0"/>
              <a:t> </a:t>
            </a:r>
            <a:r>
              <a:rPr sz="3600" spc="-10" dirty="0"/>
              <a:t>voltage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2663897" y="1890554"/>
            <a:ext cx="1423035" cy="2985770"/>
            <a:chOff x="1139897" y="1890554"/>
            <a:chExt cx="1423035" cy="2985770"/>
          </a:xfrm>
        </p:grpSpPr>
        <p:sp>
          <p:nvSpPr>
            <p:cNvPr id="5" name="object 5"/>
            <p:cNvSpPr/>
            <p:nvPr/>
          </p:nvSpPr>
          <p:spPr>
            <a:xfrm>
              <a:off x="1236660" y="2824101"/>
              <a:ext cx="1211580" cy="2025014"/>
            </a:xfrm>
            <a:custGeom>
              <a:avLst/>
              <a:gdLst/>
              <a:ahLst/>
              <a:cxnLst/>
              <a:rect l="l" t="t" r="r" b="b"/>
              <a:pathLst>
                <a:path w="1211580" h="2025014">
                  <a:moveTo>
                    <a:pt x="1211498" y="0"/>
                  </a:moveTo>
                  <a:lnTo>
                    <a:pt x="895427" y="0"/>
                  </a:lnTo>
                </a:path>
                <a:path w="1211580" h="2025014">
                  <a:moveTo>
                    <a:pt x="0" y="1708125"/>
                  </a:moveTo>
                  <a:lnTo>
                    <a:pt x="0" y="2024810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05843" y="2110657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0" y="8727"/>
                  </a:moveTo>
                  <a:lnTo>
                    <a:pt x="2560" y="2556"/>
                  </a:lnTo>
                  <a:lnTo>
                    <a:pt x="8743" y="0"/>
                  </a:lnTo>
                  <a:lnTo>
                    <a:pt x="14926" y="2556"/>
                  </a:lnTo>
                  <a:lnTo>
                    <a:pt x="17487" y="8727"/>
                  </a:lnTo>
                  <a:lnTo>
                    <a:pt x="14926" y="14899"/>
                  </a:lnTo>
                  <a:lnTo>
                    <a:pt x="8743" y="17455"/>
                  </a:lnTo>
                  <a:lnTo>
                    <a:pt x="2560" y="14899"/>
                  </a:lnTo>
                  <a:lnTo>
                    <a:pt x="0" y="8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8787" y="2014044"/>
              <a:ext cx="1405255" cy="2853055"/>
            </a:xfrm>
            <a:custGeom>
              <a:avLst/>
              <a:gdLst/>
              <a:ahLst/>
              <a:cxnLst/>
              <a:rect l="l" t="t" r="r" b="b"/>
              <a:pathLst>
                <a:path w="1405255" h="2853054">
                  <a:moveTo>
                    <a:pt x="965799" y="2852809"/>
                  </a:moveTo>
                  <a:lnTo>
                    <a:pt x="965799" y="1584721"/>
                  </a:lnTo>
                </a:path>
                <a:path w="1405255" h="2853054">
                  <a:moveTo>
                    <a:pt x="965799" y="757124"/>
                  </a:moveTo>
                  <a:lnTo>
                    <a:pt x="965799" y="915397"/>
                  </a:lnTo>
                </a:path>
                <a:path w="1405255" h="2853054">
                  <a:moveTo>
                    <a:pt x="1405078" y="669253"/>
                  </a:moveTo>
                  <a:lnTo>
                    <a:pt x="1405078" y="933391"/>
                  </a:lnTo>
                </a:path>
                <a:path w="1405255" h="2853054">
                  <a:moveTo>
                    <a:pt x="1405078" y="810057"/>
                  </a:moveTo>
                  <a:lnTo>
                    <a:pt x="1317222" y="810057"/>
                  </a:lnTo>
                </a:path>
                <a:path w="1405255" h="2853054">
                  <a:moveTo>
                    <a:pt x="0" y="2412317"/>
                  </a:moveTo>
                  <a:lnTo>
                    <a:pt x="157825" y="2412317"/>
                  </a:lnTo>
                </a:path>
                <a:path w="1405255" h="2853054">
                  <a:moveTo>
                    <a:pt x="87873" y="2412317"/>
                  </a:moveTo>
                  <a:lnTo>
                    <a:pt x="87873" y="2500241"/>
                  </a:lnTo>
                </a:path>
                <a:path w="1405255" h="2853054">
                  <a:moveTo>
                    <a:pt x="965799" y="0"/>
                  </a:moveTo>
                  <a:lnTo>
                    <a:pt x="965799" y="87871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53333" y="1899444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4">
                  <a:moveTo>
                    <a:pt x="0" y="35288"/>
                  </a:moveTo>
                  <a:lnTo>
                    <a:pt x="3008" y="58372"/>
                  </a:lnTo>
                  <a:lnTo>
                    <a:pt x="10938" y="74921"/>
                  </a:lnTo>
                  <a:lnTo>
                    <a:pt x="22149" y="84887"/>
                  </a:lnTo>
                  <a:lnTo>
                    <a:pt x="35002" y="88220"/>
                  </a:lnTo>
                  <a:lnTo>
                    <a:pt x="58027" y="84887"/>
                  </a:lnTo>
                  <a:lnTo>
                    <a:pt x="74554" y="74921"/>
                  </a:lnTo>
                  <a:lnTo>
                    <a:pt x="84519" y="58372"/>
                  </a:lnTo>
                  <a:lnTo>
                    <a:pt x="87855" y="35288"/>
                  </a:lnTo>
                  <a:lnTo>
                    <a:pt x="84519" y="22404"/>
                  </a:lnTo>
                  <a:lnTo>
                    <a:pt x="74554" y="11093"/>
                  </a:lnTo>
                  <a:lnTo>
                    <a:pt x="58027" y="3057"/>
                  </a:lnTo>
                  <a:lnTo>
                    <a:pt x="35002" y="0"/>
                  </a:lnTo>
                  <a:lnTo>
                    <a:pt x="22149" y="3057"/>
                  </a:lnTo>
                  <a:lnTo>
                    <a:pt x="10938" y="11093"/>
                  </a:lnTo>
                  <a:lnTo>
                    <a:pt x="3008" y="22404"/>
                  </a:lnTo>
                  <a:lnTo>
                    <a:pt x="0" y="35288"/>
                  </a:lnTo>
                  <a:close/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174479" y="2683297"/>
            <a:ext cx="570865" cy="264160"/>
            <a:chOff x="2650479" y="2683297"/>
            <a:chExt cx="570865" cy="264160"/>
          </a:xfrm>
        </p:grpSpPr>
        <p:sp>
          <p:nvSpPr>
            <p:cNvPr id="10" name="object 10"/>
            <p:cNvSpPr/>
            <p:nvPr/>
          </p:nvSpPr>
          <p:spPr>
            <a:xfrm>
              <a:off x="2711726" y="2824101"/>
              <a:ext cx="53340" cy="0"/>
            </a:xfrm>
            <a:custGeom>
              <a:avLst/>
              <a:gdLst/>
              <a:ahLst/>
              <a:cxnLst/>
              <a:rect l="l" t="t" r="r" b="b"/>
              <a:pathLst>
                <a:path w="53339">
                  <a:moveTo>
                    <a:pt x="52853" y="0"/>
                  </a:moveTo>
                  <a:lnTo>
                    <a:pt x="0" y="0"/>
                  </a:lnTo>
                </a:path>
              </a:pathLst>
            </a:custGeom>
            <a:ln w="17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85481" y="2815373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80">
                  <a:moveTo>
                    <a:pt x="0" y="8727"/>
                  </a:moveTo>
                  <a:lnTo>
                    <a:pt x="2561" y="2556"/>
                  </a:lnTo>
                  <a:lnTo>
                    <a:pt x="8743" y="0"/>
                  </a:lnTo>
                  <a:lnTo>
                    <a:pt x="14926" y="2556"/>
                  </a:lnTo>
                  <a:lnTo>
                    <a:pt x="17487" y="8727"/>
                  </a:lnTo>
                  <a:lnTo>
                    <a:pt x="14926" y="14899"/>
                  </a:lnTo>
                  <a:lnTo>
                    <a:pt x="8743" y="17455"/>
                  </a:lnTo>
                  <a:lnTo>
                    <a:pt x="2561" y="14899"/>
                  </a:lnTo>
                  <a:lnTo>
                    <a:pt x="0" y="8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59222" y="2683297"/>
              <a:ext cx="474345" cy="264160"/>
            </a:xfrm>
            <a:custGeom>
              <a:avLst/>
              <a:gdLst/>
              <a:ahLst/>
              <a:cxnLst/>
              <a:rect l="l" t="t" r="r" b="b"/>
              <a:pathLst>
                <a:path w="474344" h="264160">
                  <a:moveTo>
                    <a:pt x="35002" y="140803"/>
                  </a:moveTo>
                  <a:lnTo>
                    <a:pt x="351072" y="140803"/>
                  </a:lnTo>
                </a:path>
                <a:path w="474344" h="264160">
                  <a:moveTo>
                    <a:pt x="0" y="0"/>
                  </a:moveTo>
                  <a:lnTo>
                    <a:pt x="0" y="264137"/>
                  </a:lnTo>
                </a:path>
                <a:path w="474344" h="264160">
                  <a:moveTo>
                    <a:pt x="0" y="140803"/>
                  </a:moveTo>
                  <a:lnTo>
                    <a:pt x="87505" y="140803"/>
                  </a:lnTo>
                </a:path>
                <a:path w="474344" h="264160">
                  <a:moveTo>
                    <a:pt x="473930" y="140803"/>
                  </a:moveTo>
                  <a:lnTo>
                    <a:pt x="386074" y="140803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4402" y="2762434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4">
                  <a:moveTo>
                    <a:pt x="0" y="34938"/>
                  </a:moveTo>
                  <a:lnTo>
                    <a:pt x="3013" y="58170"/>
                  </a:lnTo>
                  <a:lnTo>
                    <a:pt x="10981" y="74703"/>
                  </a:lnTo>
                  <a:lnTo>
                    <a:pt x="22297" y="84587"/>
                  </a:lnTo>
                  <a:lnTo>
                    <a:pt x="35352" y="87871"/>
                  </a:lnTo>
                  <a:lnTo>
                    <a:pt x="58322" y="84587"/>
                  </a:lnTo>
                  <a:lnTo>
                    <a:pt x="74729" y="74703"/>
                  </a:lnTo>
                  <a:lnTo>
                    <a:pt x="84574" y="58170"/>
                  </a:lnTo>
                  <a:lnTo>
                    <a:pt x="87855" y="34938"/>
                  </a:lnTo>
                  <a:lnTo>
                    <a:pt x="84574" y="22109"/>
                  </a:lnTo>
                  <a:lnTo>
                    <a:pt x="74729" y="10918"/>
                  </a:lnTo>
                  <a:lnTo>
                    <a:pt x="58322" y="3002"/>
                  </a:lnTo>
                  <a:lnTo>
                    <a:pt x="35352" y="0"/>
                  </a:lnTo>
                  <a:lnTo>
                    <a:pt x="22297" y="3002"/>
                  </a:lnTo>
                  <a:lnTo>
                    <a:pt x="10981" y="10918"/>
                  </a:lnTo>
                  <a:lnTo>
                    <a:pt x="3013" y="22109"/>
                  </a:lnTo>
                  <a:lnTo>
                    <a:pt x="0" y="34938"/>
                  </a:lnTo>
                  <a:close/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794490" y="3281625"/>
            <a:ext cx="448309" cy="264795"/>
            <a:chOff x="270490" y="3281625"/>
            <a:chExt cx="448309" cy="264795"/>
          </a:xfrm>
        </p:grpSpPr>
        <p:sp>
          <p:nvSpPr>
            <p:cNvPr id="15" name="object 15"/>
            <p:cNvSpPr/>
            <p:nvPr/>
          </p:nvSpPr>
          <p:spPr>
            <a:xfrm>
              <a:off x="393333" y="3422953"/>
              <a:ext cx="193675" cy="0"/>
            </a:xfrm>
            <a:custGeom>
              <a:avLst/>
              <a:gdLst/>
              <a:ahLst/>
              <a:cxnLst/>
              <a:rect l="l" t="t" r="r" b="b"/>
              <a:pathLst>
                <a:path w="193675">
                  <a:moveTo>
                    <a:pt x="105356" y="0"/>
                  </a:moveTo>
                  <a:lnTo>
                    <a:pt x="193229" y="0"/>
                  </a:lnTo>
                </a:path>
                <a:path w="193675">
                  <a:moveTo>
                    <a:pt x="0" y="0"/>
                  </a:moveTo>
                  <a:lnTo>
                    <a:pt x="87873" y="0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9226" y="3361286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4">
                  <a:moveTo>
                    <a:pt x="0" y="34938"/>
                  </a:moveTo>
                  <a:lnTo>
                    <a:pt x="3073" y="58170"/>
                  </a:lnTo>
                  <a:lnTo>
                    <a:pt x="11146" y="74703"/>
                  </a:lnTo>
                  <a:lnTo>
                    <a:pt x="22496" y="84587"/>
                  </a:lnTo>
                  <a:lnTo>
                    <a:pt x="35404" y="87871"/>
                  </a:lnTo>
                  <a:lnTo>
                    <a:pt x="58362" y="84587"/>
                  </a:lnTo>
                  <a:lnTo>
                    <a:pt x="74758" y="74703"/>
                  </a:lnTo>
                  <a:lnTo>
                    <a:pt x="84594" y="58170"/>
                  </a:lnTo>
                  <a:lnTo>
                    <a:pt x="87873" y="34938"/>
                  </a:lnTo>
                  <a:lnTo>
                    <a:pt x="84594" y="22109"/>
                  </a:lnTo>
                  <a:lnTo>
                    <a:pt x="74758" y="10918"/>
                  </a:lnTo>
                  <a:lnTo>
                    <a:pt x="58362" y="3002"/>
                  </a:lnTo>
                  <a:lnTo>
                    <a:pt x="35404" y="0"/>
                  </a:lnTo>
                  <a:lnTo>
                    <a:pt x="22496" y="3002"/>
                  </a:lnTo>
                  <a:lnTo>
                    <a:pt x="11146" y="10918"/>
                  </a:lnTo>
                  <a:lnTo>
                    <a:pt x="3073" y="22109"/>
                  </a:lnTo>
                  <a:lnTo>
                    <a:pt x="0" y="34938"/>
                  </a:lnTo>
                  <a:close/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1986" y="3281625"/>
              <a:ext cx="88265" cy="264795"/>
            </a:xfrm>
            <a:custGeom>
              <a:avLst/>
              <a:gdLst/>
              <a:ahLst/>
              <a:cxnLst/>
              <a:rect l="l" t="t" r="r" b="b"/>
              <a:pathLst>
                <a:path w="88265" h="264795">
                  <a:moveTo>
                    <a:pt x="87873" y="0"/>
                  </a:moveTo>
                  <a:lnTo>
                    <a:pt x="87873" y="264207"/>
                  </a:lnTo>
                </a:path>
                <a:path w="88265" h="264795">
                  <a:moveTo>
                    <a:pt x="87873" y="141327"/>
                  </a:moveTo>
                  <a:lnTo>
                    <a:pt x="0" y="141327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330326" y="3272735"/>
            <a:ext cx="878205" cy="845819"/>
            <a:chOff x="806326" y="3272735"/>
            <a:chExt cx="878205" cy="845819"/>
          </a:xfrm>
        </p:grpSpPr>
        <p:sp>
          <p:nvSpPr>
            <p:cNvPr id="19" name="object 19"/>
            <p:cNvSpPr/>
            <p:nvPr/>
          </p:nvSpPr>
          <p:spPr>
            <a:xfrm>
              <a:off x="920572" y="3422953"/>
              <a:ext cx="52705" cy="0"/>
            </a:xfrm>
            <a:custGeom>
              <a:avLst/>
              <a:gdLst/>
              <a:ahLst/>
              <a:cxnLst/>
              <a:rect l="l" t="t" r="r" b="b"/>
              <a:pathLst>
                <a:path w="52705">
                  <a:moveTo>
                    <a:pt x="0" y="0"/>
                  </a:moveTo>
                  <a:lnTo>
                    <a:pt x="52468" y="0"/>
                  </a:lnTo>
                </a:path>
              </a:pathLst>
            </a:custGeom>
            <a:ln w="17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7917" y="4100948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0" y="8727"/>
                  </a:moveTo>
                  <a:lnTo>
                    <a:pt x="2560" y="2556"/>
                  </a:lnTo>
                  <a:lnTo>
                    <a:pt x="8743" y="0"/>
                  </a:lnTo>
                  <a:lnTo>
                    <a:pt x="14926" y="2556"/>
                  </a:lnTo>
                  <a:lnTo>
                    <a:pt x="17487" y="8727"/>
                  </a:lnTo>
                  <a:lnTo>
                    <a:pt x="14926" y="14899"/>
                  </a:lnTo>
                  <a:lnTo>
                    <a:pt x="8743" y="17455"/>
                  </a:lnTo>
                  <a:lnTo>
                    <a:pt x="2560" y="14899"/>
                  </a:lnTo>
                  <a:lnTo>
                    <a:pt x="0" y="8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8008" y="3422953"/>
              <a:ext cx="229235" cy="52705"/>
            </a:xfrm>
            <a:custGeom>
              <a:avLst/>
              <a:gdLst/>
              <a:ahLst/>
              <a:cxnLst/>
              <a:rect l="l" t="t" r="r" b="b"/>
              <a:pathLst>
                <a:path w="229234" h="52704">
                  <a:moveTo>
                    <a:pt x="228652" y="52460"/>
                  </a:moveTo>
                  <a:lnTo>
                    <a:pt x="228652" y="17469"/>
                  </a:lnTo>
                </a:path>
                <a:path w="229234" h="52704">
                  <a:moveTo>
                    <a:pt x="228652" y="0"/>
                  </a:moveTo>
                  <a:lnTo>
                    <a:pt x="0" y="0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81781" y="3414225"/>
              <a:ext cx="17780" cy="17780"/>
            </a:xfrm>
            <a:custGeom>
              <a:avLst/>
              <a:gdLst/>
              <a:ahLst/>
              <a:cxnLst/>
              <a:rect l="l" t="t" r="r" b="b"/>
              <a:pathLst>
                <a:path w="17780" h="17779">
                  <a:moveTo>
                    <a:pt x="0" y="8727"/>
                  </a:moveTo>
                  <a:lnTo>
                    <a:pt x="2560" y="2556"/>
                  </a:lnTo>
                  <a:lnTo>
                    <a:pt x="8743" y="0"/>
                  </a:lnTo>
                  <a:lnTo>
                    <a:pt x="14926" y="2556"/>
                  </a:lnTo>
                  <a:lnTo>
                    <a:pt x="17487" y="8727"/>
                  </a:lnTo>
                  <a:lnTo>
                    <a:pt x="14926" y="14899"/>
                  </a:lnTo>
                  <a:lnTo>
                    <a:pt x="8743" y="17455"/>
                  </a:lnTo>
                  <a:lnTo>
                    <a:pt x="2560" y="14899"/>
                  </a:lnTo>
                  <a:lnTo>
                    <a:pt x="0" y="87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5216" y="3281625"/>
              <a:ext cx="860425" cy="264795"/>
            </a:xfrm>
            <a:custGeom>
              <a:avLst/>
              <a:gdLst/>
              <a:ahLst/>
              <a:cxnLst/>
              <a:rect l="l" t="t" r="r" b="b"/>
              <a:pathLst>
                <a:path w="860425" h="264795">
                  <a:moveTo>
                    <a:pt x="175308" y="141327"/>
                  </a:moveTo>
                  <a:lnTo>
                    <a:pt x="860373" y="141327"/>
                  </a:lnTo>
                </a:path>
                <a:path w="860425" h="264795">
                  <a:moveTo>
                    <a:pt x="0" y="0"/>
                  </a:moveTo>
                  <a:lnTo>
                    <a:pt x="0" y="264207"/>
                  </a:lnTo>
                </a:path>
                <a:path w="860425" h="264795">
                  <a:moveTo>
                    <a:pt x="0" y="141327"/>
                  </a:moveTo>
                  <a:lnTo>
                    <a:pt x="87435" y="141327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477842" y="2538948"/>
            <a:ext cx="516890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5" dirty="0">
                <a:latin typeface="Courier New" panose="02070309020205020404"/>
                <a:cs typeface="Courier New" panose="02070309020205020404"/>
              </a:rPr>
              <a:t>Vout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4790" y="3049404"/>
            <a:ext cx="883919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250" baseline="-26000" dirty="0">
                <a:latin typeface="Courier New" panose="02070309020205020404"/>
                <a:cs typeface="Courier New" panose="02070309020205020404"/>
              </a:rPr>
              <a:t>Vin</a:t>
            </a:r>
            <a:r>
              <a:rPr sz="2250" spc="-254" baseline="-26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500" spc="30" dirty="0">
                <a:latin typeface="Courier New" panose="02070309020205020404"/>
                <a:cs typeface="Courier New" panose="02070309020205020404"/>
              </a:rPr>
              <a:t>Cin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19881" y="4355942"/>
            <a:ext cx="264160" cy="0"/>
          </a:xfrm>
          <a:custGeom>
            <a:avLst/>
            <a:gdLst/>
            <a:ahLst/>
            <a:cxnLst/>
            <a:rect l="l" t="t" r="r" b="b"/>
            <a:pathLst>
              <a:path w="264159">
                <a:moveTo>
                  <a:pt x="0" y="0"/>
                </a:moveTo>
                <a:lnTo>
                  <a:pt x="263619" y="0"/>
                </a:lnTo>
              </a:path>
            </a:pathLst>
          </a:custGeom>
          <a:ln w="17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9881" y="4127163"/>
            <a:ext cx="264160" cy="88265"/>
          </a:xfrm>
          <a:custGeom>
            <a:avLst/>
            <a:gdLst/>
            <a:ahLst/>
            <a:cxnLst/>
            <a:rect l="l" t="t" r="r" b="b"/>
            <a:pathLst>
              <a:path w="264159" h="88264">
                <a:moveTo>
                  <a:pt x="0" y="87923"/>
                </a:moveTo>
                <a:lnTo>
                  <a:pt x="263619" y="87923"/>
                </a:lnTo>
              </a:path>
              <a:path w="264159" h="88264">
                <a:moveTo>
                  <a:pt x="140779" y="87923"/>
                </a:moveTo>
                <a:lnTo>
                  <a:pt x="140779" y="0"/>
                </a:lnTo>
              </a:path>
            </a:pathLst>
          </a:custGeom>
          <a:ln w="174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634687" y="4017822"/>
            <a:ext cx="681990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500" u="heavy" spc="13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u="heavy" dirty="0">
                <a:uFill>
                  <a:solidFill>
                    <a:srgbClr val="000000"/>
                  </a:solidFill>
                </a:uFill>
                <a:latin typeface="Courier New" panose="02070309020205020404"/>
                <a:cs typeface="Courier New" panose="02070309020205020404"/>
              </a:rPr>
              <a:t>+</a:t>
            </a:r>
            <a:r>
              <a:rPr sz="1500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250" spc="44" baseline="-15000" dirty="0">
                <a:latin typeface="Courier New" panose="02070309020205020404"/>
                <a:cs typeface="Courier New" panose="02070309020205020404"/>
              </a:rPr>
              <a:t>V1</a:t>
            </a:r>
            <a:endParaRPr sz="2250" baseline="-15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49941" y="4247038"/>
            <a:ext cx="394335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0" dirty="0">
                <a:latin typeface="Courier New" panose="02070309020205020404"/>
                <a:cs typeface="Courier New" panose="02070309020205020404"/>
              </a:rPr>
              <a:t>10V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94278" y="1640845"/>
            <a:ext cx="394335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0" dirty="0">
                <a:latin typeface="Courier New" panose="02070309020205020404"/>
                <a:cs typeface="Courier New" panose="02070309020205020404"/>
              </a:rPr>
              <a:t>VDD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725238" y="5113123"/>
            <a:ext cx="53340" cy="0"/>
          </a:xfrm>
          <a:custGeom>
            <a:avLst/>
            <a:gdLst/>
            <a:ahLst/>
            <a:cxnLst/>
            <a:rect l="l" t="t" r="r" b="b"/>
            <a:pathLst>
              <a:path w="53340">
                <a:moveTo>
                  <a:pt x="0" y="0"/>
                </a:moveTo>
                <a:lnTo>
                  <a:pt x="52905" y="0"/>
                </a:lnTo>
              </a:path>
            </a:pathLst>
          </a:custGeom>
          <a:ln w="17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2681529" y="3096965"/>
            <a:ext cx="720090" cy="995044"/>
            <a:chOff x="1157529" y="3096965"/>
            <a:chExt cx="720090" cy="995044"/>
          </a:xfrm>
        </p:grpSpPr>
        <p:sp>
          <p:nvSpPr>
            <p:cNvPr id="33" name="object 33"/>
            <p:cNvSpPr/>
            <p:nvPr/>
          </p:nvSpPr>
          <p:spPr>
            <a:xfrm>
              <a:off x="1166271" y="3581260"/>
              <a:ext cx="140970" cy="422909"/>
            </a:xfrm>
            <a:custGeom>
              <a:avLst/>
              <a:gdLst/>
              <a:ahLst/>
              <a:cxnLst/>
              <a:rect l="l" t="t" r="r" b="b"/>
              <a:pathLst>
                <a:path w="140969" h="422910">
                  <a:moveTo>
                    <a:pt x="0" y="422550"/>
                  </a:moveTo>
                  <a:lnTo>
                    <a:pt x="0" y="0"/>
                  </a:lnTo>
                  <a:lnTo>
                    <a:pt x="140341" y="0"/>
                  </a:lnTo>
                  <a:lnTo>
                    <a:pt x="140341" y="422550"/>
                  </a:lnTo>
                  <a:lnTo>
                    <a:pt x="0" y="422550"/>
                  </a:lnTo>
                </a:path>
              </a:pathLst>
            </a:custGeom>
            <a:ln w="17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36660" y="3493337"/>
              <a:ext cx="0" cy="598805"/>
            </a:xfrm>
            <a:custGeom>
              <a:avLst/>
              <a:gdLst/>
              <a:ahLst/>
              <a:cxnLst/>
              <a:rect l="l" t="t" r="r" b="b"/>
              <a:pathLst>
                <a:path h="598804">
                  <a:moveTo>
                    <a:pt x="0" y="510474"/>
                  </a:moveTo>
                  <a:lnTo>
                    <a:pt x="0" y="598397"/>
                  </a:lnTo>
                </a:path>
                <a:path h="598804">
                  <a:moveTo>
                    <a:pt x="0" y="87923"/>
                  </a:moveTo>
                  <a:lnTo>
                    <a:pt x="0" y="0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98517" y="3105708"/>
              <a:ext cx="70485" cy="317500"/>
            </a:xfrm>
            <a:custGeom>
              <a:avLst/>
              <a:gdLst/>
              <a:ahLst/>
              <a:cxnLst/>
              <a:rect l="l" t="t" r="r" b="b"/>
              <a:pathLst>
                <a:path w="70485" h="317500">
                  <a:moveTo>
                    <a:pt x="70354" y="0"/>
                  </a:moveTo>
                  <a:lnTo>
                    <a:pt x="70354" y="317244"/>
                  </a:lnTo>
                  <a:lnTo>
                    <a:pt x="0" y="317244"/>
                  </a:lnTo>
                </a:path>
              </a:pathLst>
            </a:custGeom>
            <a:ln w="174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10573" y="3422953"/>
              <a:ext cx="88265" cy="0"/>
            </a:xfrm>
            <a:custGeom>
              <a:avLst/>
              <a:gdLst/>
              <a:ahLst/>
              <a:cxnLst/>
              <a:rect l="l" t="t" r="r" b="b"/>
              <a:pathLst>
                <a:path w="88264">
                  <a:moveTo>
                    <a:pt x="87943" y="0"/>
                  </a:moveTo>
                  <a:lnTo>
                    <a:pt x="0" y="0"/>
                  </a:lnTo>
                </a:path>
              </a:pathLst>
            </a:custGeom>
            <a:ln w="17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602398" y="2154847"/>
            <a:ext cx="1919605" cy="4342130"/>
            <a:chOff x="1078398" y="2154847"/>
            <a:chExt cx="1919605" cy="4342130"/>
          </a:xfrm>
        </p:grpSpPr>
        <p:sp>
          <p:nvSpPr>
            <p:cNvPr id="38" name="object 38"/>
            <p:cNvSpPr/>
            <p:nvPr/>
          </p:nvSpPr>
          <p:spPr>
            <a:xfrm>
              <a:off x="1078398" y="4884357"/>
              <a:ext cx="1177290" cy="229235"/>
            </a:xfrm>
            <a:custGeom>
              <a:avLst/>
              <a:gdLst/>
              <a:ahLst/>
              <a:cxnLst/>
              <a:rect l="l" t="t" r="r" b="b"/>
              <a:pathLst>
                <a:path w="1177289" h="229235">
                  <a:moveTo>
                    <a:pt x="878329" y="87923"/>
                  </a:moveTo>
                  <a:lnTo>
                    <a:pt x="1176898" y="87923"/>
                  </a:lnTo>
                </a:path>
                <a:path w="1177289" h="229235">
                  <a:moveTo>
                    <a:pt x="948333" y="158341"/>
                  </a:moveTo>
                  <a:lnTo>
                    <a:pt x="1106544" y="158341"/>
                  </a:lnTo>
                </a:path>
                <a:path w="1177289" h="229235">
                  <a:moveTo>
                    <a:pt x="1001187" y="228765"/>
                  </a:moveTo>
                  <a:lnTo>
                    <a:pt x="1053690" y="228765"/>
                  </a:lnTo>
                </a:path>
                <a:path w="1177289" h="229235">
                  <a:moveTo>
                    <a:pt x="1036189" y="87923"/>
                  </a:moveTo>
                  <a:lnTo>
                    <a:pt x="1036189" y="0"/>
                  </a:lnTo>
                </a:path>
                <a:path w="1177289" h="229235">
                  <a:moveTo>
                    <a:pt x="0" y="87923"/>
                  </a:moveTo>
                  <a:lnTo>
                    <a:pt x="298604" y="87923"/>
                  </a:lnTo>
                </a:path>
                <a:path w="1177289" h="229235">
                  <a:moveTo>
                    <a:pt x="70389" y="158341"/>
                  </a:moveTo>
                  <a:lnTo>
                    <a:pt x="228214" y="158341"/>
                  </a:lnTo>
                </a:path>
                <a:path w="1177289" h="229235">
                  <a:moveTo>
                    <a:pt x="158262" y="87923"/>
                  </a:moveTo>
                  <a:lnTo>
                    <a:pt x="158262" y="0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44583" y="2242718"/>
              <a:ext cx="140970" cy="422909"/>
            </a:xfrm>
            <a:custGeom>
              <a:avLst/>
              <a:gdLst/>
              <a:ahLst/>
              <a:cxnLst/>
              <a:rect l="l" t="t" r="r" b="b"/>
              <a:pathLst>
                <a:path w="140969" h="422910">
                  <a:moveTo>
                    <a:pt x="0" y="422585"/>
                  </a:moveTo>
                  <a:lnTo>
                    <a:pt x="0" y="0"/>
                  </a:lnTo>
                  <a:lnTo>
                    <a:pt x="140359" y="0"/>
                  </a:lnTo>
                  <a:lnTo>
                    <a:pt x="140359" y="422585"/>
                  </a:lnTo>
                  <a:lnTo>
                    <a:pt x="0" y="422585"/>
                  </a:lnTo>
                </a:path>
              </a:pathLst>
            </a:custGeom>
            <a:ln w="17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39226" y="2154847"/>
              <a:ext cx="175895" cy="1320800"/>
            </a:xfrm>
            <a:custGeom>
              <a:avLst/>
              <a:gdLst/>
              <a:ahLst/>
              <a:cxnLst/>
              <a:rect l="l" t="t" r="r" b="b"/>
              <a:pathLst>
                <a:path w="175894" h="1320800">
                  <a:moveTo>
                    <a:pt x="175361" y="510456"/>
                  </a:moveTo>
                  <a:lnTo>
                    <a:pt x="175361" y="598851"/>
                  </a:lnTo>
                </a:path>
                <a:path w="175894" h="1320800">
                  <a:moveTo>
                    <a:pt x="175361" y="87871"/>
                  </a:moveTo>
                  <a:lnTo>
                    <a:pt x="175361" y="0"/>
                  </a:lnTo>
                </a:path>
                <a:path w="175894" h="1320800">
                  <a:moveTo>
                    <a:pt x="0" y="1320566"/>
                  </a:moveTo>
                  <a:lnTo>
                    <a:pt x="0" y="1232642"/>
                  </a:lnTo>
                </a:path>
                <a:path w="175894" h="1320800">
                  <a:moveTo>
                    <a:pt x="0" y="1162240"/>
                  </a:moveTo>
                  <a:lnTo>
                    <a:pt x="0" y="1074369"/>
                  </a:lnTo>
                </a:path>
                <a:path w="175894" h="1320800">
                  <a:moveTo>
                    <a:pt x="0" y="1003793"/>
                  </a:moveTo>
                  <a:lnTo>
                    <a:pt x="0" y="915572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39226" y="3052776"/>
              <a:ext cx="175895" cy="422909"/>
            </a:xfrm>
            <a:custGeom>
              <a:avLst/>
              <a:gdLst/>
              <a:ahLst/>
              <a:cxnLst/>
              <a:rect l="l" t="t" r="r" b="b"/>
              <a:pathLst>
                <a:path w="175894" h="422910">
                  <a:moveTo>
                    <a:pt x="0" y="52932"/>
                  </a:moveTo>
                  <a:lnTo>
                    <a:pt x="175361" y="52932"/>
                  </a:lnTo>
                  <a:lnTo>
                    <a:pt x="175361" y="0"/>
                  </a:lnTo>
                </a:path>
                <a:path w="175894" h="422910">
                  <a:moveTo>
                    <a:pt x="0" y="211380"/>
                  </a:moveTo>
                  <a:lnTo>
                    <a:pt x="175361" y="211380"/>
                  </a:lnTo>
                  <a:lnTo>
                    <a:pt x="175361" y="422637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39226" y="3422953"/>
              <a:ext cx="158115" cy="0"/>
            </a:xfrm>
            <a:custGeom>
              <a:avLst/>
              <a:gdLst/>
              <a:ahLst/>
              <a:cxnLst/>
              <a:rect l="l" t="t" r="r" b="b"/>
              <a:pathLst>
                <a:path w="158114">
                  <a:moveTo>
                    <a:pt x="0" y="0"/>
                  </a:moveTo>
                  <a:lnTo>
                    <a:pt x="157860" y="0"/>
                  </a:lnTo>
                </a:path>
              </a:pathLst>
            </a:custGeom>
            <a:ln w="17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74228" y="3211223"/>
              <a:ext cx="88265" cy="106045"/>
            </a:xfrm>
            <a:custGeom>
              <a:avLst/>
              <a:gdLst/>
              <a:ahLst/>
              <a:cxnLst/>
              <a:rect l="l" t="t" r="r" b="b"/>
              <a:pathLst>
                <a:path w="88264" h="106045">
                  <a:moveTo>
                    <a:pt x="87855" y="0"/>
                  </a:moveTo>
                  <a:lnTo>
                    <a:pt x="0" y="52932"/>
                  </a:lnTo>
                  <a:lnTo>
                    <a:pt x="87855" y="105864"/>
                  </a:lnTo>
                  <a:lnTo>
                    <a:pt x="878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74228" y="3211223"/>
              <a:ext cx="88265" cy="106045"/>
            </a:xfrm>
            <a:custGeom>
              <a:avLst/>
              <a:gdLst/>
              <a:ahLst/>
              <a:cxnLst/>
              <a:rect l="l" t="t" r="r" b="b"/>
              <a:pathLst>
                <a:path w="88264" h="106045">
                  <a:moveTo>
                    <a:pt x="0" y="52932"/>
                  </a:moveTo>
                  <a:lnTo>
                    <a:pt x="87855" y="0"/>
                  </a:lnTo>
                  <a:lnTo>
                    <a:pt x="87855" y="105864"/>
                  </a:lnTo>
                  <a:lnTo>
                    <a:pt x="0" y="52932"/>
                  </a:lnTo>
                  <a:close/>
                </a:path>
              </a:pathLst>
            </a:custGeom>
            <a:ln w="17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70834" y="3378755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5" h="70485">
                  <a:moveTo>
                    <a:pt x="35002" y="0"/>
                  </a:moveTo>
                  <a:lnTo>
                    <a:pt x="22149" y="3010"/>
                  </a:lnTo>
                  <a:lnTo>
                    <a:pt x="10938" y="10983"/>
                  </a:lnTo>
                  <a:lnTo>
                    <a:pt x="3008" y="22330"/>
                  </a:lnTo>
                  <a:lnTo>
                    <a:pt x="0" y="35462"/>
                  </a:lnTo>
                  <a:lnTo>
                    <a:pt x="3008" y="48292"/>
                  </a:lnTo>
                  <a:lnTo>
                    <a:pt x="10938" y="59483"/>
                  </a:lnTo>
                  <a:lnTo>
                    <a:pt x="22149" y="67399"/>
                  </a:lnTo>
                  <a:lnTo>
                    <a:pt x="35002" y="70401"/>
                  </a:lnTo>
                  <a:lnTo>
                    <a:pt x="47909" y="67399"/>
                  </a:lnTo>
                  <a:lnTo>
                    <a:pt x="59241" y="59483"/>
                  </a:lnTo>
                  <a:lnTo>
                    <a:pt x="67291" y="48292"/>
                  </a:lnTo>
                  <a:lnTo>
                    <a:pt x="70354" y="35462"/>
                  </a:lnTo>
                  <a:lnTo>
                    <a:pt x="67291" y="22330"/>
                  </a:lnTo>
                  <a:lnTo>
                    <a:pt x="59241" y="10983"/>
                  </a:lnTo>
                  <a:lnTo>
                    <a:pt x="47909" y="3010"/>
                  </a:lnTo>
                  <a:lnTo>
                    <a:pt x="350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70834" y="3378755"/>
              <a:ext cx="70485" cy="70485"/>
            </a:xfrm>
            <a:custGeom>
              <a:avLst/>
              <a:gdLst/>
              <a:ahLst/>
              <a:cxnLst/>
              <a:rect l="l" t="t" r="r" b="b"/>
              <a:pathLst>
                <a:path w="70485" h="70485">
                  <a:moveTo>
                    <a:pt x="0" y="35462"/>
                  </a:moveTo>
                  <a:lnTo>
                    <a:pt x="3008" y="48292"/>
                  </a:lnTo>
                  <a:lnTo>
                    <a:pt x="10938" y="59483"/>
                  </a:lnTo>
                  <a:lnTo>
                    <a:pt x="22149" y="67399"/>
                  </a:lnTo>
                  <a:lnTo>
                    <a:pt x="35002" y="70401"/>
                  </a:lnTo>
                  <a:lnTo>
                    <a:pt x="47909" y="67399"/>
                  </a:lnTo>
                  <a:lnTo>
                    <a:pt x="59241" y="59483"/>
                  </a:lnTo>
                  <a:lnTo>
                    <a:pt x="67291" y="48292"/>
                  </a:lnTo>
                  <a:lnTo>
                    <a:pt x="70354" y="35462"/>
                  </a:lnTo>
                  <a:lnTo>
                    <a:pt x="67291" y="22330"/>
                  </a:lnTo>
                  <a:lnTo>
                    <a:pt x="59241" y="10983"/>
                  </a:lnTo>
                  <a:lnTo>
                    <a:pt x="47909" y="3010"/>
                  </a:lnTo>
                  <a:lnTo>
                    <a:pt x="35002" y="0"/>
                  </a:lnTo>
                  <a:lnTo>
                    <a:pt x="22149" y="3010"/>
                  </a:lnTo>
                  <a:lnTo>
                    <a:pt x="10938" y="10983"/>
                  </a:lnTo>
                  <a:lnTo>
                    <a:pt x="3008" y="22330"/>
                  </a:lnTo>
                  <a:lnTo>
                    <a:pt x="0" y="35462"/>
                  </a:lnTo>
                  <a:close/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14587" y="2964904"/>
              <a:ext cx="0" cy="599440"/>
            </a:xfrm>
            <a:custGeom>
              <a:avLst/>
              <a:gdLst/>
              <a:ahLst/>
              <a:cxnLst/>
              <a:rect l="l" t="t" r="r" b="b"/>
              <a:pathLst>
                <a:path h="599439">
                  <a:moveTo>
                    <a:pt x="0" y="87871"/>
                  </a:moveTo>
                  <a:lnTo>
                    <a:pt x="0" y="0"/>
                  </a:lnTo>
                </a:path>
                <a:path h="599439">
                  <a:moveTo>
                    <a:pt x="0" y="510508"/>
                  </a:moveTo>
                  <a:lnTo>
                    <a:pt x="0" y="598869"/>
                  </a:lnTo>
                </a:path>
              </a:pathLst>
            </a:custGeom>
            <a:ln w="17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0263" y="4946904"/>
              <a:ext cx="1647444" cy="1549908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879551" y="3560280"/>
            <a:ext cx="271145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0" dirty="0">
                <a:latin typeface="Courier New" panose="02070309020205020404"/>
                <a:cs typeface="Courier New" panose="02070309020205020404"/>
              </a:rPr>
              <a:t>RG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92848" y="2415613"/>
            <a:ext cx="271145" cy="24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0" dirty="0">
                <a:latin typeface="Courier New" panose="02070309020205020404"/>
                <a:cs typeface="Courier New" panose="02070309020205020404"/>
              </a:rPr>
              <a:t>RD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57846" y="2911557"/>
            <a:ext cx="762635" cy="54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2555">
              <a:lnSpc>
                <a:spcPct val="116000"/>
              </a:lnSpc>
              <a:spcBef>
                <a:spcPts val="95"/>
              </a:spcBef>
            </a:pPr>
            <a:r>
              <a:rPr sz="1500" spc="35" dirty="0">
                <a:latin typeface="Courier New" panose="02070309020205020404"/>
                <a:cs typeface="Courier New" panose="02070309020205020404"/>
              </a:rPr>
              <a:t>Cout </a:t>
            </a:r>
            <a:r>
              <a:rPr sz="1500" spc="55" dirty="0">
                <a:latin typeface="Courier New" panose="02070309020205020404"/>
                <a:cs typeface="Courier New" panose="02070309020205020404"/>
              </a:rPr>
              <a:t>N-</a:t>
            </a:r>
            <a:r>
              <a:rPr sz="1500" spc="35" dirty="0">
                <a:latin typeface="Courier New" panose="02070309020205020404"/>
                <a:cs typeface="Courier New" panose="02070309020205020404"/>
              </a:rPr>
              <a:t>EMOS</a:t>
            </a:r>
            <a:endParaRPr sz="15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37175" y="1625549"/>
            <a:ext cx="4271645" cy="275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3070" indent="-420370">
              <a:lnSpc>
                <a:spcPts val="2635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/>
              <a:buChar char=""/>
              <a:tabLst>
                <a:tab pos="43307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terminal,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D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ts val="2875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terminal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Source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330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Fixed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biasing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(S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grounded)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spc="-12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draw</a:t>
            </a:r>
            <a:r>
              <a:rPr sz="22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AC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equivalent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circuit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66445" lvl="1" indent="-29654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76644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all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capacitors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88975" lvl="1" indent="-23177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68897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power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supply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3" name="object 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0118" y="4419598"/>
            <a:ext cx="5438543" cy="2404872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690217" y="5655665"/>
            <a:ext cx="1645920" cy="689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AC</a:t>
            </a:r>
            <a:r>
              <a:rPr sz="2200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equivalent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circuit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0918" y="1760698"/>
            <a:ext cx="5438543" cy="24446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15539" y="4064889"/>
            <a:ext cx="129730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5539" y="4735829"/>
            <a:ext cx="135826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o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3595" y="4735829"/>
            <a:ext cx="64325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3775" y="4735829"/>
            <a:ext cx="145605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10R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7439" y="5406338"/>
            <a:ext cx="5554980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  <a:tabLst>
                <a:tab pos="2308225" algn="l"/>
                <a:tab pos="37338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22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200" dirty="0">
                <a:latin typeface="Arial" panose="020B0604020202020204"/>
                <a:cs typeface="Arial" panose="020B0604020202020204"/>
              </a:rPr>
              <a:t>	≈</a:t>
            </a:r>
            <a:r>
              <a:rPr sz="220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-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10R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 dirty="0">
              <a:latin typeface="Arial" panose="020B0604020202020204"/>
              <a:cs typeface="Arial" panose="020B0604020202020204"/>
            </a:endParaRPr>
          </a:p>
          <a:p>
            <a:pPr marL="419100" indent="-342900">
              <a:lnSpc>
                <a:spcPct val="100000"/>
              </a:lnSpc>
              <a:buFont typeface="Wingdings" panose="05000000000000000000"/>
              <a:buChar char=""/>
              <a:tabLst>
                <a:tab pos="4191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are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phase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0" dirty="0"/>
              <a:t> </a:t>
            </a:r>
            <a:r>
              <a:rPr sz="3600" dirty="0"/>
              <a:t>–</a:t>
            </a:r>
            <a:r>
              <a:rPr sz="3600" spc="-20" dirty="0"/>
              <a:t> </a:t>
            </a:r>
            <a:r>
              <a:rPr sz="3600" dirty="0"/>
              <a:t>CS</a:t>
            </a:r>
            <a:r>
              <a:rPr sz="3600" spc="-25" dirty="0"/>
              <a:t> </a:t>
            </a:r>
            <a:r>
              <a:rPr sz="3600" dirty="0"/>
              <a:t>with</a:t>
            </a:r>
            <a:r>
              <a:rPr sz="3600" spc="-20" dirty="0"/>
              <a:t> </a:t>
            </a:r>
            <a:r>
              <a:rPr sz="3600" dirty="0"/>
              <a:t>fixed</a:t>
            </a:r>
            <a:r>
              <a:rPr sz="3600" spc="-20" dirty="0"/>
              <a:t> </a:t>
            </a:r>
            <a:r>
              <a:rPr sz="3600" dirty="0"/>
              <a:t>bias</a:t>
            </a:r>
            <a:r>
              <a:rPr sz="3600" spc="-25" dirty="0"/>
              <a:t> </a:t>
            </a:r>
            <a:r>
              <a:rPr sz="3600" spc="-10" dirty="0"/>
              <a:t>voltage</a:t>
            </a:r>
            <a:endParaRPr sz="3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dirty="0"/>
              <a:t>CS</a:t>
            </a:r>
            <a:r>
              <a:rPr sz="3600" spc="-10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dirty="0"/>
              <a:t>voltage </a:t>
            </a:r>
            <a:r>
              <a:rPr sz="3600" spc="-10" dirty="0"/>
              <a:t>divider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755140" y="1778635"/>
            <a:ext cx="496506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00405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  <a:tab pos="433070" algn="l"/>
              </a:tabLst>
            </a:pPr>
            <a:r>
              <a:rPr sz="2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terminal,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D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Source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divider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connected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Cs </a:t>
            </a:r>
            <a:r>
              <a:rPr sz="2200" dirty="0">
                <a:latin typeface="Arial" panose="020B0604020202020204"/>
                <a:cs typeface="Arial" panose="020B0604020202020204"/>
              </a:rPr>
              <a:t>in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parralel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9479" y="3262190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G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6534" y="2737691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D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45206" y="3689748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S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74233" y="1952885"/>
            <a:ext cx="2367915" cy="2974340"/>
            <a:chOff x="6150233" y="1952885"/>
            <a:chExt cx="2367915" cy="2974340"/>
          </a:xfrm>
        </p:grpSpPr>
        <p:sp>
          <p:nvSpPr>
            <p:cNvPr id="9" name="object 9"/>
            <p:cNvSpPr/>
            <p:nvPr/>
          </p:nvSpPr>
          <p:spPr>
            <a:xfrm>
              <a:off x="6276478" y="1962728"/>
              <a:ext cx="2095500" cy="2837815"/>
            </a:xfrm>
            <a:custGeom>
              <a:avLst/>
              <a:gdLst/>
              <a:ahLst/>
              <a:cxnLst/>
              <a:rect l="l" t="t" r="r" b="b"/>
              <a:pathLst>
                <a:path w="2095500" h="2837815">
                  <a:moveTo>
                    <a:pt x="0" y="1574073"/>
                  </a:moveTo>
                  <a:lnTo>
                    <a:pt x="19336" y="1574073"/>
                  </a:lnTo>
                </a:path>
                <a:path w="2095500" h="2837815">
                  <a:moveTo>
                    <a:pt x="1280565" y="58395"/>
                  </a:moveTo>
                  <a:lnTo>
                    <a:pt x="1280565" y="19272"/>
                  </a:lnTo>
                </a:path>
                <a:path w="2095500" h="2837815">
                  <a:moveTo>
                    <a:pt x="1280565" y="0"/>
                  </a:moveTo>
                  <a:lnTo>
                    <a:pt x="329910" y="0"/>
                  </a:lnTo>
                </a:path>
                <a:path w="2095500" h="2837815">
                  <a:moveTo>
                    <a:pt x="310594" y="0"/>
                  </a:moveTo>
                  <a:lnTo>
                    <a:pt x="310594" y="233003"/>
                  </a:lnTo>
                </a:path>
                <a:path w="2095500" h="2837815">
                  <a:moveTo>
                    <a:pt x="310594" y="952056"/>
                  </a:moveTo>
                  <a:lnTo>
                    <a:pt x="310594" y="1554782"/>
                  </a:lnTo>
                </a:path>
                <a:path w="2095500" h="2837815">
                  <a:moveTo>
                    <a:pt x="2095384" y="2060027"/>
                  </a:moveTo>
                  <a:lnTo>
                    <a:pt x="2095384" y="1865549"/>
                  </a:lnTo>
                </a:path>
                <a:path w="2095500" h="2837815">
                  <a:moveTo>
                    <a:pt x="2095384" y="1846258"/>
                  </a:moveTo>
                  <a:lnTo>
                    <a:pt x="1299901" y="1846258"/>
                  </a:lnTo>
                </a:path>
                <a:path w="2095500" h="2837815">
                  <a:moveTo>
                    <a:pt x="1280565" y="1846258"/>
                  </a:moveTo>
                  <a:lnTo>
                    <a:pt x="1280565" y="1943256"/>
                  </a:lnTo>
                </a:path>
                <a:path w="2095500" h="2837815">
                  <a:moveTo>
                    <a:pt x="2095384" y="2409898"/>
                  </a:moveTo>
                  <a:lnTo>
                    <a:pt x="2095384" y="2740459"/>
                  </a:lnTo>
                </a:path>
                <a:path w="2095500" h="2837815">
                  <a:moveTo>
                    <a:pt x="2095384" y="2759751"/>
                  </a:moveTo>
                  <a:lnTo>
                    <a:pt x="1299901" y="2759751"/>
                  </a:lnTo>
                </a:path>
                <a:path w="2095500" h="2837815">
                  <a:moveTo>
                    <a:pt x="1280565" y="2759751"/>
                  </a:moveTo>
                  <a:lnTo>
                    <a:pt x="1280565" y="2818146"/>
                  </a:lnTo>
                </a:path>
                <a:path w="2095500" h="2837815">
                  <a:moveTo>
                    <a:pt x="1280565" y="2837457"/>
                  </a:moveTo>
                  <a:lnTo>
                    <a:pt x="1280565" y="2682063"/>
                  </a:lnTo>
                </a:path>
                <a:path w="2095500" h="2837815">
                  <a:moveTo>
                    <a:pt x="1280565" y="1963029"/>
                  </a:moveTo>
                  <a:lnTo>
                    <a:pt x="1280565" y="1768551"/>
                  </a:lnTo>
                </a:path>
                <a:path w="2095500" h="2837815">
                  <a:moveTo>
                    <a:pt x="310594" y="2332192"/>
                  </a:moveTo>
                  <a:lnTo>
                    <a:pt x="310594" y="2818146"/>
                  </a:lnTo>
                </a:path>
                <a:path w="2095500" h="2837815">
                  <a:moveTo>
                    <a:pt x="1649109" y="913512"/>
                  </a:moveTo>
                  <a:lnTo>
                    <a:pt x="1299901" y="9135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5471" y="3527173"/>
              <a:ext cx="291262" cy="680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60076" y="2021123"/>
              <a:ext cx="1397000" cy="1652270"/>
            </a:xfrm>
            <a:custGeom>
              <a:avLst/>
              <a:gdLst/>
              <a:ahLst/>
              <a:cxnLst/>
              <a:rect l="l" t="t" r="r" b="b"/>
              <a:pathLst>
                <a:path w="1397000" h="1652270">
                  <a:moveTo>
                    <a:pt x="155055" y="1515678"/>
                  </a:moveTo>
                  <a:lnTo>
                    <a:pt x="911943" y="1515678"/>
                  </a:lnTo>
                </a:path>
                <a:path w="1397000" h="1652270">
                  <a:moveTo>
                    <a:pt x="1396968" y="0"/>
                  </a:moveTo>
                  <a:lnTo>
                    <a:pt x="1396968" y="77667"/>
                  </a:lnTo>
                </a:path>
                <a:path w="1397000" h="1652270">
                  <a:moveTo>
                    <a:pt x="1396968" y="796721"/>
                  </a:moveTo>
                  <a:lnTo>
                    <a:pt x="1396968" y="971907"/>
                  </a:lnTo>
                </a:path>
                <a:path w="1397000" h="1652270">
                  <a:moveTo>
                    <a:pt x="0" y="1360304"/>
                  </a:moveTo>
                  <a:lnTo>
                    <a:pt x="0" y="1651780"/>
                  </a:lnTo>
                </a:path>
                <a:path w="1397000" h="1652270">
                  <a:moveTo>
                    <a:pt x="0" y="1515678"/>
                  </a:moveTo>
                  <a:lnTo>
                    <a:pt x="97086" y="151567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09303" y="2331794"/>
              <a:ext cx="155575" cy="467359"/>
            </a:xfrm>
            <a:custGeom>
              <a:avLst/>
              <a:gdLst/>
              <a:ahLst/>
              <a:cxnLst/>
              <a:rect l="l" t="t" r="r" b="b"/>
              <a:pathLst>
                <a:path w="155575" h="467360">
                  <a:moveTo>
                    <a:pt x="0" y="466777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777"/>
                  </a:lnTo>
                  <a:lnTo>
                    <a:pt x="0" y="466777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2217" y="2234854"/>
              <a:ext cx="2096135" cy="2682240"/>
            </a:xfrm>
            <a:custGeom>
              <a:avLst/>
              <a:gdLst/>
              <a:ahLst/>
              <a:cxnLst/>
              <a:rect l="l" t="t" r="r" b="b"/>
              <a:pathLst>
                <a:path w="2096134" h="2682240">
                  <a:moveTo>
                    <a:pt x="174855" y="563717"/>
                  </a:moveTo>
                  <a:lnTo>
                    <a:pt x="174855" y="660658"/>
                  </a:lnTo>
                </a:path>
                <a:path w="2096134" h="2682240">
                  <a:moveTo>
                    <a:pt x="174855" y="96940"/>
                  </a:moveTo>
                  <a:lnTo>
                    <a:pt x="174855" y="0"/>
                  </a:lnTo>
                </a:path>
                <a:path w="2096134" h="2682240">
                  <a:moveTo>
                    <a:pt x="0" y="2682102"/>
                  </a:moveTo>
                  <a:lnTo>
                    <a:pt x="329910" y="2682102"/>
                  </a:lnTo>
                </a:path>
                <a:path w="2096134" h="2682240">
                  <a:moveTo>
                    <a:pt x="174855" y="2682102"/>
                  </a:moveTo>
                  <a:lnTo>
                    <a:pt x="174855" y="2584622"/>
                  </a:lnTo>
                </a:path>
                <a:path w="2096134" h="2682240">
                  <a:moveTo>
                    <a:pt x="1804571" y="2020981"/>
                  </a:moveTo>
                  <a:lnTo>
                    <a:pt x="2095771" y="2020981"/>
                  </a:lnTo>
                </a:path>
                <a:path w="2096134" h="2682240">
                  <a:moveTo>
                    <a:pt x="1804571" y="1904692"/>
                  </a:moveTo>
                  <a:lnTo>
                    <a:pt x="2095771" y="1904692"/>
                  </a:lnTo>
                </a:path>
                <a:path w="2096134" h="2682240">
                  <a:moveTo>
                    <a:pt x="1959646" y="2020981"/>
                  </a:moveTo>
                  <a:lnTo>
                    <a:pt x="1959646" y="2118461"/>
                  </a:lnTo>
                </a:path>
                <a:path w="2096134" h="2682240">
                  <a:moveTo>
                    <a:pt x="1959646" y="1904692"/>
                  </a:moveTo>
                  <a:lnTo>
                    <a:pt x="1959646" y="18072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9700" y="4042067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642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642"/>
                  </a:lnTo>
                  <a:lnTo>
                    <a:pt x="0" y="466642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7044" y="3945068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563640"/>
                  </a:moveTo>
                  <a:lnTo>
                    <a:pt x="0" y="660638"/>
                  </a:lnTo>
                </a:path>
                <a:path h="661035">
                  <a:moveTo>
                    <a:pt x="0" y="96998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672938" y="2710869"/>
            <a:ext cx="407670" cy="311785"/>
            <a:chOff x="8148938" y="2710869"/>
            <a:chExt cx="407670" cy="311785"/>
          </a:xfrm>
        </p:grpSpPr>
        <p:sp>
          <p:nvSpPr>
            <p:cNvPr id="17" name="object 17"/>
            <p:cNvSpPr/>
            <p:nvPr/>
          </p:nvSpPr>
          <p:spPr>
            <a:xfrm>
              <a:off x="8216788" y="2876240"/>
              <a:ext cx="58419" cy="0"/>
            </a:xfrm>
            <a:custGeom>
              <a:avLst/>
              <a:gdLst/>
              <a:ahLst/>
              <a:cxnLst/>
              <a:rect l="l" t="t" r="r" b="b"/>
              <a:pathLst>
                <a:path w="58420">
                  <a:moveTo>
                    <a:pt x="58394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87792" y="286661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0" y="9628"/>
                  </a:moveTo>
                  <a:lnTo>
                    <a:pt x="2829" y="2820"/>
                  </a:lnTo>
                  <a:lnTo>
                    <a:pt x="9660" y="0"/>
                  </a:lnTo>
                  <a:lnTo>
                    <a:pt x="16491" y="2820"/>
                  </a:lnTo>
                  <a:lnTo>
                    <a:pt x="19320" y="9628"/>
                  </a:lnTo>
                  <a:lnTo>
                    <a:pt x="16491" y="16437"/>
                  </a:lnTo>
                  <a:lnTo>
                    <a:pt x="9660" y="19257"/>
                  </a:lnTo>
                  <a:lnTo>
                    <a:pt x="2829" y="16437"/>
                  </a:lnTo>
                  <a:lnTo>
                    <a:pt x="0" y="9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58780" y="2720712"/>
              <a:ext cx="387985" cy="292100"/>
            </a:xfrm>
            <a:custGeom>
              <a:avLst/>
              <a:gdLst/>
              <a:ahLst/>
              <a:cxnLst/>
              <a:rect l="l" t="t" r="r" b="b"/>
              <a:pathLst>
                <a:path w="387984" h="292100">
                  <a:moveTo>
                    <a:pt x="38672" y="155528"/>
                  </a:moveTo>
                  <a:lnTo>
                    <a:pt x="387880" y="155528"/>
                  </a:lnTo>
                </a:path>
                <a:path w="387984" h="292100">
                  <a:moveTo>
                    <a:pt x="0" y="0"/>
                  </a:moveTo>
                  <a:lnTo>
                    <a:pt x="0" y="291591"/>
                  </a:lnTo>
                </a:path>
                <a:path w="387984" h="292100">
                  <a:moveTo>
                    <a:pt x="0" y="155528"/>
                  </a:moveTo>
                  <a:lnTo>
                    <a:pt x="96680" y="15552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043613" y="3381428"/>
            <a:ext cx="534035" cy="292100"/>
            <a:chOff x="5519613" y="3381428"/>
            <a:chExt cx="534035" cy="292100"/>
          </a:xfrm>
        </p:grpSpPr>
        <p:sp>
          <p:nvSpPr>
            <p:cNvPr id="21" name="object 21"/>
            <p:cNvSpPr/>
            <p:nvPr/>
          </p:nvSpPr>
          <p:spPr>
            <a:xfrm>
              <a:off x="5655328" y="3381428"/>
              <a:ext cx="388620" cy="292100"/>
            </a:xfrm>
            <a:custGeom>
              <a:avLst/>
              <a:gdLst/>
              <a:ahLst/>
              <a:cxnLst/>
              <a:rect l="l" t="t" r="r" b="b"/>
              <a:pathLst>
                <a:path w="388620" h="292100">
                  <a:moveTo>
                    <a:pt x="116402" y="155374"/>
                  </a:moveTo>
                  <a:lnTo>
                    <a:pt x="252624" y="155374"/>
                  </a:lnTo>
                </a:path>
                <a:path w="388620" h="292100">
                  <a:moveTo>
                    <a:pt x="388344" y="0"/>
                  </a:moveTo>
                  <a:lnTo>
                    <a:pt x="388344" y="291475"/>
                  </a:lnTo>
                </a:path>
                <a:path w="388620" h="292100">
                  <a:moveTo>
                    <a:pt x="388344" y="155374"/>
                  </a:moveTo>
                  <a:lnTo>
                    <a:pt x="291258" y="155374"/>
                  </a:lnTo>
                </a:path>
                <a:path w="388620" h="292100">
                  <a:moveTo>
                    <a:pt x="0" y="155374"/>
                  </a:moveTo>
                  <a:lnTo>
                    <a:pt x="97086" y="155374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613" y="3459126"/>
              <a:ext cx="116375" cy="11676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43760" y="230992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R1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13986" y="4994652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72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862085" y="4583311"/>
            <a:ext cx="6422390" cy="1794510"/>
            <a:chOff x="338085" y="4583311"/>
            <a:chExt cx="6422390" cy="1794510"/>
          </a:xfrm>
        </p:grpSpPr>
        <p:sp>
          <p:nvSpPr>
            <p:cNvPr id="26" name="object 26"/>
            <p:cNvSpPr/>
            <p:nvPr/>
          </p:nvSpPr>
          <p:spPr>
            <a:xfrm>
              <a:off x="6547937" y="5072344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>
                  <a:moveTo>
                    <a:pt x="0" y="0"/>
                  </a:moveTo>
                  <a:lnTo>
                    <a:pt x="58452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085" y="4583311"/>
              <a:ext cx="5600571" cy="179398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804408" y="5872975"/>
              <a:ext cx="791845" cy="262890"/>
            </a:xfrm>
            <a:custGeom>
              <a:avLst/>
              <a:gdLst/>
              <a:ahLst/>
              <a:cxnLst/>
              <a:rect l="l" t="t" r="r" b="b"/>
              <a:pathLst>
                <a:path w="791845" h="262889">
                  <a:moveTo>
                    <a:pt x="791337" y="0"/>
                  </a:moveTo>
                  <a:lnTo>
                    <a:pt x="756072" y="33614"/>
                  </a:lnTo>
                  <a:lnTo>
                    <a:pt x="718578" y="63635"/>
                  </a:lnTo>
                  <a:lnTo>
                    <a:pt x="679123" y="90016"/>
                  </a:lnTo>
                  <a:lnTo>
                    <a:pt x="637975" y="112714"/>
                  </a:lnTo>
                  <a:lnTo>
                    <a:pt x="595399" y="131684"/>
                  </a:lnTo>
                  <a:lnTo>
                    <a:pt x="551664" y="146883"/>
                  </a:lnTo>
                  <a:lnTo>
                    <a:pt x="507037" y="158264"/>
                  </a:lnTo>
                  <a:lnTo>
                    <a:pt x="461786" y="165785"/>
                  </a:lnTo>
                  <a:lnTo>
                    <a:pt x="416176" y="169401"/>
                  </a:lnTo>
                  <a:lnTo>
                    <a:pt x="370477" y="169068"/>
                  </a:lnTo>
                  <a:lnTo>
                    <a:pt x="324955" y="164740"/>
                  </a:lnTo>
                  <a:lnTo>
                    <a:pt x="279878" y="156374"/>
                  </a:lnTo>
                  <a:lnTo>
                    <a:pt x="235513" y="143926"/>
                  </a:lnTo>
                  <a:lnTo>
                    <a:pt x="192126" y="127350"/>
                  </a:lnTo>
                  <a:lnTo>
                    <a:pt x="149987" y="106603"/>
                  </a:lnTo>
                  <a:lnTo>
                    <a:pt x="194817" y="60007"/>
                  </a:lnTo>
                  <a:lnTo>
                    <a:pt x="0" y="75806"/>
                  </a:lnTo>
                  <a:lnTo>
                    <a:pt x="15366" y="246418"/>
                  </a:lnTo>
                  <a:lnTo>
                    <a:pt x="60197" y="199809"/>
                  </a:lnTo>
                  <a:lnTo>
                    <a:pt x="102359" y="220555"/>
                  </a:lnTo>
                  <a:lnTo>
                    <a:pt x="145762" y="237131"/>
                  </a:lnTo>
                  <a:lnTo>
                    <a:pt x="190139" y="249579"/>
                  </a:lnTo>
                  <a:lnTo>
                    <a:pt x="235223" y="257945"/>
                  </a:lnTo>
                  <a:lnTo>
                    <a:pt x="280749" y="262273"/>
                  </a:lnTo>
                  <a:lnTo>
                    <a:pt x="326450" y="262607"/>
                  </a:lnTo>
                  <a:lnTo>
                    <a:pt x="372060" y="258991"/>
                  </a:lnTo>
                  <a:lnTo>
                    <a:pt x="417312" y="251470"/>
                  </a:lnTo>
                  <a:lnTo>
                    <a:pt x="461939" y="240088"/>
                  </a:lnTo>
                  <a:lnTo>
                    <a:pt x="505676" y="224890"/>
                  </a:lnTo>
                  <a:lnTo>
                    <a:pt x="548255" y="205919"/>
                  </a:lnTo>
                  <a:lnTo>
                    <a:pt x="589412" y="183221"/>
                  </a:lnTo>
                  <a:lnTo>
                    <a:pt x="628878" y="156840"/>
                  </a:lnTo>
                  <a:lnTo>
                    <a:pt x="666388" y="126820"/>
                  </a:lnTo>
                  <a:lnTo>
                    <a:pt x="701674" y="93205"/>
                  </a:lnTo>
                  <a:lnTo>
                    <a:pt x="79133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06845" y="5125973"/>
              <a:ext cx="243840" cy="791210"/>
            </a:xfrm>
            <a:custGeom>
              <a:avLst/>
              <a:gdLst/>
              <a:ahLst/>
              <a:cxnLst/>
              <a:rect l="l" t="t" r="r" b="b"/>
              <a:pathLst>
                <a:path w="243840" h="791210">
                  <a:moveTo>
                    <a:pt x="89788" y="0"/>
                  </a:moveTo>
                  <a:lnTo>
                    <a:pt x="0" y="93218"/>
                  </a:lnTo>
                  <a:lnTo>
                    <a:pt x="33356" y="128581"/>
                  </a:lnTo>
                  <a:lnTo>
                    <a:pt x="62692" y="166417"/>
                  </a:lnTo>
                  <a:lnTo>
                    <a:pt x="87990" y="206434"/>
                  </a:lnTo>
                  <a:lnTo>
                    <a:pt x="109231" y="248335"/>
                  </a:lnTo>
                  <a:lnTo>
                    <a:pt x="126400" y="291827"/>
                  </a:lnTo>
                  <a:lnTo>
                    <a:pt x="139477" y="336614"/>
                  </a:lnTo>
                  <a:lnTo>
                    <a:pt x="148446" y="382404"/>
                  </a:lnTo>
                  <a:lnTo>
                    <a:pt x="153289" y="428901"/>
                  </a:lnTo>
                  <a:lnTo>
                    <a:pt x="153988" y="475810"/>
                  </a:lnTo>
                  <a:lnTo>
                    <a:pt x="150527" y="522838"/>
                  </a:lnTo>
                  <a:lnTo>
                    <a:pt x="142887" y="569690"/>
                  </a:lnTo>
                  <a:lnTo>
                    <a:pt x="131052" y="616072"/>
                  </a:lnTo>
                  <a:lnTo>
                    <a:pt x="115003" y="661689"/>
                  </a:lnTo>
                  <a:lnTo>
                    <a:pt x="94723" y="706247"/>
                  </a:lnTo>
                  <a:lnTo>
                    <a:pt x="70195" y="749450"/>
                  </a:lnTo>
                  <a:lnTo>
                    <a:pt x="41401" y="791006"/>
                  </a:lnTo>
                  <a:lnTo>
                    <a:pt x="77913" y="758211"/>
                  </a:lnTo>
                  <a:lnTo>
                    <a:pt x="110889" y="722999"/>
                  </a:lnTo>
                  <a:lnTo>
                    <a:pt x="140298" y="685635"/>
                  </a:lnTo>
                  <a:lnTo>
                    <a:pt x="166107" y="646382"/>
                  </a:lnTo>
                  <a:lnTo>
                    <a:pt x="188286" y="605503"/>
                  </a:lnTo>
                  <a:lnTo>
                    <a:pt x="206803" y="563261"/>
                  </a:lnTo>
                  <a:lnTo>
                    <a:pt x="221625" y="519920"/>
                  </a:lnTo>
                  <a:lnTo>
                    <a:pt x="232722" y="475741"/>
                  </a:lnTo>
                  <a:lnTo>
                    <a:pt x="240061" y="430990"/>
                  </a:lnTo>
                  <a:lnTo>
                    <a:pt x="243612" y="385928"/>
                  </a:lnTo>
                  <a:lnTo>
                    <a:pt x="243342" y="340819"/>
                  </a:lnTo>
                  <a:lnTo>
                    <a:pt x="239220" y="295926"/>
                  </a:lnTo>
                  <a:lnTo>
                    <a:pt x="231215" y="251513"/>
                  </a:lnTo>
                  <a:lnTo>
                    <a:pt x="219294" y="207842"/>
                  </a:lnTo>
                  <a:lnTo>
                    <a:pt x="203426" y="165177"/>
                  </a:lnTo>
                  <a:lnTo>
                    <a:pt x="183580" y="123780"/>
                  </a:lnTo>
                  <a:lnTo>
                    <a:pt x="159724" y="83916"/>
                  </a:lnTo>
                  <a:lnTo>
                    <a:pt x="131825" y="45846"/>
                  </a:lnTo>
                  <a:lnTo>
                    <a:pt x="100839" y="10949"/>
                  </a:lnTo>
                  <a:lnTo>
                    <a:pt x="89788" y="0"/>
                  </a:lnTo>
                  <a:close/>
                </a:path>
              </a:pathLst>
            </a:custGeom>
            <a:solidFill>
              <a:srgbClr val="B167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04408" y="5125973"/>
              <a:ext cx="946785" cy="1009650"/>
            </a:xfrm>
            <a:custGeom>
              <a:avLst/>
              <a:gdLst/>
              <a:ahLst/>
              <a:cxnLst/>
              <a:rect l="l" t="t" r="r" b="b"/>
              <a:pathLst>
                <a:path w="946784" h="1009650">
                  <a:moveTo>
                    <a:pt x="791337" y="747001"/>
                  </a:moveTo>
                  <a:lnTo>
                    <a:pt x="756072" y="780616"/>
                  </a:lnTo>
                  <a:lnTo>
                    <a:pt x="718578" y="810636"/>
                  </a:lnTo>
                  <a:lnTo>
                    <a:pt x="679123" y="837017"/>
                  </a:lnTo>
                  <a:lnTo>
                    <a:pt x="637975" y="859715"/>
                  </a:lnTo>
                  <a:lnTo>
                    <a:pt x="595399" y="878686"/>
                  </a:lnTo>
                  <a:lnTo>
                    <a:pt x="551664" y="893884"/>
                  </a:lnTo>
                  <a:lnTo>
                    <a:pt x="507037" y="905266"/>
                  </a:lnTo>
                  <a:lnTo>
                    <a:pt x="461786" y="912787"/>
                  </a:lnTo>
                  <a:lnTo>
                    <a:pt x="416176" y="916403"/>
                  </a:lnTo>
                  <a:lnTo>
                    <a:pt x="370477" y="916069"/>
                  </a:lnTo>
                  <a:lnTo>
                    <a:pt x="324955" y="911741"/>
                  </a:lnTo>
                  <a:lnTo>
                    <a:pt x="279878" y="903375"/>
                  </a:lnTo>
                  <a:lnTo>
                    <a:pt x="235513" y="890927"/>
                  </a:lnTo>
                  <a:lnTo>
                    <a:pt x="192126" y="874351"/>
                  </a:lnTo>
                  <a:lnTo>
                    <a:pt x="149987" y="853605"/>
                  </a:lnTo>
                  <a:lnTo>
                    <a:pt x="194817" y="807008"/>
                  </a:lnTo>
                  <a:lnTo>
                    <a:pt x="0" y="822807"/>
                  </a:lnTo>
                  <a:lnTo>
                    <a:pt x="15366" y="993419"/>
                  </a:lnTo>
                  <a:lnTo>
                    <a:pt x="60197" y="946810"/>
                  </a:lnTo>
                  <a:lnTo>
                    <a:pt x="102359" y="967557"/>
                  </a:lnTo>
                  <a:lnTo>
                    <a:pt x="145762" y="984132"/>
                  </a:lnTo>
                  <a:lnTo>
                    <a:pt x="190139" y="996581"/>
                  </a:lnTo>
                  <a:lnTo>
                    <a:pt x="235223" y="1004947"/>
                  </a:lnTo>
                  <a:lnTo>
                    <a:pt x="280749" y="1009274"/>
                  </a:lnTo>
                  <a:lnTo>
                    <a:pt x="326450" y="1009608"/>
                  </a:lnTo>
                  <a:lnTo>
                    <a:pt x="372060" y="1005992"/>
                  </a:lnTo>
                  <a:lnTo>
                    <a:pt x="417312" y="998471"/>
                  </a:lnTo>
                  <a:lnTo>
                    <a:pt x="461939" y="987089"/>
                  </a:lnTo>
                  <a:lnTo>
                    <a:pt x="505676" y="971891"/>
                  </a:lnTo>
                  <a:lnTo>
                    <a:pt x="548255" y="952921"/>
                  </a:lnTo>
                  <a:lnTo>
                    <a:pt x="589412" y="930223"/>
                  </a:lnTo>
                  <a:lnTo>
                    <a:pt x="628878" y="903841"/>
                  </a:lnTo>
                  <a:lnTo>
                    <a:pt x="666388" y="873821"/>
                  </a:lnTo>
                  <a:lnTo>
                    <a:pt x="701674" y="840206"/>
                  </a:lnTo>
                  <a:lnTo>
                    <a:pt x="791337" y="747001"/>
                  </a:lnTo>
                  <a:lnTo>
                    <a:pt x="823825" y="710207"/>
                  </a:lnTo>
                  <a:lnTo>
                    <a:pt x="852498" y="671451"/>
                  </a:lnTo>
                  <a:lnTo>
                    <a:pt x="877357" y="630998"/>
                  </a:lnTo>
                  <a:lnTo>
                    <a:pt x="898399" y="589112"/>
                  </a:lnTo>
                  <a:lnTo>
                    <a:pt x="915626" y="546055"/>
                  </a:lnTo>
                  <a:lnTo>
                    <a:pt x="929037" y="502094"/>
                  </a:lnTo>
                  <a:lnTo>
                    <a:pt x="938632" y="457490"/>
                  </a:lnTo>
                  <a:lnTo>
                    <a:pt x="944410" y="412509"/>
                  </a:lnTo>
                  <a:lnTo>
                    <a:pt x="946372" y="367414"/>
                  </a:lnTo>
                  <a:lnTo>
                    <a:pt x="944516" y="322469"/>
                  </a:lnTo>
                  <a:lnTo>
                    <a:pt x="938843" y="277939"/>
                  </a:lnTo>
                  <a:lnTo>
                    <a:pt x="929353" y="234086"/>
                  </a:lnTo>
                  <a:lnTo>
                    <a:pt x="916044" y="191176"/>
                  </a:lnTo>
                  <a:lnTo>
                    <a:pt x="898918" y="149473"/>
                  </a:lnTo>
                  <a:lnTo>
                    <a:pt x="877973" y="109239"/>
                  </a:lnTo>
                  <a:lnTo>
                    <a:pt x="853209" y="70740"/>
                  </a:lnTo>
                  <a:lnTo>
                    <a:pt x="824627" y="34239"/>
                  </a:lnTo>
                  <a:lnTo>
                    <a:pt x="792225" y="0"/>
                  </a:lnTo>
                  <a:lnTo>
                    <a:pt x="702437" y="93218"/>
                  </a:lnTo>
                  <a:lnTo>
                    <a:pt x="735793" y="128581"/>
                  </a:lnTo>
                  <a:lnTo>
                    <a:pt x="765129" y="166417"/>
                  </a:lnTo>
                  <a:lnTo>
                    <a:pt x="790427" y="206434"/>
                  </a:lnTo>
                  <a:lnTo>
                    <a:pt x="811668" y="248335"/>
                  </a:lnTo>
                  <a:lnTo>
                    <a:pt x="828837" y="291827"/>
                  </a:lnTo>
                  <a:lnTo>
                    <a:pt x="841914" y="336614"/>
                  </a:lnTo>
                  <a:lnTo>
                    <a:pt x="850883" y="382404"/>
                  </a:lnTo>
                  <a:lnTo>
                    <a:pt x="855726" y="428901"/>
                  </a:lnTo>
                  <a:lnTo>
                    <a:pt x="856425" y="475810"/>
                  </a:lnTo>
                  <a:lnTo>
                    <a:pt x="852964" y="522838"/>
                  </a:lnTo>
                  <a:lnTo>
                    <a:pt x="845324" y="569690"/>
                  </a:lnTo>
                  <a:lnTo>
                    <a:pt x="833489" y="616072"/>
                  </a:lnTo>
                  <a:lnTo>
                    <a:pt x="817440" y="661689"/>
                  </a:lnTo>
                  <a:lnTo>
                    <a:pt x="797160" y="706247"/>
                  </a:lnTo>
                  <a:lnTo>
                    <a:pt x="772632" y="749450"/>
                  </a:lnTo>
                  <a:lnTo>
                    <a:pt x="743838" y="791006"/>
                  </a:lnTo>
                </a:path>
              </a:pathLst>
            </a:custGeom>
            <a:ln w="19050">
              <a:solidFill>
                <a:srgbClr val="A15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145359" y="4078608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Cs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94414" y="4137003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469311" y="2720712"/>
            <a:ext cx="97155" cy="292100"/>
          </a:xfrm>
          <a:custGeom>
            <a:avLst/>
            <a:gdLst/>
            <a:ahLst/>
            <a:cxnLst/>
            <a:rect l="l" t="t" r="r" b="b"/>
            <a:pathLst>
              <a:path w="97154" h="292100">
                <a:moveTo>
                  <a:pt x="97066" y="0"/>
                </a:moveTo>
                <a:lnTo>
                  <a:pt x="97066" y="291591"/>
                </a:lnTo>
              </a:path>
              <a:path w="97154" h="292100">
                <a:moveTo>
                  <a:pt x="97066" y="155528"/>
                </a:moveTo>
                <a:lnTo>
                  <a:pt x="0" y="155528"/>
                </a:lnTo>
              </a:path>
            </a:pathLst>
          </a:custGeom>
          <a:ln w="19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349876" y="3009721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Cout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109333" y="2798564"/>
            <a:ext cx="194310" cy="116839"/>
            <a:chOff x="8585333" y="2798564"/>
            <a:chExt cx="194310" cy="116839"/>
          </a:xfrm>
        </p:grpSpPr>
        <p:sp>
          <p:nvSpPr>
            <p:cNvPr id="36" name="object 36"/>
            <p:cNvSpPr/>
            <p:nvPr/>
          </p:nvSpPr>
          <p:spPr>
            <a:xfrm>
              <a:off x="8585333" y="2876240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97066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72732" y="280820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5">
                  <a:moveTo>
                    <a:pt x="0" y="38930"/>
                  </a:moveTo>
                  <a:lnTo>
                    <a:pt x="3329" y="64336"/>
                  </a:lnTo>
                  <a:lnTo>
                    <a:pt x="12133" y="82461"/>
                  </a:lnTo>
                  <a:lnTo>
                    <a:pt x="24635" y="93323"/>
                  </a:lnTo>
                  <a:lnTo>
                    <a:pt x="39058" y="96940"/>
                  </a:lnTo>
                  <a:lnTo>
                    <a:pt x="64437" y="93323"/>
                  </a:lnTo>
                  <a:lnTo>
                    <a:pt x="82564" y="82461"/>
                  </a:lnTo>
                  <a:lnTo>
                    <a:pt x="93441" y="64336"/>
                  </a:lnTo>
                  <a:lnTo>
                    <a:pt x="97066" y="38930"/>
                  </a:lnTo>
                  <a:lnTo>
                    <a:pt x="93441" y="24554"/>
                  </a:lnTo>
                  <a:lnTo>
                    <a:pt x="82564" y="12093"/>
                  </a:lnTo>
                  <a:lnTo>
                    <a:pt x="64437" y="3318"/>
                  </a:lnTo>
                  <a:lnTo>
                    <a:pt x="39058" y="0"/>
                  </a:lnTo>
                  <a:lnTo>
                    <a:pt x="24635" y="3318"/>
                  </a:lnTo>
                  <a:lnTo>
                    <a:pt x="12133" y="12093"/>
                  </a:lnTo>
                  <a:lnTo>
                    <a:pt x="3329" y="24554"/>
                  </a:lnTo>
                  <a:lnTo>
                    <a:pt x="0" y="38930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009620" y="2562775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Vout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60108" y="2932034"/>
            <a:ext cx="988060" cy="4660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19760">
              <a:lnSpc>
                <a:spcPts val="1755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C1</a:t>
            </a:r>
            <a:endParaRPr sz="165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ts val="1755"/>
              </a:lnSpc>
            </a:pPr>
            <a:r>
              <a:rPr sz="2475" spc="82" baseline="-25000" dirty="0">
                <a:latin typeface="Courier New" panose="02070309020205020404"/>
                <a:cs typeface="Courier New" panose="02070309020205020404"/>
              </a:rPr>
              <a:t>Vin</a:t>
            </a:r>
            <a:r>
              <a:rPr sz="2475" spc="-254" baseline="-25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spc="45" dirty="0">
                <a:latin typeface="Courier New" panose="02070309020205020404"/>
                <a:cs typeface="Courier New" panose="02070309020205020404"/>
              </a:rPr>
              <a:t>1uF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9003724" y="1768646"/>
            <a:ext cx="116839" cy="243204"/>
            <a:chOff x="7479724" y="1768646"/>
            <a:chExt cx="116839" cy="243204"/>
          </a:xfrm>
        </p:grpSpPr>
        <p:sp>
          <p:nvSpPr>
            <p:cNvPr id="41" name="object 41"/>
            <p:cNvSpPr/>
            <p:nvPr/>
          </p:nvSpPr>
          <p:spPr>
            <a:xfrm>
              <a:off x="7557044" y="1904332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h="97789">
                  <a:moveTo>
                    <a:pt x="0" y="0"/>
                  </a:moveTo>
                  <a:lnTo>
                    <a:pt x="0" y="97518"/>
                  </a:lnTo>
                </a:path>
              </a:pathLst>
            </a:custGeom>
            <a:ln w="19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9724" y="1768646"/>
              <a:ext cx="116355" cy="11622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922937" y="1493927"/>
            <a:ext cx="43307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VDD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023646" y="2137914"/>
            <a:ext cx="1213485" cy="2788920"/>
            <a:chOff x="6499646" y="2137914"/>
            <a:chExt cx="1213485" cy="2788920"/>
          </a:xfrm>
        </p:grpSpPr>
        <p:sp>
          <p:nvSpPr>
            <p:cNvPr id="45" name="object 45"/>
            <p:cNvSpPr/>
            <p:nvPr/>
          </p:nvSpPr>
          <p:spPr>
            <a:xfrm>
              <a:off x="7382633" y="4819477"/>
              <a:ext cx="330200" cy="97790"/>
            </a:xfrm>
            <a:custGeom>
              <a:avLst/>
              <a:gdLst/>
              <a:ahLst/>
              <a:cxnLst/>
              <a:rect l="l" t="t" r="r" b="b"/>
              <a:pathLst>
                <a:path w="330200" h="97789">
                  <a:moveTo>
                    <a:pt x="0" y="97479"/>
                  </a:moveTo>
                  <a:lnTo>
                    <a:pt x="329872" y="97479"/>
                  </a:lnTo>
                </a:path>
                <a:path w="330200" h="97789">
                  <a:moveTo>
                    <a:pt x="174410" y="97479"/>
                  </a:moveTo>
                  <a:lnTo>
                    <a:pt x="17441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09303" y="3711988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61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161"/>
                  </a:lnTo>
                  <a:lnTo>
                    <a:pt x="0" y="466161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587072" y="3614508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563640"/>
                  </a:moveTo>
                  <a:lnTo>
                    <a:pt x="0" y="661120"/>
                  </a:lnTo>
                </a:path>
                <a:path h="661670">
                  <a:moveTo>
                    <a:pt x="0" y="97479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79700" y="2234854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99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199"/>
                  </a:lnTo>
                  <a:lnTo>
                    <a:pt x="0" y="466199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57044" y="2137914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563139"/>
                  </a:moveTo>
                  <a:lnTo>
                    <a:pt x="0" y="660658"/>
                  </a:lnTo>
                </a:path>
                <a:path h="661035">
                  <a:moveTo>
                    <a:pt x="0" y="96940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07836" y="3186911"/>
              <a:ext cx="78105" cy="349885"/>
            </a:xfrm>
            <a:custGeom>
              <a:avLst/>
              <a:gdLst/>
              <a:ahLst/>
              <a:cxnLst/>
              <a:rect l="l" t="t" r="r" b="b"/>
              <a:pathLst>
                <a:path w="78104" h="349885">
                  <a:moveTo>
                    <a:pt x="77730" y="0"/>
                  </a:moveTo>
                  <a:lnTo>
                    <a:pt x="77730" y="349890"/>
                  </a:lnTo>
                  <a:lnTo>
                    <a:pt x="0" y="349890"/>
                  </a:lnTo>
                </a:path>
              </a:pathLst>
            </a:custGeom>
            <a:ln w="19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63297" y="3148367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h="447039">
                  <a:moveTo>
                    <a:pt x="0" y="446830"/>
                  </a:moveTo>
                  <a:lnTo>
                    <a:pt x="0" y="349832"/>
                  </a:lnTo>
                </a:path>
                <a:path h="447039">
                  <a:moveTo>
                    <a:pt x="0" y="272145"/>
                  </a:moveTo>
                  <a:lnTo>
                    <a:pt x="0" y="174665"/>
                  </a:lnTo>
                </a:path>
                <a:path h="447039">
                  <a:moveTo>
                    <a:pt x="0" y="96978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63297" y="3128516"/>
              <a:ext cx="194310" cy="466725"/>
            </a:xfrm>
            <a:custGeom>
              <a:avLst/>
              <a:gdLst/>
              <a:ahLst/>
              <a:cxnLst/>
              <a:rect l="l" t="t" r="r" b="b"/>
              <a:pathLst>
                <a:path w="194309" h="466725">
                  <a:moveTo>
                    <a:pt x="0" y="58395"/>
                  </a:moveTo>
                  <a:lnTo>
                    <a:pt x="193746" y="58395"/>
                  </a:lnTo>
                  <a:lnTo>
                    <a:pt x="193746" y="0"/>
                  </a:lnTo>
                </a:path>
                <a:path w="194309" h="466725">
                  <a:moveTo>
                    <a:pt x="0" y="233600"/>
                  </a:moveTo>
                  <a:lnTo>
                    <a:pt x="193746" y="233600"/>
                  </a:lnTo>
                  <a:lnTo>
                    <a:pt x="193746" y="466681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63297" y="353680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0" y="0"/>
                  </a:moveTo>
                  <a:lnTo>
                    <a:pt x="17441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97066" y="0"/>
                  </a:moveTo>
                  <a:lnTo>
                    <a:pt x="0" y="58395"/>
                  </a:lnTo>
                  <a:lnTo>
                    <a:pt x="97066" y="116790"/>
                  </a:lnTo>
                  <a:lnTo>
                    <a:pt x="9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0" y="58395"/>
                  </a:moveTo>
                  <a:lnTo>
                    <a:pt x="97066" y="0"/>
                  </a:lnTo>
                  <a:lnTo>
                    <a:pt x="97066" y="116790"/>
                  </a:lnTo>
                  <a:lnTo>
                    <a:pt x="0" y="58395"/>
                  </a:lnTo>
                  <a:close/>
                </a:path>
              </a:pathLst>
            </a:custGeom>
            <a:ln w="19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38672" y="0"/>
                  </a:move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0" y="38602"/>
                  </a:move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10672" y="3031576"/>
              <a:ext cx="446405" cy="661035"/>
            </a:xfrm>
            <a:custGeom>
              <a:avLst/>
              <a:gdLst/>
              <a:ahLst/>
              <a:cxnLst/>
              <a:rect l="l" t="t" r="r" b="b"/>
              <a:pathLst>
                <a:path w="446404" h="661035">
                  <a:moveTo>
                    <a:pt x="446371" y="96940"/>
                  </a:moveTo>
                  <a:lnTo>
                    <a:pt x="446371" y="0"/>
                  </a:lnTo>
                </a:path>
                <a:path w="446404" h="661035">
                  <a:moveTo>
                    <a:pt x="97163" y="505226"/>
                  </a:moveTo>
                  <a:lnTo>
                    <a:pt x="0" y="505226"/>
                  </a:lnTo>
                </a:path>
                <a:path w="446404" h="661035">
                  <a:moveTo>
                    <a:pt x="446371" y="563621"/>
                  </a:moveTo>
                  <a:lnTo>
                    <a:pt x="446371" y="660619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/>
          <p:nvPr/>
        </p:nvSpPr>
        <p:spPr>
          <a:xfrm>
            <a:off x="8983977" y="4994652"/>
            <a:ext cx="175260" cy="0"/>
          </a:xfrm>
          <a:custGeom>
            <a:avLst/>
            <a:gdLst/>
            <a:ahLst/>
            <a:cxnLst/>
            <a:rect l="l" t="t" r="r" b="b"/>
            <a:pathLst>
              <a:path w="175259">
                <a:moveTo>
                  <a:pt x="0" y="0"/>
                </a:moveTo>
                <a:lnTo>
                  <a:pt x="174797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042372" y="5072345"/>
            <a:ext cx="58419" cy="0"/>
          </a:xfrm>
          <a:custGeom>
            <a:avLst/>
            <a:gdLst/>
            <a:ahLst/>
            <a:cxnLst/>
            <a:rect l="l" t="t" r="r" b="b"/>
            <a:pathLst>
              <a:path w="58420">
                <a:moveTo>
                  <a:pt x="0" y="0"/>
                </a:moveTo>
                <a:lnTo>
                  <a:pt x="58008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243760" y="3806443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R2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252809" y="232977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214137" y="3301197"/>
            <a:ext cx="84010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70" dirty="0">
                <a:latin typeface="Courier New" panose="02070309020205020404"/>
                <a:cs typeface="Courier New" panose="02070309020205020404"/>
              </a:rPr>
              <a:t>N-</a:t>
            </a:r>
            <a:r>
              <a:rPr sz="1650" spc="50" dirty="0">
                <a:latin typeface="Courier New" panose="02070309020205020404"/>
                <a:cs typeface="Courier New" panose="02070309020205020404"/>
              </a:rPr>
              <a:t>EMOS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244585" y="5503570"/>
            <a:ext cx="164592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725" marR="5080" indent="-45466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7A3C17"/>
                </a:solidFill>
                <a:latin typeface="Times New Roman" panose="02020603050405020304"/>
                <a:cs typeface="Times New Roman" panose="02020603050405020304"/>
              </a:rPr>
              <a:t>AC</a:t>
            </a:r>
            <a:r>
              <a:rPr sz="2200" spc="-5" dirty="0">
                <a:solidFill>
                  <a:srgbClr val="7A3C1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7A3C17"/>
                </a:solidFill>
                <a:latin typeface="Times New Roman" panose="02020603050405020304"/>
                <a:cs typeface="Times New Roman" panose="02020603050405020304"/>
              </a:rPr>
              <a:t>equivalent circuit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EMOS</a:t>
            </a:r>
            <a:r>
              <a:rPr spc="-2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CS</a:t>
            </a:r>
            <a:r>
              <a:rPr spc="-1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voltage</a:t>
            </a:r>
            <a:r>
              <a:rPr spc="-40" dirty="0"/>
              <a:t> </a:t>
            </a:r>
            <a:r>
              <a:rPr spc="-10" dirty="0"/>
              <a:t>divider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4256" y="1857451"/>
            <a:ext cx="6709018" cy="2149449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421889" y="4179931"/>
          <a:ext cx="5427980" cy="170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620">
                <a:tc>
                  <a:txBody>
                    <a:bodyPr/>
                    <a:lstStyle/>
                    <a:p>
                      <a:pPr marL="31750">
                        <a:lnSpc>
                          <a:spcPts val="2430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2175" spc="292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//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2175" baseline="-2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o</a:t>
                      </a:r>
                      <a:r>
                        <a:rPr sz="2175" spc="284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//R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≈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nếu</a:t>
                      </a:r>
                      <a:r>
                        <a:rPr sz="220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175" spc="277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&gt;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10R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2175" spc="187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8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-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(r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//R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2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≈</a:t>
                      </a:r>
                      <a:r>
                        <a:rPr sz="2200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nếu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175" spc="277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&gt;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10R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 dirty="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440939" y="6153403"/>
            <a:ext cx="5466080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are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phase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5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07540" y="728217"/>
            <a:ext cx="826706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EMOS</a:t>
            </a:r>
            <a:r>
              <a:rPr sz="3600" spc="-35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3600" spc="-3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CS</a:t>
            </a:r>
            <a:r>
              <a:rPr sz="3600" spc="-3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600" spc="-3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voltage</a:t>
            </a:r>
            <a:r>
              <a:rPr sz="3600" spc="-2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divider</a:t>
            </a:r>
            <a:r>
              <a:rPr sz="3600" spc="-2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600" spc="-25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wo.</a:t>
            </a:r>
            <a:r>
              <a:rPr sz="3600" spc="-30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solidFill>
                  <a:srgbClr val="775F54"/>
                </a:solidFill>
                <a:latin typeface="Times New Roman" panose="02020603050405020304"/>
                <a:cs typeface="Times New Roman" panose="02020603050405020304"/>
              </a:rPr>
              <a:t>Cs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9740" y="1778635"/>
            <a:ext cx="4865370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57531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81000" algn="l"/>
                <a:tab pos="458470" algn="l"/>
              </a:tabLst>
            </a:pPr>
            <a:r>
              <a:rPr sz="2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terminal,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D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Source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spc="-1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divider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381000" marR="30480" indent="-342900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810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is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connected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ONLY</a:t>
            </a:r>
            <a:r>
              <a:rPr sz="22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Rs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REMOVE</a:t>
            </a:r>
            <a:r>
              <a:rPr sz="2200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bypass-</a:t>
            </a:r>
            <a:r>
              <a:rPr sz="2200" dirty="0">
                <a:latin typeface="Arial" panose="020B0604020202020204"/>
                <a:cs typeface="Arial" panose="020B0604020202020204"/>
              </a:rPr>
              <a:t>capacitor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C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S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9479" y="3262190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G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6534" y="2737691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D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45206" y="3689748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S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74233" y="1952885"/>
            <a:ext cx="2367915" cy="2974340"/>
            <a:chOff x="6150233" y="1952885"/>
            <a:chExt cx="2367915" cy="2974340"/>
          </a:xfrm>
        </p:grpSpPr>
        <p:sp>
          <p:nvSpPr>
            <p:cNvPr id="10" name="object 10"/>
            <p:cNvSpPr/>
            <p:nvPr/>
          </p:nvSpPr>
          <p:spPr>
            <a:xfrm>
              <a:off x="6276478" y="1962728"/>
              <a:ext cx="2095500" cy="2837815"/>
            </a:xfrm>
            <a:custGeom>
              <a:avLst/>
              <a:gdLst/>
              <a:ahLst/>
              <a:cxnLst/>
              <a:rect l="l" t="t" r="r" b="b"/>
              <a:pathLst>
                <a:path w="2095500" h="2837815">
                  <a:moveTo>
                    <a:pt x="0" y="1574073"/>
                  </a:moveTo>
                  <a:lnTo>
                    <a:pt x="19336" y="1574073"/>
                  </a:lnTo>
                </a:path>
                <a:path w="2095500" h="2837815">
                  <a:moveTo>
                    <a:pt x="1280565" y="58395"/>
                  </a:moveTo>
                  <a:lnTo>
                    <a:pt x="1280565" y="19272"/>
                  </a:lnTo>
                </a:path>
                <a:path w="2095500" h="2837815">
                  <a:moveTo>
                    <a:pt x="1280565" y="0"/>
                  </a:moveTo>
                  <a:lnTo>
                    <a:pt x="329910" y="0"/>
                  </a:lnTo>
                </a:path>
                <a:path w="2095500" h="2837815">
                  <a:moveTo>
                    <a:pt x="310594" y="0"/>
                  </a:moveTo>
                  <a:lnTo>
                    <a:pt x="310594" y="233003"/>
                  </a:lnTo>
                </a:path>
                <a:path w="2095500" h="2837815">
                  <a:moveTo>
                    <a:pt x="310594" y="952056"/>
                  </a:moveTo>
                  <a:lnTo>
                    <a:pt x="310594" y="1554782"/>
                  </a:lnTo>
                </a:path>
                <a:path w="2095500" h="2837815">
                  <a:moveTo>
                    <a:pt x="2095384" y="2060027"/>
                  </a:moveTo>
                  <a:lnTo>
                    <a:pt x="2095384" y="1865549"/>
                  </a:lnTo>
                </a:path>
                <a:path w="2095500" h="2837815">
                  <a:moveTo>
                    <a:pt x="2095384" y="1846258"/>
                  </a:moveTo>
                  <a:lnTo>
                    <a:pt x="1299901" y="1846258"/>
                  </a:lnTo>
                </a:path>
                <a:path w="2095500" h="2837815">
                  <a:moveTo>
                    <a:pt x="1280565" y="1846258"/>
                  </a:moveTo>
                  <a:lnTo>
                    <a:pt x="1280565" y="1943256"/>
                  </a:lnTo>
                </a:path>
                <a:path w="2095500" h="2837815">
                  <a:moveTo>
                    <a:pt x="2095384" y="2409898"/>
                  </a:moveTo>
                  <a:lnTo>
                    <a:pt x="2095384" y="2740459"/>
                  </a:lnTo>
                </a:path>
                <a:path w="2095500" h="2837815">
                  <a:moveTo>
                    <a:pt x="2095384" y="2759751"/>
                  </a:moveTo>
                  <a:lnTo>
                    <a:pt x="1299901" y="2759751"/>
                  </a:lnTo>
                </a:path>
                <a:path w="2095500" h="2837815">
                  <a:moveTo>
                    <a:pt x="1280565" y="2759751"/>
                  </a:moveTo>
                  <a:lnTo>
                    <a:pt x="1280565" y="2818146"/>
                  </a:lnTo>
                </a:path>
                <a:path w="2095500" h="2837815">
                  <a:moveTo>
                    <a:pt x="1280565" y="2837457"/>
                  </a:moveTo>
                  <a:lnTo>
                    <a:pt x="1280565" y="2682063"/>
                  </a:lnTo>
                </a:path>
                <a:path w="2095500" h="2837815">
                  <a:moveTo>
                    <a:pt x="1280565" y="1963029"/>
                  </a:moveTo>
                  <a:lnTo>
                    <a:pt x="1280565" y="1768551"/>
                  </a:lnTo>
                </a:path>
                <a:path w="2095500" h="2837815">
                  <a:moveTo>
                    <a:pt x="310594" y="2332192"/>
                  </a:moveTo>
                  <a:lnTo>
                    <a:pt x="310594" y="2818146"/>
                  </a:lnTo>
                </a:path>
                <a:path w="2095500" h="2837815">
                  <a:moveTo>
                    <a:pt x="1649109" y="913512"/>
                  </a:moveTo>
                  <a:lnTo>
                    <a:pt x="1299901" y="9135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5471" y="3527173"/>
              <a:ext cx="291262" cy="68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60076" y="2021123"/>
              <a:ext cx="1397000" cy="1652270"/>
            </a:xfrm>
            <a:custGeom>
              <a:avLst/>
              <a:gdLst/>
              <a:ahLst/>
              <a:cxnLst/>
              <a:rect l="l" t="t" r="r" b="b"/>
              <a:pathLst>
                <a:path w="1397000" h="1652270">
                  <a:moveTo>
                    <a:pt x="155055" y="1515678"/>
                  </a:moveTo>
                  <a:lnTo>
                    <a:pt x="911943" y="1515678"/>
                  </a:lnTo>
                </a:path>
                <a:path w="1397000" h="1652270">
                  <a:moveTo>
                    <a:pt x="1396968" y="0"/>
                  </a:moveTo>
                  <a:lnTo>
                    <a:pt x="1396968" y="77667"/>
                  </a:lnTo>
                </a:path>
                <a:path w="1397000" h="1652270">
                  <a:moveTo>
                    <a:pt x="1396968" y="796721"/>
                  </a:moveTo>
                  <a:lnTo>
                    <a:pt x="1396968" y="971907"/>
                  </a:lnTo>
                </a:path>
                <a:path w="1397000" h="1652270">
                  <a:moveTo>
                    <a:pt x="0" y="1360304"/>
                  </a:moveTo>
                  <a:lnTo>
                    <a:pt x="0" y="1651780"/>
                  </a:lnTo>
                </a:path>
                <a:path w="1397000" h="1652270">
                  <a:moveTo>
                    <a:pt x="0" y="1515678"/>
                  </a:moveTo>
                  <a:lnTo>
                    <a:pt x="97086" y="151567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9303" y="2331794"/>
              <a:ext cx="155575" cy="467359"/>
            </a:xfrm>
            <a:custGeom>
              <a:avLst/>
              <a:gdLst/>
              <a:ahLst/>
              <a:cxnLst/>
              <a:rect l="l" t="t" r="r" b="b"/>
              <a:pathLst>
                <a:path w="155575" h="467360">
                  <a:moveTo>
                    <a:pt x="0" y="466777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777"/>
                  </a:lnTo>
                  <a:lnTo>
                    <a:pt x="0" y="466777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12217" y="2234854"/>
              <a:ext cx="2096135" cy="2682240"/>
            </a:xfrm>
            <a:custGeom>
              <a:avLst/>
              <a:gdLst/>
              <a:ahLst/>
              <a:cxnLst/>
              <a:rect l="l" t="t" r="r" b="b"/>
              <a:pathLst>
                <a:path w="2096134" h="2682240">
                  <a:moveTo>
                    <a:pt x="174855" y="563717"/>
                  </a:moveTo>
                  <a:lnTo>
                    <a:pt x="174855" y="660658"/>
                  </a:lnTo>
                </a:path>
                <a:path w="2096134" h="2682240">
                  <a:moveTo>
                    <a:pt x="174855" y="96940"/>
                  </a:moveTo>
                  <a:lnTo>
                    <a:pt x="174855" y="0"/>
                  </a:lnTo>
                </a:path>
                <a:path w="2096134" h="2682240">
                  <a:moveTo>
                    <a:pt x="0" y="2682102"/>
                  </a:moveTo>
                  <a:lnTo>
                    <a:pt x="329910" y="2682102"/>
                  </a:lnTo>
                </a:path>
                <a:path w="2096134" h="2682240">
                  <a:moveTo>
                    <a:pt x="174855" y="2682102"/>
                  </a:moveTo>
                  <a:lnTo>
                    <a:pt x="174855" y="2584622"/>
                  </a:lnTo>
                </a:path>
                <a:path w="2096134" h="2682240">
                  <a:moveTo>
                    <a:pt x="1804571" y="2020981"/>
                  </a:moveTo>
                  <a:lnTo>
                    <a:pt x="2095771" y="2020981"/>
                  </a:lnTo>
                </a:path>
                <a:path w="2096134" h="2682240">
                  <a:moveTo>
                    <a:pt x="1804571" y="1904692"/>
                  </a:moveTo>
                  <a:lnTo>
                    <a:pt x="2095771" y="1904692"/>
                  </a:lnTo>
                </a:path>
                <a:path w="2096134" h="2682240">
                  <a:moveTo>
                    <a:pt x="1959646" y="2020981"/>
                  </a:moveTo>
                  <a:lnTo>
                    <a:pt x="1959646" y="2118461"/>
                  </a:lnTo>
                </a:path>
                <a:path w="2096134" h="2682240">
                  <a:moveTo>
                    <a:pt x="1959646" y="1904692"/>
                  </a:moveTo>
                  <a:lnTo>
                    <a:pt x="1959646" y="18072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79700" y="4042067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642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642"/>
                  </a:lnTo>
                  <a:lnTo>
                    <a:pt x="0" y="466642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7044" y="2720712"/>
              <a:ext cx="485775" cy="1885314"/>
            </a:xfrm>
            <a:custGeom>
              <a:avLst/>
              <a:gdLst/>
              <a:ahLst/>
              <a:cxnLst/>
              <a:rect l="l" t="t" r="r" b="b"/>
              <a:pathLst>
                <a:path w="485775" h="1885314">
                  <a:moveTo>
                    <a:pt x="0" y="1787997"/>
                  </a:moveTo>
                  <a:lnTo>
                    <a:pt x="0" y="1884995"/>
                  </a:lnTo>
                </a:path>
                <a:path w="485775" h="1885314">
                  <a:moveTo>
                    <a:pt x="0" y="1321354"/>
                  </a:moveTo>
                  <a:lnTo>
                    <a:pt x="0" y="1224356"/>
                  </a:lnTo>
                </a:path>
                <a:path w="485775" h="1885314">
                  <a:moveTo>
                    <a:pt x="485333" y="0"/>
                  </a:moveTo>
                  <a:lnTo>
                    <a:pt x="485333" y="291591"/>
                  </a:lnTo>
                </a:path>
                <a:path w="485775" h="1885314">
                  <a:moveTo>
                    <a:pt x="485333" y="155528"/>
                  </a:moveTo>
                  <a:lnTo>
                    <a:pt x="388266" y="15552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9672938" y="2710869"/>
            <a:ext cx="407670" cy="311785"/>
            <a:chOff x="8148938" y="2710869"/>
            <a:chExt cx="407670" cy="311785"/>
          </a:xfrm>
        </p:grpSpPr>
        <p:sp>
          <p:nvSpPr>
            <p:cNvPr id="18" name="object 18"/>
            <p:cNvSpPr/>
            <p:nvPr/>
          </p:nvSpPr>
          <p:spPr>
            <a:xfrm>
              <a:off x="8216788" y="2876240"/>
              <a:ext cx="58419" cy="0"/>
            </a:xfrm>
            <a:custGeom>
              <a:avLst/>
              <a:gdLst/>
              <a:ahLst/>
              <a:cxnLst/>
              <a:rect l="l" t="t" r="r" b="b"/>
              <a:pathLst>
                <a:path w="58420">
                  <a:moveTo>
                    <a:pt x="58394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87792" y="286661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0" y="9628"/>
                  </a:moveTo>
                  <a:lnTo>
                    <a:pt x="2829" y="2820"/>
                  </a:lnTo>
                  <a:lnTo>
                    <a:pt x="9660" y="0"/>
                  </a:lnTo>
                  <a:lnTo>
                    <a:pt x="16491" y="2820"/>
                  </a:lnTo>
                  <a:lnTo>
                    <a:pt x="19320" y="9628"/>
                  </a:lnTo>
                  <a:lnTo>
                    <a:pt x="16491" y="16437"/>
                  </a:lnTo>
                  <a:lnTo>
                    <a:pt x="9660" y="19257"/>
                  </a:lnTo>
                  <a:lnTo>
                    <a:pt x="2829" y="16437"/>
                  </a:lnTo>
                  <a:lnTo>
                    <a:pt x="0" y="9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58780" y="2720712"/>
              <a:ext cx="387985" cy="292100"/>
            </a:xfrm>
            <a:custGeom>
              <a:avLst/>
              <a:gdLst/>
              <a:ahLst/>
              <a:cxnLst/>
              <a:rect l="l" t="t" r="r" b="b"/>
              <a:pathLst>
                <a:path w="387984" h="292100">
                  <a:moveTo>
                    <a:pt x="38672" y="155528"/>
                  </a:moveTo>
                  <a:lnTo>
                    <a:pt x="387880" y="155528"/>
                  </a:lnTo>
                </a:path>
                <a:path w="387984" h="292100">
                  <a:moveTo>
                    <a:pt x="0" y="0"/>
                  </a:moveTo>
                  <a:lnTo>
                    <a:pt x="0" y="291591"/>
                  </a:lnTo>
                </a:path>
                <a:path w="387984" h="292100">
                  <a:moveTo>
                    <a:pt x="0" y="155528"/>
                  </a:moveTo>
                  <a:lnTo>
                    <a:pt x="96680" y="15552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043613" y="3381428"/>
            <a:ext cx="534035" cy="292100"/>
            <a:chOff x="5519613" y="3381428"/>
            <a:chExt cx="534035" cy="292100"/>
          </a:xfrm>
        </p:grpSpPr>
        <p:sp>
          <p:nvSpPr>
            <p:cNvPr id="22" name="object 22"/>
            <p:cNvSpPr/>
            <p:nvPr/>
          </p:nvSpPr>
          <p:spPr>
            <a:xfrm>
              <a:off x="5655328" y="3381428"/>
              <a:ext cx="388620" cy="292100"/>
            </a:xfrm>
            <a:custGeom>
              <a:avLst/>
              <a:gdLst/>
              <a:ahLst/>
              <a:cxnLst/>
              <a:rect l="l" t="t" r="r" b="b"/>
              <a:pathLst>
                <a:path w="388620" h="292100">
                  <a:moveTo>
                    <a:pt x="116402" y="155374"/>
                  </a:moveTo>
                  <a:lnTo>
                    <a:pt x="252624" y="155374"/>
                  </a:lnTo>
                </a:path>
                <a:path w="388620" h="292100">
                  <a:moveTo>
                    <a:pt x="388344" y="0"/>
                  </a:moveTo>
                  <a:lnTo>
                    <a:pt x="388344" y="291475"/>
                  </a:lnTo>
                </a:path>
                <a:path w="388620" h="292100">
                  <a:moveTo>
                    <a:pt x="388344" y="155374"/>
                  </a:moveTo>
                  <a:lnTo>
                    <a:pt x="291258" y="155374"/>
                  </a:lnTo>
                </a:path>
                <a:path w="388620" h="292100">
                  <a:moveTo>
                    <a:pt x="0" y="155374"/>
                  </a:moveTo>
                  <a:lnTo>
                    <a:pt x="97086" y="155374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613" y="3459126"/>
              <a:ext cx="116375" cy="11676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243760" y="230992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R1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13986" y="4994652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72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7318883" y="5062716"/>
            <a:ext cx="965835" cy="1082675"/>
            <a:chOff x="5794883" y="5062716"/>
            <a:chExt cx="965835" cy="1082675"/>
          </a:xfrm>
        </p:grpSpPr>
        <p:sp>
          <p:nvSpPr>
            <p:cNvPr id="27" name="object 27"/>
            <p:cNvSpPr/>
            <p:nvPr/>
          </p:nvSpPr>
          <p:spPr>
            <a:xfrm>
              <a:off x="6547937" y="5072344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>
                  <a:moveTo>
                    <a:pt x="0" y="0"/>
                  </a:moveTo>
                  <a:lnTo>
                    <a:pt x="58452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04408" y="5872975"/>
              <a:ext cx="791845" cy="262890"/>
            </a:xfrm>
            <a:custGeom>
              <a:avLst/>
              <a:gdLst/>
              <a:ahLst/>
              <a:cxnLst/>
              <a:rect l="l" t="t" r="r" b="b"/>
              <a:pathLst>
                <a:path w="791845" h="262889">
                  <a:moveTo>
                    <a:pt x="791337" y="0"/>
                  </a:moveTo>
                  <a:lnTo>
                    <a:pt x="756072" y="33614"/>
                  </a:lnTo>
                  <a:lnTo>
                    <a:pt x="718578" y="63635"/>
                  </a:lnTo>
                  <a:lnTo>
                    <a:pt x="679123" y="90016"/>
                  </a:lnTo>
                  <a:lnTo>
                    <a:pt x="637975" y="112714"/>
                  </a:lnTo>
                  <a:lnTo>
                    <a:pt x="595399" y="131684"/>
                  </a:lnTo>
                  <a:lnTo>
                    <a:pt x="551664" y="146883"/>
                  </a:lnTo>
                  <a:lnTo>
                    <a:pt x="507037" y="158264"/>
                  </a:lnTo>
                  <a:lnTo>
                    <a:pt x="461786" y="165785"/>
                  </a:lnTo>
                  <a:lnTo>
                    <a:pt x="416176" y="169401"/>
                  </a:lnTo>
                  <a:lnTo>
                    <a:pt x="370477" y="169068"/>
                  </a:lnTo>
                  <a:lnTo>
                    <a:pt x="324955" y="164740"/>
                  </a:lnTo>
                  <a:lnTo>
                    <a:pt x="279878" y="156374"/>
                  </a:lnTo>
                  <a:lnTo>
                    <a:pt x="235513" y="143926"/>
                  </a:lnTo>
                  <a:lnTo>
                    <a:pt x="192126" y="127350"/>
                  </a:lnTo>
                  <a:lnTo>
                    <a:pt x="149987" y="106603"/>
                  </a:lnTo>
                  <a:lnTo>
                    <a:pt x="194817" y="60007"/>
                  </a:lnTo>
                  <a:lnTo>
                    <a:pt x="0" y="75806"/>
                  </a:lnTo>
                  <a:lnTo>
                    <a:pt x="15366" y="246418"/>
                  </a:lnTo>
                  <a:lnTo>
                    <a:pt x="60197" y="199809"/>
                  </a:lnTo>
                  <a:lnTo>
                    <a:pt x="102359" y="220555"/>
                  </a:lnTo>
                  <a:lnTo>
                    <a:pt x="145762" y="237131"/>
                  </a:lnTo>
                  <a:lnTo>
                    <a:pt x="190139" y="249579"/>
                  </a:lnTo>
                  <a:lnTo>
                    <a:pt x="235223" y="257945"/>
                  </a:lnTo>
                  <a:lnTo>
                    <a:pt x="280749" y="262273"/>
                  </a:lnTo>
                  <a:lnTo>
                    <a:pt x="326450" y="262607"/>
                  </a:lnTo>
                  <a:lnTo>
                    <a:pt x="372060" y="258991"/>
                  </a:lnTo>
                  <a:lnTo>
                    <a:pt x="417312" y="251470"/>
                  </a:lnTo>
                  <a:lnTo>
                    <a:pt x="461939" y="240088"/>
                  </a:lnTo>
                  <a:lnTo>
                    <a:pt x="505676" y="224890"/>
                  </a:lnTo>
                  <a:lnTo>
                    <a:pt x="548255" y="205919"/>
                  </a:lnTo>
                  <a:lnTo>
                    <a:pt x="589412" y="183221"/>
                  </a:lnTo>
                  <a:lnTo>
                    <a:pt x="628878" y="156840"/>
                  </a:lnTo>
                  <a:lnTo>
                    <a:pt x="666388" y="126820"/>
                  </a:lnTo>
                  <a:lnTo>
                    <a:pt x="701674" y="93205"/>
                  </a:lnTo>
                  <a:lnTo>
                    <a:pt x="7913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506845" y="5125973"/>
              <a:ext cx="243840" cy="791210"/>
            </a:xfrm>
            <a:custGeom>
              <a:avLst/>
              <a:gdLst/>
              <a:ahLst/>
              <a:cxnLst/>
              <a:rect l="l" t="t" r="r" b="b"/>
              <a:pathLst>
                <a:path w="243840" h="791210">
                  <a:moveTo>
                    <a:pt x="89788" y="0"/>
                  </a:moveTo>
                  <a:lnTo>
                    <a:pt x="0" y="93218"/>
                  </a:lnTo>
                  <a:lnTo>
                    <a:pt x="33356" y="128581"/>
                  </a:lnTo>
                  <a:lnTo>
                    <a:pt x="62692" y="166417"/>
                  </a:lnTo>
                  <a:lnTo>
                    <a:pt x="87990" y="206434"/>
                  </a:lnTo>
                  <a:lnTo>
                    <a:pt x="109231" y="248335"/>
                  </a:lnTo>
                  <a:lnTo>
                    <a:pt x="126400" y="291827"/>
                  </a:lnTo>
                  <a:lnTo>
                    <a:pt x="139477" y="336614"/>
                  </a:lnTo>
                  <a:lnTo>
                    <a:pt x="148446" y="382404"/>
                  </a:lnTo>
                  <a:lnTo>
                    <a:pt x="153289" y="428901"/>
                  </a:lnTo>
                  <a:lnTo>
                    <a:pt x="153988" y="475810"/>
                  </a:lnTo>
                  <a:lnTo>
                    <a:pt x="150527" y="522838"/>
                  </a:lnTo>
                  <a:lnTo>
                    <a:pt x="142887" y="569690"/>
                  </a:lnTo>
                  <a:lnTo>
                    <a:pt x="131052" y="616072"/>
                  </a:lnTo>
                  <a:lnTo>
                    <a:pt x="115003" y="661689"/>
                  </a:lnTo>
                  <a:lnTo>
                    <a:pt x="94723" y="706247"/>
                  </a:lnTo>
                  <a:lnTo>
                    <a:pt x="70195" y="749450"/>
                  </a:lnTo>
                  <a:lnTo>
                    <a:pt x="41401" y="791006"/>
                  </a:lnTo>
                  <a:lnTo>
                    <a:pt x="77913" y="758211"/>
                  </a:lnTo>
                  <a:lnTo>
                    <a:pt x="110889" y="722999"/>
                  </a:lnTo>
                  <a:lnTo>
                    <a:pt x="140298" y="685635"/>
                  </a:lnTo>
                  <a:lnTo>
                    <a:pt x="166107" y="646382"/>
                  </a:lnTo>
                  <a:lnTo>
                    <a:pt x="188286" y="605503"/>
                  </a:lnTo>
                  <a:lnTo>
                    <a:pt x="206803" y="563261"/>
                  </a:lnTo>
                  <a:lnTo>
                    <a:pt x="221625" y="519920"/>
                  </a:lnTo>
                  <a:lnTo>
                    <a:pt x="232722" y="475741"/>
                  </a:lnTo>
                  <a:lnTo>
                    <a:pt x="240061" y="430990"/>
                  </a:lnTo>
                  <a:lnTo>
                    <a:pt x="243612" y="385928"/>
                  </a:lnTo>
                  <a:lnTo>
                    <a:pt x="243342" y="340819"/>
                  </a:lnTo>
                  <a:lnTo>
                    <a:pt x="239220" y="295926"/>
                  </a:lnTo>
                  <a:lnTo>
                    <a:pt x="231215" y="251513"/>
                  </a:lnTo>
                  <a:lnTo>
                    <a:pt x="219294" y="207842"/>
                  </a:lnTo>
                  <a:lnTo>
                    <a:pt x="203426" y="165177"/>
                  </a:lnTo>
                  <a:lnTo>
                    <a:pt x="183580" y="123780"/>
                  </a:lnTo>
                  <a:lnTo>
                    <a:pt x="159724" y="83916"/>
                  </a:lnTo>
                  <a:lnTo>
                    <a:pt x="131825" y="45846"/>
                  </a:lnTo>
                  <a:lnTo>
                    <a:pt x="100839" y="10949"/>
                  </a:lnTo>
                  <a:lnTo>
                    <a:pt x="89788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04408" y="5125973"/>
              <a:ext cx="946785" cy="1009650"/>
            </a:xfrm>
            <a:custGeom>
              <a:avLst/>
              <a:gdLst/>
              <a:ahLst/>
              <a:cxnLst/>
              <a:rect l="l" t="t" r="r" b="b"/>
              <a:pathLst>
                <a:path w="946784" h="1009650">
                  <a:moveTo>
                    <a:pt x="791337" y="747001"/>
                  </a:moveTo>
                  <a:lnTo>
                    <a:pt x="756072" y="780616"/>
                  </a:lnTo>
                  <a:lnTo>
                    <a:pt x="718578" y="810636"/>
                  </a:lnTo>
                  <a:lnTo>
                    <a:pt x="679123" y="837017"/>
                  </a:lnTo>
                  <a:lnTo>
                    <a:pt x="637975" y="859715"/>
                  </a:lnTo>
                  <a:lnTo>
                    <a:pt x="595399" y="878686"/>
                  </a:lnTo>
                  <a:lnTo>
                    <a:pt x="551664" y="893884"/>
                  </a:lnTo>
                  <a:lnTo>
                    <a:pt x="507037" y="905266"/>
                  </a:lnTo>
                  <a:lnTo>
                    <a:pt x="461786" y="912787"/>
                  </a:lnTo>
                  <a:lnTo>
                    <a:pt x="416176" y="916403"/>
                  </a:lnTo>
                  <a:lnTo>
                    <a:pt x="370477" y="916069"/>
                  </a:lnTo>
                  <a:lnTo>
                    <a:pt x="324955" y="911741"/>
                  </a:lnTo>
                  <a:lnTo>
                    <a:pt x="279878" y="903375"/>
                  </a:lnTo>
                  <a:lnTo>
                    <a:pt x="235513" y="890927"/>
                  </a:lnTo>
                  <a:lnTo>
                    <a:pt x="192126" y="874351"/>
                  </a:lnTo>
                  <a:lnTo>
                    <a:pt x="149987" y="853605"/>
                  </a:lnTo>
                  <a:lnTo>
                    <a:pt x="194817" y="807008"/>
                  </a:lnTo>
                  <a:lnTo>
                    <a:pt x="0" y="822807"/>
                  </a:lnTo>
                  <a:lnTo>
                    <a:pt x="15366" y="993419"/>
                  </a:lnTo>
                  <a:lnTo>
                    <a:pt x="60197" y="946810"/>
                  </a:lnTo>
                  <a:lnTo>
                    <a:pt x="102359" y="967557"/>
                  </a:lnTo>
                  <a:lnTo>
                    <a:pt x="145762" y="984132"/>
                  </a:lnTo>
                  <a:lnTo>
                    <a:pt x="190139" y="996581"/>
                  </a:lnTo>
                  <a:lnTo>
                    <a:pt x="235223" y="1004947"/>
                  </a:lnTo>
                  <a:lnTo>
                    <a:pt x="280749" y="1009274"/>
                  </a:lnTo>
                  <a:lnTo>
                    <a:pt x="326450" y="1009608"/>
                  </a:lnTo>
                  <a:lnTo>
                    <a:pt x="372060" y="1005992"/>
                  </a:lnTo>
                  <a:lnTo>
                    <a:pt x="417312" y="998471"/>
                  </a:lnTo>
                  <a:lnTo>
                    <a:pt x="461939" y="987089"/>
                  </a:lnTo>
                  <a:lnTo>
                    <a:pt x="505676" y="971891"/>
                  </a:lnTo>
                  <a:lnTo>
                    <a:pt x="548255" y="952921"/>
                  </a:lnTo>
                  <a:lnTo>
                    <a:pt x="589412" y="930223"/>
                  </a:lnTo>
                  <a:lnTo>
                    <a:pt x="628878" y="903841"/>
                  </a:lnTo>
                  <a:lnTo>
                    <a:pt x="666388" y="873821"/>
                  </a:lnTo>
                  <a:lnTo>
                    <a:pt x="701674" y="840206"/>
                  </a:lnTo>
                  <a:lnTo>
                    <a:pt x="791337" y="747001"/>
                  </a:lnTo>
                  <a:lnTo>
                    <a:pt x="823825" y="710207"/>
                  </a:lnTo>
                  <a:lnTo>
                    <a:pt x="852498" y="671451"/>
                  </a:lnTo>
                  <a:lnTo>
                    <a:pt x="877357" y="630998"/>
                  </a:lnTo>
                  <a:lnTo>
                    <a:pt x="898399" y="589112"/>
                  </a:lnTo>
                  <a:lnTo>
                    <a:pt x="915626" y="546055"/>
                  </a:lnTo>
                  <a:lnTo>
                    <a:pt x="929037" y="502094"/>
                  </a:lnTo>
                  <a:lnTo>
                    <a:pt x="938632" y="457490"/>
                  </a:lnTo>
                  <a:lnTo>
                    <a:pt x="944410" y="412509"/>
                  </a:lnTo>
                  <a:lnTo>
                    <a:pt x="946372" y="367414"/>
                  </a:lnTo>
                  <a:lnTo>
                    <a:pt x="944516" y="322469"/>
                  </a:lnTo>
                  <a:lnTo>
                    <a:pt x="938843" y="277939"/>
                  </a:lnTo>
                  <a:lnTo>
                    <a:pt x="929353" y="234086"/>
                  </a:lnTo>
                  <a:lnTo>
                    <a:pt x="916044" y="191176"/>
                  </a:lnTo>
                  <a:lnTo>
                    <a:pt x="898918" y="149473"/>
                  </a:lnTo>
                  <a:lnTo>
                    <a:pt x="877973" y="109239"/>
                  </a:lnTo>
                  <a:lnTo>
                    <a:pt x="853209" y="70740"/>
                  </a:lnTo>
                  <a:lnTo>
                    <a:pt x="824627" y="34239"/>
                  </a:lnTo>
                  <a:lnTo>
                    <a:pt x="792225" y="0"/>
                  </a:lnTo>
                  <a:lnTo>
                    <a:pt x="702437" y="93218"/>
                  </a:lnTo>
                  <a:lnTo>
                    <a:pt x="735793" y="128581"/>
                  </a:lnTo>
                  <a:lnTo>
                    <a:pt x="765129" y="166417"/>
                  </a:lnTo>
                  <a:lnTo>
                    <a:pt x="790427" y="206434"/>
                  </a:lnTo>
                  <a:lnTo>
                    <a:pt x="811668" y="248335"/>
                  </a:lnTo>
                  <a:lnTo>
                    <a:pt x="828837" y="291827"/>
                  </a:lnTo>
                  <a:lnTo>
                    <a:pt x="841914" y="336614"/>
                  </a:lnTo>
                  <a:lnTo>
                    <a:pt x="850883" y="382404"/>
                  </a:lnTo>
                  <a:lnTo>
                    <a:pt x="855726" y="428901"/>
                  </a:lnTo>
                  <a:lnTo>
                    <a:pt x="856425" y="475810"/>
                  </a:lnTo>
                  <a:lnTo>
                    <a:pt x="852964" y="522838"/>
                  </a:lnTo>
                  <a:lnTo>
                    <a:pt x="845324" y="569690"/>
                  </a:lnTo>
                  <a:lnTo>
                    <a:pt x="833489" y="616072"/>
                  </a:lnTo>
                  <a:lnTo>
                    <a:pt x="817440" y="661689"/>
                  </a:lnTo>
                  <a:lnTo>
                    <a:pt x="797160" y="706247"/>
                  </a:lnTo>
                  <a:lnTo>
                    <a:pt x="772632" y="749450"/>
                  </a:lnTo>
                  <a:lnTo>
                    <a:pt x="743838" y="791006"/>
                  </a:lnTo>
                </a:path>
              </a:pathLst>
            </a:custGeom>
            <a:ln w="19050">
              <a:solidFill>
                <a:srgbClr val="A15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349876" y="3009721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Cout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109333" y="2798564"/>
            <a:ext cx="194310" cy="116839"/>
            <a:chOff x="8585333" y="2798564"/>
            <a:chExt cx="194310" cy="116839"/>
          </a:xfrm>
        </p:grpSpPr>
        <p:sp>
          <p:nvSpPr>
            <p:cNvPr id="33" name="object 33"/>
            <p:cNvSpPr/>
            <p:nvPr/>
          </p:nvSpPr>
          <p:spPr>
            <a:xfrm>
              <a:off x="8585333" y="2876240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97066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672732" y="280820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5">
                  <a:moveTo>
                    <a:pt x="0" y="38930"/>
                  </a:moveTo>
                  <a:lnTo>
                    <a:pt x="3329" y="64336"/>
                  </a:lnTo>
                  <a:lnTo>
                    <a:pt x="12133" y="82461"/>
                  </a:lnTo>
                  <a:lnTo>
                    <a:pt x="24635" y="93323"/>
                  </a:lnTo>
                  <a:lnTo>
                    <a:pt x="39058" y="96940"/>
                  </a:lnTo>
                  <a:lnTo>
                    <a:pt x="64437" y="93323"/>
                  </a:lnTo>
                  <a:lnTo>
                    <a:pt x="82564" y="82461"/>
                  </a:lnTo>
                  <a:lnTo>
                    <a:pt x="93441" y="64336"/>
                  </a:lnTo>
                  <a:lnTo>
                    <a:pt x="97066" y="38930"/>
                  </a:lnTo>
                  <a:lnTo>
                    <a:pt x="93441" y="24554"/>
                  </a:lnTo>
                  <a:lnTo>
                    <a:pt x="82564" y="12093"/>
                  </a:lnTo>
                  <a:lnTo>
                    <a:pt x="64437" y="3318"/>
                  </a:lnTo>
                  <a:lnTo>
                    <a:pt x="39058" y="0"/>
                  </a:lnTo>
                  <a:lnTo>
                    <a:pt x="24635" y="3318"/>
                  </a:lnTo>
                  <a:lnTo>
                    <a:pt x="12133" y="12093"/>
                  </a:lnTo>
                  <a:lnTo>
                    <a:pt x="3329" y="24554"/>
                  </a:lnTo>
                  <a:lnTo>
                    <a:pt x="0" y="38930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009620" y="2562775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Vout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60108" y="2932034"/>
            <a:ext cx="988060" cy="4660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19760">
              <a:lnSpc>
                <a:spcPts val="1755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C1</a:t>
            </a:r>
            <a:endParaRPr sz="165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ts val="1755"/>
              </a:lnSpc>
            </a:pPr>
            <a:r>
              <a:rPr sz="2475" spc="82" baseline="-25000" dirty="0">
                <a:latin typeface="Courier New" panose="02070309020205020404"/>
                <a:cs typeface="Courier New" panose="02070309020205020404"/>
              </a:rPr>
              <a:t>Vin</a:t>
            </a:r>
            <a:r>
              <a:rPr sz="2475" spc="-254" baseline="-25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spc="45" dirty="0">
                <a:latin typeface="Courier New" panose="02070309020205020404"/>
                <a:cs typeface="Courier New" panose="02070309020205020404"/>
              </a:rPr>
              <a:t>1uF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003724" y="1768646"/>
            <a:ext cx="116839" cy="243204"/>
            <a:chOff x="7479724" y="1768646"/>
            <a:chExt cx="116839" cy="243204"/>
          </a:xfrm>
        </p:grpSpPr>
        <p:sp>
          <p:nvSpPr>
            <p:cNvPr id="38" name="object 38"/>
            <p:cNvSpPr/>
            <p:nvPr/>
          </p:nvSpPr>
          <p:spPr>
            <a:xfrm>
              <a:off x="7557044" y="1904332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h="97789">
                  <a:moveTo>
                    <a:pt x="0" y="0"/>
                  </a:moveTo>
                  <a:lnTo>
                    <a:pt x="0" y="97518"/>
                  </a:lnTo>
                </a:path>
              </a:pathLst>
            </a:custGeom>
            <a:ln w="19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9724" y="1768646"/>
              <a:ext cx="116355" cy="11622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922937" y="1493927"/>
            <a:ext cx="43307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VDD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023646" y="2137914"/>
            <a:ext cx="1213485" cy="2788920"/>
            <a:chOff x="6499646" y="2137914"/>
            <a:chExt cx="1213485" cy="2788920"/>
          </a:xfrm>
        </p:grpSpPr>
        <p:sp>
          <p:nvSpPr>
            <p:cNvPr id="42" name="object 42"/>
            <p:cNvSpPr/>
            <p:nvPr/>
          </p:nvSpPr>
          <p:spPr>
            <a:xfrm>
              <a:off x="7382633" y="4819477"/>
              <a:ext cx="330200" cy="97790"/>
            </a:xfrm>
            <a:custGeom>
              <a:avLst/>
              <a:gdLst/>
              <a:ahLst/>
              <a:cxnLst/>
              <a:rect l="l" t="t" r="r" b="b"/>
              <a:pathLst>
                <a:path w="330200" h="97789">
                  <a:moveTo>
                    <a:pt x="0" y="97479"/>
                  </a:moveTo>
                  <a:lnTo>
                    <a:pt x="329872" y="97479"/>
                  </a:lnTo>
                </a:path>
                <a:path w="330200" h="97789">
                  <a:moveTo>
                    <a:pt x="174410" y="97479"/>
                  </a:moveTo>
                  <a:lnTo>
                    <a:pt x="17441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09303" y="3711988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61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161"/>
                  </a:lnTo>
                  <a:lnTo>
                    <a:pt x="0" y="466161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87072" y="3614508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563640"/>
                  </a:moveTo>
                  <a:lnTo>
                    <a:pt x="0" y="661120"/>
                  </a:lnTo>
                </a:path>
                <a:path h="661670">
                  <a:moveTo>
                    <a:pt x="0" y="97479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79700" y="2234854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99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199"/>
                  </a:lnTo>
                  <a:lnTo>
                    <a:pt x="0" y="466199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57044" y="2137914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563139"/>
                  </a:moveTo>
                  <a:lnTo>
                    <a:pt x="0" y="660658"/>
                  </a:lnTo>
                </a:path>
                <a:path h="661035">
                  <a:moveTo>
                    <a:pt x="0" y="96940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07836" y="3186911"/>
              <a:ext cx="78105" cy="349885"/>
            </a:xfrm>
            <a:custGeom>
              <a:avLst/>
              <a:gdLst/>
              <a:ahLst/>
              <a:cxnLst/>
              <a:rect l="l" t="t" r="r" b="b"/>
              <a:pathLst>
                <a:path w="78104" h="349885">
                  <a:moveTo>
                    <a:pt x="77730" y="0"/>
                  </a:moveTo>
                  <a:lnTo>
                    <a:pt x="77730" y="349890"/>
                  </a:lnTo>
                  <a:lnTo>
                    <a:pt x="0" y="349890"/>
                  </a:lnTo>
                </a:path>
              </a:pathLst>
            </a:custGeom>
            <a:ln w="19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63297" y="3148367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h="447039">
                  <a:moveTo>
                    <a:pt x="0" y="446830"/>
                  </a:moveTo>
                  <a:lnTo>
                    <a:pt x="0" y="349832"/>
                  </a:lnTo>
                </a:path>
                <a:path h="447039">
                  <a:moveTo>
                    <a:pt x="0" y="272145"/>
                  </a:moveTo>
                  <a:lnTo>
                    <a:pt x="0" y="174665"/>
                  </a:lnTo>
                </a:path>
                <a:path h="447039">
                  <a:moveTo>
                    <a:pt x="0" y="96978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63297" y="3128516"/>
              <a:ext cx="194310" cy="466725"/>
            </a:xfrm>
            <a:custGeom>
              <a:avLst/>
              <a:gdLst/>
              <a:ahLst/>
              <a:cxnLst/>
              <a:rect l="l" t="t" r="r" b="b"/>
              <a:pathLst>
                <a:path w="194309" h="466725">
                  <a:moveTo>
                    <a:pt x="0" y="58395"/>
                  </a:moveTo>
                  <a:lnTo>
                    <a:pt x="193746" y="58395"/>
                  </a:lnTo>
                  <a:lnTo>
                    <a:pt x="193746" y="0"/>
                  </a:lnTo>
                </a:path>
                <a:path w="194309" h="466725">
                  <a:moveTo>
                    <a:pt x="0" y="233600"/>
                  </a:moveTo>
                  <a:lnTo>
                    <a:pt x="193746" y="233600"/>
                  </a:lnTo>
                  <a:lnTo>
                    <a:pt x="193746" y="466681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63297" y="353680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0" y="0"/>
                  </a:moveTo>
                  <a:lnTo>
                    <a:pt x="17441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97066" y="0"/>
                  </a:moveTo>
                  <a:lnTo>
                    <a:pt x="0" y="58395"/>
                  </a:lnTo>
                  <a:lnTo>
                    <a:pt x="97066" y="116790"/>
                  </a:lnTo>
                  <a:lnTo>
                    <a:pt x="9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0" y="58395"/>
                  </a:moveTo>
                  <a:lnTo>
                    <a:pt x="97066" y="0"/>
                  </a:lnTo>
                  <a:lnTo>
                    <a:pt x="97066" y="116790"/>
                  </a:lnTo>
                  <a:lnTo>
                    <a:pt x="0" y="58395"/>
                  </a:lnTo>
                  <a:close/>
                </a:path>
              </a:pathLst>
            </a:custGeom>
            <a:ln w="19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38672" y="0"/>
                  </a:move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0" y="38602"/>
                  </a:move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10672" y="3031576"/>
              <a:ext cx="446405" cy="661035"/>
            </a:xfrm>
            <a:custGeom>
              <a:avLst/>
              <a:gdLst/>
              <a:ahLst/>
              <a:cxnLst/>
              <a:rect l="l" t="t" r="r" b="b"/>
              <a:pathLst>
                <a:path w="446404" h="661035">
                  <a:moveTo>
                    <a:pt x="446371" y="96940"/>
                  </a:moveTo>
                  <a:lnTo>
                    <a:pt x="446371" y="0"/>
                  </a:lnTo>
                </a:path>
                <a:path w="446404" h="661035">
                  <a:moveTo>
                    <a:pt x="97163" y="505226"/>
                  </a:moveTo>
                  <a:lnTo>
                    <a:pt x="0" y="505226"/>
                  </a:lnTo>
                </a:path>
                <a:path w="446404" h="661035">
                  <a:moveTo>
                    <a:pt x="446371" y="563621"/>
                  </a:moveTo>
                  <a:lnTo>
                    <a:pt x="446371" y="660619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8983977" y="4994652"/>
            <a:ext cx="175260" cy="0"/>
          </a:xfrm>
          <a:custGeom>
            <a:avLst/>
            <a:gdLst/>
            <a:ahLst/>
            <a:cxnLst/>
            <a:rect l="l" t="t" r="r" b="b"/>
            <a:pathLst>
              <a:path w="175259">
                <a:moveTo>
                  <a:pt x="0" y="0"/>
                </a:moveTo>
                <a:lnTo>
                  <a:pt x="174797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042372" y="5072345"/>
            <a:ext cx="58419" cy="0"/>
          </a:xfrm>
          <a:custGeom>
            <a:avLst/>
            <a:gdLst/>
            <a:ahLst/>
            <a:cxnLst/>
            <a:rect l="l" t="t" r="r" b="b"/>
            <a:pathLst>
              <a:path w="58420">
                <a:moveTo>
                  <a:pt x="0" y="0"/>
                </a:moveTo>
                <a:lnTo>
                  <a:pt x="58008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243760" y="3806443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R2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252809" y="232977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214137" y="3301197"/>
            <a:ext cx="84010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70" dirty="0">
                <a:latin typeface="Courier New" panose="02070309020205020404"/>
                <a:cs typeface="Courier New" panose="02070309020205020404"/>
              </a:rPr>
              <a:t>N-</a:t>
            </a:r>
            <a:r>
              <a:rPr sz="1650" spc="50" dirty="0">
                <a:latin typeface="Courier New" panose="02070309020205020404"/>
                <a:cs typeface="Courier New" panose="02070309020205020404"/>
              </a:rPr>
              <a:t>EMOS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169014" y="3453371"/>
            <a:ext cx="1299210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baseline="-15000" dirty="0">
                <a:latin typeface="Courier New" panose="02070309020205020404"/>
                <a:cs typeface="Courier New" panose="02070309020205020404"/>
              </a:rPr>
              <a:t>RS</a:t>
            </a:r>
            <a:r>
              <a:rPr sz="2475" spc="375" baseline="-15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900" spc="-247" baseline="-16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650" spc="40" dirty="0">
                <a:latin typeface="Courier New" panose="02070309020205020404"/>
                <a:cs typeface="Courier New" panose="02070309020205020404"/>
              </a:rPr>
              <a:t>Cs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244585" y="5503570"/>
            <a:ext cx="164592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725" marR="5080" indent="-45466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AC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equivalent circuit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041394" y="5354523"/>
            <a:ext cx="193040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?????</a:t>
            </a:r>
            <a:endParaRPr sz="5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40" dirty="0"/>
              <a:t> </a:t>
            </a:r>
            <a:r>
              <a:rPr sz="3600" dirty="0"/>
              <a:t>–</a:t>
            </a:r>
            <a:r>
              <a:rPr sz="3600" spc="-30" dirty="0"/>
              <a:t> </a:t>
            </a:r>
            <a:r>
              <a:rPr sz="3600" dirty="0"/>
              <a:t>CS</a:t>
            </a:r>
            <a:r>
              <a:rPr sz="3600" spc="-30" dirty="0"/>
              <a:t> </a:t>
            </a:r>
            <a:r>
              <a:rPr sz="3600" dirty="0"/>
              <a:t>with</a:t>
            </a:r>
            <a:r>
              <a:rPr sz="3600" spc="-30" dirty="0"/>
              <a:t> </a:t>
            </a:r>
            <a:r>
              <a:rPr sz="3600" dirty="0"/>
              <a:t>voltage</a:t>
            </a:r>
            <a:r>
              <a:rPr sz="3600" spc="-20" dirty="0"/>
              <a:t> </a:t>
            </a:r>
            <a:r>
              <a:rPr sz="3600" dirty="0"/>
              <a:t>divider</a:t>
            </a:r>
            <a:r>
              <a:rPr sz="3600" spc="-20" dirty="0"/>
              <a:t> </a:t>
            </a:r>
            <a:r>
              <a:rPr sz="3600" dirty="0"/>
              <a:t>and</a:t>
            </a:r>
            <a:r>
              <a:rPr sz="3600" spc="-25" dirty="0"/>
              <a:t> </a:t>
            </a:r>
            <a:r>
              <a:rPr sz="3600" dirty="0"/>
              <a:t>wo.</a:t>
            </a:r>
            <a:r>
              <a:rPr sz="3600" spc="-30" dirty="0"/>
              <a:t> </a:t>
            </a:r>
            <a:r>
              <a:rPr sz="3600" spc="-25" dirty="0"/>
              <a:t>Cs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642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57531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81000" algn="l"/>
                <a:tab pos="458470" algn="l"/>
              </a:tabLst>
            </a:pPr>
            <a:r>
              <a:rPr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dirty="0"/>
              <a:t>Input</a:t>
            </a:r>
            <a:r>
              <a:rPr spc="-55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G</a:t>
            </a:r>
            <a:r>
              <a:rPr spc="-55" dirty="0"/>
              <a:t> </a:t>
            </a:r>
            <a:r>
              <a:rPr dirty="0"/>
              <a:t>terminal,</a:t>
            </a:r>
            <a:r>
              <a:rPr spc="-20" dirty="0"/>
              <a:t> </a:t>
            </a:r>
            <a:r>
              <a:rPr dirty="0"/>
              <a:t>output</a:t>
            </a:r>
            <a:r>
              <a:rPr spc="-50" dirty="0"/>
              <a:t> </a:t>
            </a:r>
            <a:r>
              <a:rPr dirty="0"/>
              <a:t>at</a:t>
            </a:r>
            <a:r>
              <a:rPr spc="-45" dirty="0"/>
              <a:t> </a:t>
            </a:r>
            <a:r>
              <a:rPr spc="-50" dirty="0"/>
              <a:t>D </a:t>
            </a:r>
            <a:r>
              <a:rPr dirty="0"/>
              <a:t>terminal</a:t>
            </a:r>
            <a:r>
              <a:rPr spc="-45" dirty="0"/>
              <a:t> </a:t>
            </a:r>
            <a:r>
              <a:rPr sz="2400" b="1" dirty="0">
                <a:latin typeface="Wingdings" panose="05000000000000000000"/>
                <a:cs typeface="Wingdings" panose="05000000000000000000"/>
              </a:rPr>
              <a:t></a:t>
            </a:r>
            <a:r>
              <a:rPr sz="2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Source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80365" algn="l"/>
              </a:tabLst>
            </a:pPr>
            <a:r>
              <a:rPr spc="-10" dirty="0"/>
              <a:t>Voltage</a:t>
            </a:r>
            <a:r>
              <a:rPr spc="-135" dirty="0"/>
              <a:t> </a:t>
            </a:r>
            <a:r>
              <a:rPr spc="-10" dirty="0"/>
              <a:t>divider</a:t>
            </a:r>
          </a:p>
          <a:p>
            <a:pPr marL="381000" marR="30480" indent="-342900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81000" algn="l"/>
              </a:tabLst>
            </a:pPr>
            <a:r>
              <a:rPr dirty="0"/>
              <a:t>S</a:t>
            </a:r>
            <a:r>
              <a:rPr spc="-60" dirty="0"/>
              <a:t> </a:t>
            </a:r>
            <a:r>
              <a:rPr dirty="0"/>
              <a:t>terminal</a:t>
            </a:r>
            <a:r>
              <a:rPr spc="-4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connected</a:t>
            </a:r>
            <a:r>
              <a:rPr spc="-55" dirty="0"/>
              <a:t> </a:t>
            </a:r>
            <a:r>
              <a:rPr dirty="0"/>
              <a:t>to</a:t>
            </a:r>
            <a:r>
              <a:rPr spc="-40" dirty="0"/>
              <a:t> ONLY</a:t>
            </a:r>
            <a:r>
              <a:rPr spc="-80" dirty="0"/>
              <a:t> </a:t>
            </a:r>
            <a:r>
              <a:rPr spc="-25" dirty="0"/>
              <a:t>Rs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>
                <a:solidFill>
                  <a:srgbClr val="FF0000"/>
                </a:solidFill>
              </a:rPr>
              <a:t>REMOVE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/>
              <a:t>bypass-</a:t>
            </a:r>
            <a:r>
              <a:rPr dirty="0"/>
              <a:t>capacitor</a:t>
            </a:r>
            <a:r>
              <a:rPr spc="-50" dirty="0"/>
              <a:t> </a:t>
            </a:r>
            <a:r>
              <a:rPr spc="-25" dirty="0"/>
              <a:t>C</a:t>
            </a:r>
            <a:r>
              <a:rPr sz="2175" spc="-37" baseline="-21000" dirty="0"/>
              <a:t>S</a:t>
            </a:r>
            <a:endParaRPr sz="2175" baseline="-21000"/>
          </a:p>
        </p:txBody>
      </p:sp>
      <p:sp>
        <p:nvSpPr>
          <p:cNvPr id="5" name="object 5"/>
          <p:cNvSpPr txBox="1"/>
          <p:nvPr/>
        </p:nvSpPr>
        <p:spPr>
          <a:xfrm>
            <a:off x="8379479" y="3262190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G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6534" y="2737691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D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45206" y="3689748"/>
            <a:ext cx="177800" cy="316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50" dirty="0">
                <a:latin typeface="Courier New" panose="02070309020205020404"/>
                <a:cs typeface="Courier New" panose="02070309020205020404"/>
              </a:rPr>
              <a:t>S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74233" y="1952885"/>
            <a:ext cx="2367915" cy="2974340"/>
            <a:chOff x="6150233" y="1952885"/>
            <a:chExt cx="2367915" cy="2974340"/>
          </a:xfrm>
        </p:grpSpPr>
        <p:sp>
          <p:nvSpPr>
            <p:cNvPr id="9" name="object 9"/>
            <p:cNvSpPr/>
            <p:nvPr/>
          </p:nvSpPr>
          <p:spPr>
            <a:xfrm>
              <a:off x="6276478" y="1962728"/>
              <a:ext cx="2095500" cy="2837815"/>
            </a:xfrm>
            <a:custGeom>
              <a:avLst/>
              <a:gdLst/>
              <a:ahLst/>
              <a:cxnLst/>
              <a:rect l="l" t="t" r="r" b="b"/>
              <a:pathLst>
                <a:path w="2095500" h="2837815">
                  <a:moveTo>
                    <a:pt x="0" y="1574073"/>
                  </a:moveTo>
                  <a:lnTo>
                    <a:pt x="19336" y="1574073"/>
                  </a:lnTo>
                </a:path>
                <a:path w="2095500" h="2837815">
                  <a:moveTo>
                    <a:pt x="1280565" y="58395"/>
                  </a:moveTo>
                  <a:lnTo>
                    <a:pt x="1280565" y="19272"/>
                  </a:lnTo>
                </a:path>
                <a:path w="2095500" h="2837815">
                  <a:moveTo>
                    <a:pt x="1280565" y="0"/>
                  </a:moveTo>
                  <a:lnTo>
                    <a:pt x="329910" y="0"/>
                  </a:lnTo>
                </a:path>
                <a:path w="2095500" h="2837815">
                  <a:moveTo>
                    <a:pt x="310594" y="0"/>
                  </a:moveTo>
                  <a:lnTo>
                    <a:pt x="310594" y="233003"/>
                  </a:lnTo>
                </a:path>
                <a:path w="2095500" h="2837815">
                  <a:moveTo>
                    <a:pt x="310594" y="952056"/>
                  </a:moveTo>
                  <a:lnTo>
                    <a:pt x="310594" y="1554782"/>
                  </a:lnTo>
                </a:path>
                <a:path w="2095500" h="2837815">
                  <a:moveTo>
                    <a:pt x="2095384" y="2060027"/>
                  </a:moveTo>
                  <a:lnTo>
                    <a:pt x="2095384" y="1865549"/>
                  </a:lnTo>
                </a:path>
                <a:path w="2095500" h="2837815">
                  <a:moveTo>
                    <a:pt x="2095384" y="1846258"/>
                  </a:moveTo>
                  <a:lnTo>
                    <a:pt x="1299901" y="1846258"/>
                  </a:lnTo>
                </a:path>
                <a:path w="2095500" h="2837815">
                  <a:moveTo>
                    <a:pt x="1280565" y="1846258"/>
                  </a:moveTo>
                  <a:lnTo>
                    <a:pt x="1280565" y="1943256"/>
                  </a:lnTo>
                </a:path>
                <a:path w="2095500" h="2837815">
                  <a:moveTo>
                    <a:pt x="2095384" y="2409898"/>
                  </a:moveTo>
                  <a:lnTo>
                    <a:pt x="2095384" y="2740459"/>
                  </a:lnTo>
                </a:path>
                <a:path w="2095500" h="2837815">
                  <a:moveTo>
                    <a:pt x="2095384" y="2759751"/>
                  </a:moveTo>
                  <a:lnTo>
                    <a:pt x="1299901" y="2759751"/>
                  </a:lnTo>
                </a:path>
                <a:path w="2095500" h="2837815">
                  <a:moveTo>
                    <a:pt x="1280565" y="2759751"/>
                  </a:moveTo>
                  <a:lnTo>
                    <a:pt x="1280565" y="2818146"/>
                  </a:lnTo>
                </a:path>
                <a:path w="2095500" h="2837815">
                  <a:moveTo>
                    <a:pt x="1280565" y="2837457"/>
                  </a:moveTo>
                  <a:lnTo>
                    <a:pt x="1280565" y="2682063"/>
                  </a:lnTo>
                </a:path>
                <a:path w="2095500" h="2837815">
                  <a:moveTo>
                    <a:pt x="1280565" y="1963029"/>
                  </a:moveTo>
                  <a:lnTo>
                    <a:pt x="1280565" y="1768551"/>
                  </a:lnTo>
                </a:path>
                <a:path w="2095500" h="2837815">
                  <a:moveTo>
                    <a:pt x="310594" y="2332192"/>
                  </a:moveTo>
                  <a:lnTo>
                    <a:pt x="310594" y="2818146"/>
                  </a:lnTo>
                </a:path>
                <a:path w="2095500" h="2837815">
                  <a:moveTo>
                    <a:pt x="1649109" y="913512"/>
                  </a:moveTo>
                  <a:lnTo>
                    <a:pt x="1299901" y="9135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05471" y="3527173"/>
              <a:ext cx="291262" cy="680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60076" y="2021123"/>
              <a:ext cx="1397000" cy="1652270"/>
            </a:xfrm>
            <a:custGeom>
              <a:avLst/>
              <a:gdLst/>
              <a:ahLst/>
              <a:cxnLst/>
              <a:rect l="l" t="t" r="r" b="b"/>
              <a:pathLst>
                <a:path w="1397000" h="1652270">
                  <a:moveTo>
                    <a:pt x="155055" y="1515678"/>
                  </a:moveTo>
                  <a:lnTo>
                    <a:pt x="911943" y="1515678"/>
                  </a:lnTo>
                </a:path>
                <a:path w="1397000" h="1652270">
                  <a:moveTo>
                    <a:pt x="1396968" y="0"/>
                  </a:moveTo>
                  <a:lnTo>
                    <a:pt x="1396968" y="77667"/>
                  </a:lnTo>
                </a:path>
                <a:path w="1397000" h="1652270">
                  <a:moveTo>
                    <a:pt x="1396968" y="796721"/>
                  </a:moveTo>
                  <a:lnTo>
                    <a:pt x="1396968" y="971907"/>
                  </a:lnTo>
                </a:path>
                <a:path w="1397000" h="1652270">
                  <a:moveTo>
                    <a:pt x="0" y="1360304"/>
                  </a:moveTo>
                  <a:lnTo>
                    <a:pt x="0" y="1651780"/>
                  </a:lnTo>
                </a:path>
                <a:path w="1397000" h="1652270">
                  <a:moveTo>
                    <a:pt x="0" y="1515678"/>
                  </a:moveTo>
                  <a:lnTo>
                    <a:pt x="97086" y="151567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09303" y="2331794"/>
              <a:ext cx="155575" cy="467359"/>
            </a:xfrm>
            <a:custGeom>
              <a:avLst/>
              <a:gdLst/>
              <a:ahLst/>
              <a:cxnLst/>
              <a:rect l="l" t="t" r="r" b="b"/>
              <a:pathLst>
                <a:path w="155575" h="467360">
                  <a:moveTo>
                    <a:pt x="0" y="466777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777"/>
                  </a:lnTo>
                  <a:lnTo>
                    <a:pt x="0" y="466777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12217" y="2234854"/>
              <a:ext cx="2096135" cy="2682240"/>
            </a:xfrm>
            <a:custGeom>
              <a:avLst/>
              <a:gdLst/>
              <a:ahLst/>
              <a:cxnLst/>
              <a:rect l="l" t="t" r="r" b="b"/>
              <a:pathLst>
                <a:path w="2096134" h="2682240">
                  <a:moveTo>
                    <a:pt x="174855" y="563717"/>
                  </a:moveTo>
                  <a:lnTo>
                    <a:pt x="174855" y="660658"/>
                  </a:lnTo>
                </a:path>
                <a:path w="2096134" h="2682240">
                  <a:moveTo>
                    <a:pt x="174855" y="96940"/>
                  </a:moveTo>
                  <a:lnTo>
                    <a:pt x="174855" y="0"/>
                  </a:lnTo>
                </a:path>
                <a:path w="2096134" h="2682240">
                  <a:moveTo>
                    <a:pt x="0" y="2682102"/>
                  </a:moveTo>
                  <a:lnTo>
                    <a:pt x="329910" y="2682102"/>
                  </a:lnTo>
                </a:path>
                <a:path w="2096134" h="2682240">
                  <a:moveTo>
                    <a:pt x="174855" y="2682102"/>
                  </a:moveTo>
                  <a:lnTo>
                    <a:pt x="174855" y="2584622"/>
                  </a:lnTo>
                </a:path>
                <a:path w="2096134" h="2682240">
                  <a:moveTo>
                    <a:pt x="1804571" y="2020981"/>
                  </a:moveTo>
                  <a:lnTo>
                    <a:pt x="2095771" y="2020981"/>
                  </a:lnTo>
                </a:path>
                <a:path w="2096134" h="2682240">
                  <a:moveTo>
                    <a:pt x="1804571" y="1904692"/>
                  </a:moveTo>
                  <a:lnTo>
                    <a:pt x="2095771" y="1904692"/>
                  </a:lnTo>
                </a:path>
                <a:path w="2096134" h="2682240">
                  <a:moveTo>
                    <a:pt x="1959646" y="2020981"/>
                  </a:moveTo>
                  <a:lnTo>
                    <a:pt x="1959646" y="2118461"/>
                  </a:lnTo>
                </a:path>
                <a:path w="2096134" h="2682240">
                  <a:moveTo>
                    <a:pt x="1959646" y="1904692"/>
                  </a:moveTo>
                  <a:lnTo>
                    <a:pt x="1959646" y="1807212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79700" y="4042067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642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642"/>
                  </a:lnTo>
                  <a:lnTo>
                    <a:pt x="0" y="466642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7044" y="2720712"/>
              <a:ext cx="485775" cy="1885314"/>
            </a:xfrm>
            <a:custGeom>
              <a:avLst/>
              <a:gdLst/>
              <a:ahLst/>
              <a:cxnLst/>
              <a:rect l="l" t="t" r="r" b="b"/>
              <a:pathLst>
                <a:path w="485775" h="1885314">
                  <a:moveTo>
                    <a:pt x="0" y="1787997"/>
                  </a:moveTo>
                  <a:lnTo>
                    <a:pt x="0" y="1884995"/>
                  </a:lnTo>
                </a:path>
                <a:path w="485775" h="1885314">
                  <a:moveTo>
                    <a:pt x="0" y="1321354"/>
                  </a:moveTo>
                  <a:lnTo>
                    <a:pt x="0" y="1224356"/>
                  </a:lnTo>
                </a:path>
                <a:path w="485775" h="1885314">
                  <a:moveTo>
                    <a:pt x="485333" y="0"/>
                  </a:moveTo>
                  <a:lnTo>
                    <a:pt x="485333" y="291591"/>
                  </a:lnTo>
                </a:path>
                <a:path w="485775" h="1885314">
                  <a:moveTo>
                    <a:pt x="485333" y="155528"/>
                  </a:moveTo>
                  <a:lnTo>
                    <a:pt x="388266" y="15552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9672938" y="2710869"/>
            <a:ext cx="407670" cy="311785"/>
            <a:chOff x="8148938" y="2710869"/>
            <a:chExt cx="407670" cy="311785"/>
          </a:xfrm>
        </p:grpSpPr>
        <p:sp>
          <p:nvSpPr>
            <p:cNvPr id="17" name="object 17"/>
            <p:cNvSpPr/>
            <p:nvPr/>
          </p:nvSpPr>
          <p:spPr>
            <a:xfrm>
              <a:off x="8216788" y="2876240"/>
              <a:ext cx="58419" cy="0"/>
            </a:xfrm>
            <a:custGeom>
              <a:avLst/>
              <a:gdLst/>
              <a:ahLst/>
              <a:cxnLst/>
              <a:rect l="l" t="t" r="r" b="b"/>
              <a:pathLst>
                <a:path w="58420">
                  <a:moveTo>
                    <a:pt x="58394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87792" y="2866611"/>
              <a:ext cx="19685" cy="19685"/>
            </a:xfrm>
            <a:custGeom>
              <a:avLst/>
              <a:gdLst/>
              <a:ahLst/>
              <a:cxnLst/>
              <a:rect l="l" t="t" r="r" b="b"/>
              <a:pathLst>
                <a:path w="19684" h="19685">
                  <a:moveTo>
                    <a:pt x="0" y="9628"/>
                  </a:moveTo>
                  <a:lnTo>
                    <a:pt x="2829" y="2820"/>
                  </a:lnTo>
                  <a:lnTo>
                    <a:pt x="9660" y="0"/>
                  </a:lnTo>
                  <a:lnTo>
                    <a:pt x="16491" y="2820"/>
                  </a:lnTo>
                  <a:lnTo>
                    <a:pt x="19320" y="9628"/>
                  </a:lnTo>
                  <a:lnTo>
                    <a:pt x="16491" y="16437"/>
                  </a:lnTo>
                  <a:lnTo>
                    <a:pt x="9660" y="19257"/>
                  </a:lnTo>
                  <a:lnTo>
                    <a:pt x="2829" y="16437"/>
                  </a:lnTo>
                  <a:lnTo>
                    <a:pt x="0" y="9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58780" y="2720712"/>
              <a:ext cx="387985" cy="292100"/>
            </a:xfrm>
            <a:custGeom>
              <a:avLst/>
              <a:gdLst/>
              <a:ahLst/>
              <a:cxnLst/>
              <a:rect l="l" t="t" r="r" b="b"/>
              <a:pathLst>
                <a:path w="387984" h="292100">
                  <a:moveTo>
                    <a:pt x="38672" y="155528"/>
                  </a:moveTo>
                  <a:lnTo>
                    <a:pt x="387880" y="155528"/>
                  </a:lnTo>
                </a:path>
                <a:path w="387984" h="292100">
                  <a:moveTo>
                    <a:pt x="0" y="0"/>
                  </a:moveTo>
                  <a:lnTo>
                    <a:pt x="0" y="291591"/>
                  </a:lnTo>
                </a:path>
                <a:path w="387984" h="292100">
                  <a:moveTo>
                    <a:pt x="0" y="155528"/>
                  </a:moveTo>
                  <a:lnTo>
                    <a:pt x="96680" y="155528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043613" y="3381428"/>
            <a:ext cx="534035" cy="292100"/>
            <a:chOff x="5519613" y="3381428"/>
            <a:chExt cx="534035" cy="292100"/>
          </a:xfrm>
        </p:grpSpPr>
        <p:sp>
          <p:nvSpPr>
            <p:cNvPr id="21" name="object 21"/>
            <p:cNvSpPr/>
            <p:nvPr/>
          </p:nvSpPr>
          <p:spPr>
            <a:xfrm>
              <a:off x="5655328" y="3381428"/>
              <a:ext cx="388620" cy="292100"/>
            </a:xfrm>
            <a:custGeom>
              <a:avLst/>
              <a:gdLst/>
              <a:ahLst/>
              <a:cxnLst/>
              <a:rect l="l" t="t" r="r" b="b"/>
              <a:pathLst>
                <a:path w="388620" h="292100">
                  <a:moveTo>
                    <a:pt x="116402" y="155374"/>
                  </a:moveTo>
                  <a:lnTo>
                    <a:pt x="252624" y="155374"/>
                  </a:lnTo>
                </a:path>
                <a:path w="388620" h="292100">
                  <a:moveTo>
                    <a:pt x="388344" y="0"/>
                  </a:moveTo>
                  <a:lnTo>
                    <a:pt x="388344" y="291475"/>
                  </a:lnTo>
                </a:path>
                <a:path w="388620" h="292100">
                  <a:moveTo>
                    <a:pt x="388344" y="155374"/>
                  </a:moveTo>
                  <a:lnTo>
                    <a:pt x="291258" y="155374"/>
                  </a:lnTo>
                </a:path>
                <a:path w="388620" h="292100">
                  <a:moveTo>
                    <a:pt x="0" y="155374"/>
                  </a:moveTo>
                  <a:lnTo>
                    <a:pt x="97086" y="155374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613" y="3459126"/>
              <a:ext cx="116375" cy="11676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243760" y="230992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R1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013986" y="4994652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72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7318883" y="5062716"/>
            <a:ext cx="965835" cy="1082675"/>
            <a:chOff x="5794883" y="5062716"/>
            <a:chExt cx="965835" cy="1082675"/>
          </a:xfrm>
        </p:grpSpPr>
        <p:sp>
          <p:nvSpPr>
            <p:cNvPr id="26" name="object 26"/>
            <p:cNvSpPr/>
            <p:nvPr/>
          </p:nvSpPr>
          <p:spPr>
            <a:xfrm>
              <a:off x="6547937" y="5072344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4">
                  <a:moveTo>
                    <a:pt x="0" y="0"/>
                  </a:moveTo>
                  <a:lnTo>
                    <a:pt x="58452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04408" y="5872975"/>
              <a:ext cx="791845" cy="262890"/>
            </a:xfrm>
            <a:custGeom>
              <a:avLst/>
              <a:gdLst/>
              <a:ahLst/>
              <a:cxnLst/>
              <a:rect l="l" t="t" r="r" b="b"/>
              <a:pathLst>
                <a:path w="791845" h="262889">
                  <a:moveTo>
                    <a:pt x="791337" y="0"/>
                  </a:moveTo>
                  <a:lnTo>
                    <a:pt x="756072" y="33614"/>
                  </a:lnTo>
                  <a:lnTo>
                    <a:pt x="718578" y="63635"/>
                  </a:lnTo>
                  <a:lnTo>
                    <a:pt x="679123" y="90016"/>
                  </a:lnTo>
                  <a:lnTo>
                    <a:pt x="637975" y="112714"/>
                  </a:lnTo>
                  <a:lnTo>
                    <a:pt x="595399" y="131684"/>
                  </a:lnTo>
                  <a:lnTo>
                    <a:pt x="551664" y="146883"/>
                  </a:lnTo>
                  <a:lnTo>
                    <a:pt x="507037" y="158264"/>
                  </a:lnTo>
                  <a:lnTo>
                    <a:pt x="461786" y="165785"/>
                  </a:lnTo>
                  <a:lnTo>
                    <a:pt x="416176" y="169401"/>
                  </a:lnTo>
                  <a:lnTo>
                    <a:pt x="370477" y="169068"/>
                  </a:lnTo>
                  <a:lnTo>
                    <a:pt x="324955" y="164740"/>
                  </a:lnTo>
                  <a:lnTo>
                    <a:pt x="279878" y="156374"/>
                  </a:lnTo>
                  <a:lnTo>
                    <a:pt x="235513" y="143926"/>
                  </a:lnTo>
                  <a:lnTo>
                    <a:pt x="192126" y="127350"/>
                  </a:lnTo>
                  <a:lnTo>
                    <a:pt x="149987" y="106603"/>
                  </a:lnTo>
                  <a:lnTo>
                    <a:pt x="194817" y="60007"/>
                  </a:lnTo>
                  <a:lnTo>
                    <a:pt x="0" y="75806"/>
                  </a:lnTo>
                  <a:lnTo>
                    <a:pt x="15366" y="246418"/>
                  </a:lnTo>
                  <a:lnTo>
                    <a:pt x="60197" y="199809"/>
                  </a:lnTo>
                  <a:lnTo>
                    <a:pt x="102359" y="220555"/>
                  </a:lnTo>
                  <a:lnTo>
                    <a:pt x="145762" y="237131"/>
                  </a:lnTo>
                  <a:lnTo>
                    <a:pt x="190139" y="249579"/>
                  </a:lnTo>
                  <a:lnTo>
                    <a:pt x="235223" y="257945"/>
                  </a:lnTo>
                  <a:lnTo>
                    <a:pt x="280749" y="262273"/>
                  </a:lnTo>
                  <a:lnTo>
                    <a:pt x="326450" y="262607"/>
                  </a:lnTo>
                  <a:lnTo>
                    <a:pt x="372060" y="258991"/>
                  </a:lnTo>
                  <a:lnTo>
                    <a:pt x="417312" y="251470"/>
                  </a:lnTo>
                  <a:lnTo>
                    <a:pt x="461939" y="240088"/>
                  </a:lnTo>
                  <a:lnTo>
                    <a:pt x="505676" y="224890"/>
                  </a:lnTo>
                  <a:lnTo>
                    <a:pt x="548255" y="205919"/>
                  </a:lnTo>
                  <a:lnTo>
                    <a:pt x="589412" y="183221"/>
                  </a:lnTo>
                  <a:lnTo>
                    <a:pt x="628878" y="156840"/>
                  </a:lnTo>
                  <a:lnTo>
                    <a:pt x="666388" y="126820"/>
                  </a:lnTo>
                  <a:lnTo>
                    <a:pt x="701674" y="93205"/>
                  </a:lnTo>
                  <a:lnTo>
                    <a:pt x="7913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06845" y="5125973"/>
              <a:ext cx="243840" cy="791210"/>
            </a:xfrm>
            <a:custGeom>
              <a:avLst/>
              <a:gdLst/>
              <a:ahLst/>
              <a:cxnLst/>
              <a:rect l="l" t="t" r="r" b="b"/>
              <a:pathLst>
                <a:path w="243840" h="791210">
                  <a:moveTo>
                    <a:pt x="89788" y="0"/>
                  </a:moveTo>
                  <a:lnTo>
                    <a:pt x="0" y="93218"/>
                  </a:lnTo>
                  <a:lnTo>
                    <a:pt x="33356" y="128581"/>
                  </a:lnTo>
                  <a:lnTo>
                    <a:pt x="62692" y="166417"/>
                  </a:lnTo>
                  <a:lnTo>
                    <a:pt x="87990" y="206434"/>
                  </a:lnTo>
                  <a:lnTo>
                    <a:pt x="109231" y="248335"/>
                  </a:lnTo>
                  <a:lnTo>
                    <a:pt x="126400" y="291827"/>
                  </a:lnTo>
                  <a:lnTo>
                    <a:pt x="139477" y="336614"/>
                  </a:lnTo>
                  <a:lnTo>
                    <a:pt x="148446" y="382404"/>
                  </a:lnTo>
                  <a:lnTo>
                    <a:pt x="153289" y="428901"/>
                  </a:lnTo>
                  <a:lnTo>
                    <a:pt x="153988" y="475810"/>
                  </a:lnTo>
                  <a:lnTo>
                    <a:pt x="150527" y="522838"/>
                  </a:lnTo>
                  <a:lnTo>
                    <a:pt x="142887" y="569690"/>
                  </a:lnTo>
                  <a:lnTo>
                    <a:pt x="131052" y="616072"/>
                  </a:lnTo>
                  <a:lnTo>
                    <a:pt x="115003" y="661689"/>
                  </a:lnTo>
                  <a:lnTo>
                    <a:pt x="94723" y="706247"/>
                  </a:lnTo>
                  <a:lnTo>
                    <a:pt x="70195" y="749450"/>
                  </a:lnTo>
                  <a:lnTo>
                    <a:pt x="41401" y="791006"/>
                  </a:lnTo>
                  <a:lnTo>
                    <a:pt x="77913" y="758211"/>
                  </a:lnTo>
                  <a:lnTo>
                    <a:pt x="110889" y="722999"/>
                  </a:lnTo>
                  <a:lnTo>
                    <a:pt x="140298" y="685635"/>
                  </a:lnTo>
                  <a:lnTo>
                    <a:pt x="166107" y="646382"/>
                  </a:lnTo>
                  <a:lnTo>
                    <a:pt x="188286" y="605503"/>
                  </a:lnTo>
                  <a:lnTo>
                    <a:pt x="206803" y="563261"/>
                  </a:lnTo>
                  <a:lnTo>
                    <a:pt x="221625" y="519920"/>
                  </a:lnTo>
                  <a:lnTo>
                    <a:pt x="232722" y="475741"/>
                  </a:lnTo>
                  <a:lnTo>
                    <a:pt x="240061" y="430990"/>
                  </a:lnTo>
                  <a:lnTo>
                    <a:pt x="243612" y="385928"/>
                  </a:lnTo>
                  <a:lnTo>
                    <a:pt x="243342" y="340819"/>
                  </a:lnTo>
                  <a:lnTo>
                    <a:pt x="239220" y="295926"/>
                  </a:lnTo>
                  <a:lnTo>
                    <a:pt x="231215" y="251513"/>
                  </a:lnTo>
                  <a:lnTo>
                    <a:pt x="219294" y="207842"/>
                  </a:lnTo>
                  <a:lnTo>
                    <a:pt x="203426" y="165177"/>
                  </a:lnTo>
                  <a:lnTo>
                    <a:pt x="183580" y="123780"/>
                  </a:lnTo>
                  <a:lnTo>
                    <a:pt x="159724" y="83916"/>
                  </a:lnTo>
                  <a:lnTo>
                    <a:pt x="131825" y="45846"/>
                  </a:lnTo>
                  <a:lnTo>
                    <a:pt x="100839" y="10949"/>
                  </a:lnTo>
                  <a:lnTo>
                    <a:pt x="89788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04408" y="5125973"/>
              <a:ext cx="946785" cy="1009650"/>
            </a:xfrm>
            <a:custGeom>
              <a:avLst/>
              <a:gdLst/>
              <a:ahLst/>
              <a:cxnLst/>
              <a:rect l="l" t="t" r="r" b="b"/>
              <a:pathLst>
                <a:path w="946784" h="1009650">
                  <a:moveTo>
                    <a:pt x="791337" y="747001"/>
                  </a:moveTo>
                  <a:lnTo>
                    <a:pt x="756072" y="780616"/>
                  </a:lnTo>
                  <a:lnTo>
                    <a:pt x="718578" y="810636"/>
                  </a:lnTo>
                  <a:lnTo>
                    <a:pt x="679123" y="837017"/>
                  </a:lnTo>
                  <a:lnTo>
                    <a:pt x="637975" y="859715"/>
                  </a:lnTo>
                  <a:lnTo>
                    <a:pt x="595399" y="878686"/>
                  </a:lnTo>
                  <a:lnTo>
                    <a:pt x="551664" y="893884"/>
                  </a:lnTo>
                  <a:lnTo>
                    <a:pt x="507037" y="905266"/>
                  </a:lnTo>
                  <a:lnTo>
                    <a:pt x="461786" y="912787"/>
                  </a:lnTo>
                  <a:lnTo>
                    <a:pt x="416176" y="916403"/>
                  </a:lnTo>
                  <a:lnTo>
                    <a:pt x="370477" y="916069"/>
                  </a:lnTo>
                  <a:lnTo>
                    <a:pt x="324955" y="911741"/>
                  </a:lnTo>
                  <a:lnTo>
                    <a:pt x="279878" y="903375"/>
                  </a:lnTo>
                  <a:lnTo>
                    <a:pt x="235513" y="890927"/>
                  </a:lnTo>
                  <a:lnTo>
                    <a:pt x="192126" y="874351"/>
                  </a:lnTo>
                  <a:lnTo>
                    <a:pt x="149987" y="853605"/>
                  </a:lnTo>
                  <a:lnTo>
                    <a:pt x="194817" y="807008"/>
                  </a:lnTo>
                  <a:lnTo>
                    <a:pt x="0" y="822807"/>
                  </a:lnTo>
                  <a:lnTo>
                    <a:pt x="15366" y="993419"/>
                  </a:lnTo>
                  <a:lnTo>
                    <a:pt x="60197" y="946810"/>
                  </a:lnTo>
                  <a:lnTo>
                    <a:pt x="102359" y="967557"/>
                  </a:lnTo>
                  <a:lnTo>
                    <a:pt x="145762" y="984132"/>
                  </a:lnTo>
                  <a:lnTo>
                    <a:pt x="190139" y="996581"/>
                  </a:lnTo>
                  <a:lnTo>
                    <a:pt x="235223" y="1004947"/>
                  </a:lnTo>
                  <a:lnTo>
                    <a:pt x="280749" y="1009274"/>
                  </a:lnTo>
                  <a:lnTo>
                    <a:pt x="326450" y="1009608"/>
                  </a:lnTo>
                  <a:lnTo>
                    <a:pt x="372060" y="1005992"/>
                  </a:lnTo>
                  <a:lnTo>
                    <a:pt x="417312" y="998471"/>
                  </a:lnTo>
                  <a:lnTo>
                    <a:pt x="461939" y="987089"/>
                  </a:lnTo>
                  <a:lnTo>
                    <a:pt x="505676" y="971891"/>
                  </a:lnTo>
                  <a:lnTo>
                    <a:pt x="548255" y="952921"/>
                  </a:lnTo>
                  <a:lnTo>
                    <a:pt x="589412" y="930223"/>
                  </a:lnTo>
                  <a:lnTo>
                    <a:pt x="628878" y="903841"/>
                  </a:lnTo>
                  <a:lnTo>
                    <a:pt x="666388" y="873821"/>
                  </a:lnTo>
                  <a:lnTo>
                    <a:pt x="701674" y="840206"/>
                  </a:lnTo>
                  <a:lnTo>
                    <a:pt x="791337" y="747001"/>
                  </a:lnTo>
                  <a:lnTo>
                    <a:pt x="823825" y="710207"/>
                  </a:lnTo>
                  <a:lnTo>
                    <a:pt x="852498" y="671451"/>
                  </a:lnTo>
                  <a:lnTo>
                    <a:pt x="877357" y="630998"/>
                  </a:lnTo>
                  <a:lnTo>
                    <a:pt x="898399" y="589112"/>
                  </a:lnTo>
                  <a:lnTo>
                    <a:pt x="915626" y="546055"/>
                  </a:lnTo>
                  <a:lnTo>
                    <a:pt x="929037" y="502094"/>
                  </a:lnTo>
                  <a:lnTo>
                    <a:pt x="938632" y="457490"/>
                  </a:lnTo>
                  <a:lnTo>
                    <a:pt x="944410" y="412509"/>
                  </a:lnTo>
                  <a:lnTo>
                    <a:pt x="946372" y="367414"/>
                  </a:lnTo>
                  <a:lnTo>
                    <a:pt x="944516" y="322469"/>
                  </a:lnTo>
                  <a:lnTo>
                    <a:pt x="938843" y="277939"/>
                  </a:lnTo>
                  <a:lnTo>
                    <a:pt x="929353" y="234086"/>
                  </a:lnTo>
                  <a:lnTo>
                    <a:pt x="916044" y="191176"/>
                  </a:lnTo>
                  <a:lnTo>
                    <a:pt x="898918" y="149473"/>
                  </a:lnTo>
                  <a:lnTo>
                    <a:pt x="877973" y="109239"/>
                  </a:lnTo>
                  <a:lnTo>
                    <a:pt x="853209" y="70740"/>
                  </a:lnTo>
                  <a:lnTo>
                    <a:pt x="824627" y="34239"/>
                  </a:lnTo>
                  <a:lnTo>
                    <a:pt x="792225" y="0"/>
                  </a:lnTo>
                  <a:lnTo>
                    <a:pt x="702437" y="93218"/>
                  </a:lnTo>
                  <a:lnTo>
                    <a:pt x="735793" y="128581"/>
                  </a:lnTo>
                  <a:lnTo>
                    <a:pt x="765129" y="166417"/>
                  </a:lnTo>
                  <a:lnTo>
                    <a:pt x="790427" y="206434"/>
                  </a:lnTo>
                  <a:lnTo>
                    <a:pt x="811668" y="248335"/>
                  </a:lnTo>
                  <a:lnTo>
                    <a:pt x="828837" y="291827"/>
                  </a:lnTo>
                  <a:lnTo>
                    <a:pt x="841914" y="336614"/>
                  </a:lnTo>
                  <a:lnTo>
                    <a:pt x="850883" y="382404"/>
                  </a:lnTo>
                  <a:lnTo>
                    <a:pt x="855726" y="428901"/>
                  </a:lnTo>
                  <a:lnTo>
                    <a:pt x="856425" y="475810"/>
                  </a:lnTo>
                  <a:lnTo>
                    <a:pt x="852964" y="522838"/>
                  </a:lnTo>
                  <a:lnTo>
                    <a:pt x="845324" y="569690"/>
                  </a:lnTo>
                  <a:lnTo>
                    <a:pt x="833489" y="616072"/>
                  </a:lnTo>
                  <a:lnTo>
                    <a:pt x="817440" y="661689"/>
                  </a:lnTo>
                  <a:lnTo>
                    <a:pt x="797160" y="706247"/>
                  </a:lnTo>
                  <a:lnTo>
                    <a:pt x="772632" y="749450"/>
                  </a:lnTo>
                  <a:lnTo>
                    <a:pt x="743838" y="791006"/>
                  </a:lnTo>
                </a:path>
              </a:pathLst>
            </a:custGeom>
            <a:ln w="19050">
              <a:solidFill>
                <a:srgbClr val="A15C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349876" y="3009721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Cout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109333" y="2798564"/>
            <a:ext cx="194310" cy="116839"/>
            <a:chOff x="8585333" y="2798564"/>
            <a:chExt cx="194310" cy="116839"/>
          </a:xfrm>
        </p:grpSpPr>
        <p:sp>
          <p:nvSpPr>
            <p:cNvPr id="32" name="object 32"/>
            <p:cNvSpPr/>
            <p:nvPr/>
          </p:nvSpPr>
          <p:spPr>
            <a:xfrm>
              <a:off x="8585333" y="2876240"/>
              <a:ext cx="97155" cy="0"/>
            </a:xfrm>
            <a:custGeom>
              <a:avLst/>
              <a:gdLst/>
              <a:ahLst/>
              <a:cxnLst/>
              <a:rect l="l" t="t" r="r" b="b"/>
              <a:pathLst>
                <a:path w="97154">
                  <a:moveTo>
                    <a:pt x="97066" y="0"/>
                  </a:moveTo>
                  <a:lnTo>
                    <a:pt x="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72732" y="2808208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5">
                  <a:moveTo>
                    <a:pt x="0" y="38930"/>
                  </a:moveTo>
                  <a:lnTo>
                    <a:pt x="3329" y="64336"/>
                  </a:lnTo>
                  <a:lnTo>
                    <a:pt x="12133" y="82461"/>
                  </a:lnTo>
                  <a:lnTo>
                    <a:pt x="24635" y="93323"/>
                  </a:lnTo>
                  <a:lnTo>
                    <a:pt x="39058" y="96940"/>
                  </a:lnTo>
                  <a:lnTo>
                    <a:pt x="64437" y="93323"/>
                  </a:lnTo>
                  <a:lnTo>
                    <a:pt x="82564" y="82461"/>
                  </a:lnTo>
                  <a:lnTo>
                    <a:pt x="93441" y="64336"/>
                  </a:lnTo>
                  <a:lnTo>
                    <a:pt x="97066" y="38930"/>
                  </a:lnTo>
                  <a:lnTo>
                    <a:pt x="93441" y="24554"/>
                  </a:lnTo>
                  <a:lnTo>
                    <a:pt x="82564" y="12093"/>
                  </a:lnTo>
                  <a:lnTo>
                    <a:pt x="64437" y="3318"/>
                  </a:lnTo>
                  <a:lnTo>
                    <a:pt x="39058" y="0"/>
                  </a:lnTo>
                  <a:lnTo>
                    <a:pt x="24635" y="3318"/>
                  </a:lnTo>
                  <a:lnTo>
                    <a:pt x="12133" y="12093"/>
                  </a:lnTo>
                  <a:lnTo>
                    <a:pt x="3329" y="24554"/>
                  </a:lnTo>
                  <a:lnTo>
                    <a:pt x="0" y="38930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09620" y="2562775"/>
            <a:ext cx="56832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50" dirty="0">
                <a:latin typeface="Courier New" panose="02070309020205020404"/>
                <a:cs typeface="Courier New" panose="02070309020205020404"/>
              </a:rPr>
              <a:t>Vout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60108" y="2932034"/>
            <a:ext cx="988060" cy="4660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19760">
              <a:lnSpc>
                <a:spcPts val="1755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C1</a:t>
            </a:r>
            <a:endParaRPr sz="1650">
              <a:latin typeface="Courier New" panose="02070309020205020404"/>
              <a:cs typeface="Courier New" panose="02070309020205020404"/>
            </a:endParaRPr>
          </a:p>
          <a:p>
            <a:pPr marL="38100">
              <a:lnSpc>
                <a:spcPts val="1755"/>
              </a:lnSpc>
            </a:pPr>
            <a:r>
              <a:rPr sz="2475" spc="82" baseline="-25000" dirty="0">
                <a:latin typeface="Courier New" panose="02070309020205020404"/>
                <a:cs typeface="Courier New" panose="02070309020205020404"/>
              </a:rPr>
              <a:t>Vin</a:t>
            </a:r>
            <a:r>
              <a:rPr sz="2475" spc="-254" baseline="-25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50" spc="45" dirty="0">
                <a:latin typeface="Courier New" panose="02070309020205020404"/>
                <a:cs typeface="Courier New" panose="02070309020205020404"/>
              </a:rPr>
              <a:t>1uF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003724" y="1768646"/>
            <a:ext cx="116839" cy="243204"/>
            <a:chOff x="7479724" y="1768646"/>
            <a:chExt cx="116839" cy="243204"/>
          </a:xfrm>
        </p:grpSpPr>
        <p:sp>
          <p:nvSpPr>
            <p:cNvPr id="37" name="object 37"/>
            <p:cNvSpPr/>
            <p:nvPr/>
          </p:nvSpPr>
          <p:spPr>
            <a:xfrm>
              <a:off x="7557044" y="1904332"/>
              <a:ext cx="0" cy="97790"/>
            </a:xfrm>
            <a:custGeom>
              <a:avLst/>
              <a:gdLst/>
              <a:ahLst/>
              <a:cxnLst/>
              <a:rect l="l" t="t" r="r" b="b"/>
              <a:pathLst>
                <a:path h="97789">
                  <a:moveTo>
                    <a:pt x="0" y="0"/>
                  </a:moveTo>
                  <a:lnTo>
                    <a:pt x="0" y="97518"/>
                  </a:lnTo>
                </a:path>
              </a:pathLst>
            </a:custGeom>
            <a:ln w="19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9724" y="1768646"/>
              <a:ext cx="116355" cy="11622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922937" y="1493927"/>
            <a:ext cx="43307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VDD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023646" y="2137914"/>
            <a:ext cx="1213485" cy="2788920"/>
            <a:chOff x="6499646" y="2137914"/>
            <a:chExt cx="1213485" cy="2788920"/>
          </a:xfrm>
        </p:grpSpPr>
        <p:sp>
          <p:nvSpPr>
            <p:cNvPr id="41" name="object 41"/>
            <p:cNvSpPr/>
            <p:nvPr/>
          </p:nvSpPr>
          <p:spPr>
            <a:xfrm>
              <a:off x="7382633" y="4819477"/>
              <a:ext cx="330200" cy="97790"/>
            </a:xfrm>
            <a:custGeom>
              <a:avLst/>
              <a:gdLst/>
              <a:ahLst/>
              <a:cxnLst/>
              <a:rect l="l" t="t" r="r" b="b"/>
              <a:pathLst>
                <a:path w="330200" h="97789">
                  <a:moveTo>
                    <a:pt x="0" y="97479"/>
                  </a:moveTo>
                  <a:lnTo>
                    <a:pt x="329872" y="97479"/>
                  </a:lnTo>
                </a:path>
                <a:path w="330200" h="97789">
                  <a:moveTo>
                    <a:pt x="174410" y="97479"/>
                  </a:moveTo>
                  <a:lnTo>
                    <a:pt x="17441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09303" y="3711988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61"/>
                  </a:moveTo>
                  <a:lnTo>
                    <a:pt x="0" y="0"/>
                  </a:lnTo>
                  <a:lnTo>
                    <a:pt x="155055" y="0"/>
                  </a:lnTo>
                  <a:lnTo>
                    <a:pt x="155055" y="466161"/>
                  </a:lnTo>
                  <a:lnTo>
                    <a:pt x="0" y="466161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587072" y="3614508"/>
              <a:ext cx="0" cy="661670"/>
            </a:xfrm>
            <a:custGeom>
              <a:avLst/>
              <a:gdLst/>
              <a:ahLst/>
              <a:cxnLst/>
              <a:rect l="l" t="t" r="r" b="b"/>
              <a:pathLst>
                <a:path h="661670">
                  <a:moveTo>
                    <a:pt x="0" y="563640"/>
                  </a:moveTo>
                  <a:lnTo>
                    <a:pt x="0" y="661120"/>
                  </a:lnTo>
                </a:path>
                <a:path h="661670">
                  <a:moveTo>
                    <a:pt x="0" y="97479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79700" y="2234854"/>
              <a:ext cx="155575" cy="466725"/>
            </a:xfrm>
            <a:custGeom>
              <a:avLst/>
              <a:gdLst/>
              <a:ahLst/>
              <a:cxnLst/>
              <a:rect l="l" t="t" r="r" b="b"/>
              <a:pathLst>
                <a:path w="155575" h="466725">
                  <a:moveTo>
                    <a:pt x="0" y="466199"/>
                  </a:moveTo>
                  <a:lnTo>
                    <a:pt x="0" y="0"/>
                  </a:lnTo>
                  <a:lnTo>
                    <a:pt x="155074" y="0"/>
                  </a:lnTo>
                  <a:lnTo>
                    <a:pt x="155074" y="466199"/>
                  </a:lnTo>
                  <a:lnTo>
                    <a:pt x="0" y="466199"/>
                  </a:lnTo>
                </a:path>
              </a:pathLst>
            </a:custGeom>
            <a:ln w="19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57044" y="2137914"/>
              <a:ext cx="0" cy="661035"/>
            </a:xfrm>
            <a:custGeom>
              <a:avLst/>
              <a:gdLst/>
              <a:ahLst/>
              <a:cxnLst/>
              <a:rect l="l" t="t" r="r" b="b"/>
              <a:pathLst>
                <a:path h="661035">
                  <a:moveTo>
                    <a:pt x="0" y="563139"/>
                  </a:moveTo>
                  <a:lnTo>
                    <a:pt x="0" y="660658"/>
                  </a:lnTo>
                </a:path>
                <a:path h="661035">
                  <a:moveTo>
                    <a:pt x="0" y="96940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07836" y="3186911"/>
              <a:ext cx="78105" cy="349885"/>
            </a:xfrm>
            <a:custGeom>
              <a:avLst/>
              <a:gdLst/>
              <a:ahLst/>
              <a:cxnLst/>
              <a:rect l="l" t="t" r="r" b="b"/>
              <a:pathLst>
                <a:path w="78104" h="349885">
                  <a:moveTo>
                    <a:pt x="77730" y="0"/>
                  </a:moveTo>
                  <a:lnTo>
                    <a:pt x="77730" y="349890"/>
                  </a:lnTo>
                  <a:lnTo>
                    <a:pt x="0" y="349890"/>
                  </a:lnTo>
                </a:path>
              </a:pathLst>
            </a:custGeom>
            <a:ln w="193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63297" y="3148367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h="447039">
                  <a:moveTo>
                    <a:pt x="0" y="446830"/>
                  </a:moveTo>
                  <a:lnTo>
                    <a:pt x="0" y="349832"/>
                  </a:lnTo>
                </a:path>
                <a:path h="447039">
                  <a:moveTo>
                    <a:pt x="0" y="272145"/>
                  </a:moveTo>
                  <a:lnTo>
                    <a:pt x="0" y="174665"/>
                  </a:lnTo>
                </a:path>
                <a:path h="447039">
                  <a:moveTo>
                    <a:pt x="0" y="96978"/>
                  </a:moveTo>
                  <a:lnTo>
                    <a:pt x="0" y="0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63297" y="3128516"/>
              <a:ext cx="194310" cy="466725"/>
            </a:xfrm>
            <a:custGeom>
              <a:avLst/>
              <a:gdLst/>
              <a:ahLst/>
              <a:cxnLst/>
              <a:rect l="l" t="t" r="r" b="b"/>
              <a:pathLst>
                <a:path w="194309" h="466725">
                  <a:moveTo>
                    <a:pt x="0" y="58395"/>
                  </a:moveTo>
                  <a:lnTo>
                    <a:pt x="193746" y="58395"/>
                  </a:lnTo>
                  <a:lnTo>
                    <a:pt x="193746" y="0"/>
                  </a:lnTo>
                </a:path>
                <a:path w="194309" h="466725">
                  <a:moveTo>
                    <a:pt x="0" y="233600"/>
                  </a:moveTo>
                  <a:lnTo>
                    <a:pt x="193746" y="233600"/>
                  </a:lnTo>
                  <a:lnTo>
                    <a:pt x="193746" y="466681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63297" y="3536802"/>
              <a:ext cx="174625" cy="0"/>
            </a:xfrm>
            <a:custGeom>
              <a:avLst/>
              <a:gdLst/>
              <a:ahLst/>
              <a:cxnLst/>
              <a:rect l="l" t="t" r="r" b="b"/>
              <a:pathLst>
                <a:path w="174625">
                  <a:moveTo>
                    <a:pt x="0" y="0"/>
                  </a:moveTo>
                  <a:lnTo>
                    <a:pt x="174410" y="0"/>
                  </a:lnTo>
                </a:path>
              </a:pathLst>
            </a:custGeom>
            <a:ln w="1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97066" y="0"/>
                  </a:moveTo>
                  <a:lnTo>
                    <a:pt x="0" y="58395"/>
                  </a:lnTo>
                  <a:lnTo>
                    <a:pt x="97066" y="116790"/>
                  </a:lnTo>
                  <a:lnTo>
                    <a:pt x="970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01969" y="3303721"/>
              <a:ext cx="97155" cy="116839"/>
            </a:xfrm>
            <a:custGeom>
              <a:avLst/>
              <a:gdLst/>
              <a:ahLst/>
              <a:cxnLst/>
              <a:rect l="l" t="t" r="r" b="b"/>
              <a:pathLst>
                <a:path w="97154" h="116839">
                  <a:moveTo>
                    <a:pt x="0" y="58395"/>
                  </a:moveTo>
                  <a:lnTo>
                    <a:pt x="97066" y="0"/>
                  </a:lnTo>
                  <a:lnTo>
                    <a:pt x="97066" y="116790"/>
                  </a:lnTo>
                  <a:lnTo>
                    <a:pt x="0" y="58395"/>
                  </a:lnTo>
                  <a:close/>
                </a:path>
              </a:pathLst>
            </a:custGeom>
            <a:ln w="192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38672" y="0"/>
                  </a:move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508704" y="3488563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0" y="38602"/>
                  </a:moveTo>
                  <a:lnTo>
                    <a:pt x="3323" y="53051"/>
                  </a:lnTo>
                  <a:lnTo>
                    <a:pt x="12085" y="65559"/>
                  </a:lnTo>
                  <a:lnTo>
                    <a:pt x="24472" y="74360"/>
                  </a:lnTo>
                  <a:lnTo>
                    <a:pt x="38672" y="77687"/>
                  </a:lnTo>
                  <a:lnTo>
                    <a:pt x="52932" y="74360"/>
                  </a:lnTo>
                  <a:lnTo>
                    <a:pt x="65452" y="65559"/>
                  </a:lnTo>
                  <a:lnTo>
                    <a:pt x="74346" y="53051"/>
                  </a:lnTo>
                  <a:lnTo>
                    <a:pt x="77730" y="38602"/>
                  </a:lnTo>
                  <a:lnTo>
                    <a:pt x="74346" y="24424"/>
                  </a:lnTo>
                  <a:lnTo>
                    <a:pt x="65452" y="12059"/>
                  </a:lnTo>
                  <a:lnTo>
                    <a:pt x="52932" y="3316"/>
                  </a:lnTo>
                  <a:lnTo>
                    <a:pt x="38672" y="0"/>
                  </a:lnTo>
                  <a:lnTo>
                    <a:pt x="24472" y="3316"/>
                  </a:lnTo>
                  <a:lnTo>
                    <a:pt x="12085" y="12059"/>
                  </a:lnTo>
                  <a:lnTo>
                    <a:pt x="3323" y="24424"/>
                  </a:lnTo>
                  <a:lnTo>
                    <a:pt x="0" y="38602"/>
                  </a:lnTo>
                  <a:close/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10672" y="3031576"/>
              <a:ext cx="446405" cy="661035"/>
            </a:xfrm>
            <a:custGeom>
              <a:avLst/>
              <a:gdLst/>
              <a:ahLst/>
              <a:cxnLst/>
              <a:rect l="l" t="t" r="r" b="b"/>
              <a:pathLst>
                <a:path w="446404" h="661035">
                  <a:moveTo>
                    <a:pt x="446371" y="96940"/>
                  </a:moveTo>
                  <a:lnTo>
                    <a:pt x="446371" y="0"/>
                  </a:lnTo>
                </a:path>
                <a:path w="446404" h="661035">
                  <a:moveTo>
                    <a:pt x="97163" y="505226"/>
                  </a:moveTo>
                  <a:lnTo>
                    <a:pt x="0" y="505226"/>
                  </a:lnTo>
                </a:path>
                <a:path w="446404" h="661035">
                  <a:moveTo>
                    <a:pt x="446371" y="563621"/>
                  </a:moveTo>
                  <a:lnTo>
                    <a:pt x="446371" y="660619"/>
                  </a:lnTo>
                </a:path>
              </a:pathLst>
            </a:custGeom>
            <a:ln w="19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/>
          <p:nvPr/>
        </p:nvSpPr>
        <p:spPr>
          <a:xfrm>
            <a:off x="8983977" y="4994652"/>
            <a:ext cx="175260" cy="0"/>
          </a:xfrm>
          <a:custGeom>
            <a:avLst/>
            <a:gdLst/>
            <a:ahLst/>
            <a:cxnLst/>
            <a:rect l="l" t="t" r="r" b="b"/>
            <a:pathLst>
              <a:path w="175259">
                <a:moveTo>
                  <a:pt x="0" y="0"/>
                </a:moveTo>
                <a:lnTo>
                  <a:pt x="174797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042372" y="5072345"/>
            <a:ext cx="58419" cy="0"/>
          </a:xfrm>
          <a:custGeom>
            <a:avLst/>
            <a:gdLst/>
            <a:ahLst/>
            <a:cxnLst/>
            <a:rect l="l" t="t" r="r" b="b"/>
            <a:pathLst>
              <a:path w="58420">
                <a:moveTo>
                  <a:pt x="0" y="0"/>
                </a:moveTo>
                <a:lnTo>
                  <a:pt x="58008" y="0"/>
                </a:lnTo>
              </a:path>
            </a:pathLst>
          </a:custGeom>
          <a:ln w="192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243760" y="3806443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R2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252809" y="2329771"/>
            <a:ext cx="297180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45" dirty="0">
                <a:latin typeface="Courier New" panose="02070309020205020404"/>
                <a:cs typeface="Courier New" panose="02070309020205020404"/>
              </a:rPr>
              <a:t>RD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214137" y="3301197"/>
            <a:ext cx="840105" cy="269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70" dirty="0">
                <a:latin typeface="Courier New" panose="02070309020205020404"/>
                <a:cs typeface="Courier New" panose="02070309020205020404"/>
              </a:rPr>
              <a:t>N-</a:t>
            </a:r>
            <a:r>
              <a:rPr sz="1650" spc="50" dirty="0">
                <a:latin typeface="Courier New" panose="02070309020205020404"/>
                <a:cs typeface="Courier New" panose="02070309020205020404"/>
              </a:rPr>
              <a:t>EMOS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69014" y="3453371"/>
            <a:ext cx="1299210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baseline="-15000" dirty="0">
                <a:latin typeface="Courier New" panose="02070309020205020404"/>
                <a:cs typeface="Courier New" panose="02070309020205020404"/>
              </a:rPr>
              <a:t>RS</a:t>
            </a:r>
            <a:r>
              <a:rPr sz="2475" spc="375" baseline="-150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9900" spc="-247" baseline="-16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1650" spc="40" dirty="0">
                <a:latin typeface="Courier New" panose="02070309020205020404"/>
                <a:cs typeface="Courier New" panose="02070309020205020404"/>
              </a:rPr>
              <a:t>Cs</a:t>
            </a:r>
            <a:endParaRPr sz="16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244585" y="5503570"/>
            <a:ext cx="164592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6725" marR="5080" indent="-45466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AC</a:t>
            </a:r>
            <a:r>
              <a:rPr sz="220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equivalent circuit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8981" y="4072707"/>
            <a:ext cx="5122802" cy="260799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363028"/>
            <a:ext cx="105156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5" dirty="0"/>
              <a:t> </a:t>
            </a:r>
            <a:r>
              <a:rPr sz="3600" dirty="0"/>
              <a:t>–</a:t>
            </a:r>
            <a:r>
              <a:rPr sz="3600" spc="-30" dirty="0"/>
              <a:t> </a:t>
            </a:r>
            <a:r>
              <a:rPr sz="3600" dirty="0"/>
              <a:t>CS</a:t>
            </a:r>
            <a:r>
              <a:rPr sz="3600" spc="-30" dirty="0"/>
              <a:t> </a:t>
            </a:r>
            <a:r>
              <a:rPr sz="3600" dirty="0"/>
              <a:t>with</a:t>
            </a:r>
            <a:r>
              <a:rPr sz="3600" spc="-30" dirty="0"/>
              <a:t> </a:t>
            </a:r>
            <a:r>
              <a:rPr sz="3600" dirty="0"/>
              <a:t>voltage</a:t>
            </a:r>
            <a:r>
              <a:rPr sz="3600" spc="-20" dirty="0"/>
              <a:t> </a:t>
            </a:r>
            <a:r>
              <a:rPr sz="3600" dirty="0"/>
              <a:t>divider</a:t>
            </a:r>
            <a:r>
              <a:rPr sz="3600" spc="-20" dirty="0"/>
              <a:t> </a:t>
            </a:r>
            <a:r>
              <a:rPr sz="3600" dirty="0"/>
              <a:t>and</a:t>
            </a:r>
            <a:r>
              <a:rPr sz="3600" spc="-25" dirty="0"/>
              <a:t> </a:t>
            </a:r>
            <a:r>
              <a:rPr sz="3600" dirty="0"/>
              <a:t>wo.</a:t>
            </a:r>
            <a:r>
              <a:rPr sz="3600" spc="-30" dirty="0"/>
              <a:t> </a:t>
            </a:r>
            <a:r>
              <a:rPr sz="3600" spc="-25" dirty="0"/>
              <a:t>Cs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466644" y="4293260"/>
            <a:ext cx="5554980" cy="198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920240" indent="342265">
              <a:lnSpc>
                <a:spcPct val="146000"/>
              </a:lnSpc>
              <a:spcBef>
                <a:spcPts val="100"/>
              </a:spcBef>
              <a:buFont typeface="Wingdings" panose="05000000000000000000"/>
              <a:buChar char=""/>
              <a:tabLst>
                <a:tab pos="405765" algn="l"/>
                <a:tab pos="196977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(or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R1//R2) </a:t>
            </a: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o</a:t>
            </a:r>
            <a:r>
              <a:rPr sz="2175" spc="28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/[1+g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]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63500">
              <a:lnSpc>
                <a:spcPct val="100000"/>
              </a:lnSpc>
              <a:spcBef>
                <a:spcPts val="120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179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/[1+g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]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405765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"/>
              <a:tabLst>
                <a:tab pos="4057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are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phase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3048" y="1849626"/>
            <a:ext cx="4505967" cy="229398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6921" y="1981200"/>
            <a:ext cx="4631077" cy="3891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691" y="1330325"/>
            <a:ext cx="10515600" cy="631825"/>
          </a:xfrm>
          <a:prstGeom prst="rect">
            <a:avLst/>
          </a:prstGeom>
        </p:spPr>
        <p:txBody>
          <a:bodyPr vert="horz" wrap="square" lIns="0" tIns="78231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5" dirty="0"/>
              <a:t> </a:t>
            </a:r>
            <a:r>
              <a:rPr sz="3600" dirty="0"/>
              <a:t>–</a:t>
            </a:r>
            <a:r>
              <a:rPr sz="3600" spc="-25" dirty="0"/>
              <a:t> </a:t>
            </a:r>
            <a:r>
              <a:rPr sz="3600" dirty="0"/>
              <a:t>CS</a:t>
            </a:r>
            <a:r>
              <a:rPr sz="3600" spc="-25" dirty="0"/>
              <a:t> </a:t>
            </a:r>
            <a:r>
              <a:rPr sz="3600" dirty="0"/>
              <a:t>with</a:t>
            </a:r>
            <a:r>
              <a:rPr sz="3600" spc="-25" dirty="0"/>
              <a:t> </a:t>
            </a:r>
            <a:r>
              <a:rPr sz="3600" dirty="0"/>
              <a:t>feedback</a:t>
            </a:r>
            <a:r>
              <a:rPr sz="3600" spc="-5" dirty="0"/>
              <a:t> </a:t>
            </a:r>
            <a:r>
              <a:rPr sz="3600" spc="-20" dirty="0"/>
              <a:t>bias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831340" y="1931035"/>
            <a:ext cx="4552950" cy="2720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  <a:tab pos="433070" algn="l"/>
              </a:tabLst>
            </a:pPr>
            <a:r>
              <a:rPr sz="2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Input</a:t>
            </a:r>
            <a:r>
              <a:rPr sz="22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terminal,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output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terminal:</a:t>
            </a:r>
            <a:r>
              <a:rPr sz="2200" b="1" spc="-8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8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Source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Feedback</a:t>
            </a:r>
            <a:r>
              <a:rPr sz="2200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biasing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spc="-12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draw</a:t>
            </a:r>
            <a:r>
              <a:rPr sz="22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AC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equivalent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circuit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67080" lvl="1" indent="-297180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76708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all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capacitors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88975" lvl="1" indent="-23177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68897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power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supply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1396" y="3150107"/>
            <a:ext cx="4385603" cy="23108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460" y="443230"/>
            <a:ext cx="10515600" cy="1152525"/>
          </a:xfrm>
          <a:prstGeom prst="rect">
            <a:avLst/>
          </a:prstGeom>
        </p:spPr>
        <p:txBody>
          <a:bodyPr vert="horz" wrap="square" lIns="0" tIns="78231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5" dirty="0"/>
              <a:t> </a:t>
            </a:r>
            <a:r>
              <a:rPr sz="3600" dirty="0"/>
              <a:t>–</a:t>
            </a:r>
            <a:r>
              <a:rPr sz="3600" spc="-25" dirty="0"/>
              <a:t> </a:t>
            </a:r>
            <a:r>
              <a:rPr sz="3600" dirty="0"/>
              <a:t>CS</a:t>
            </a:r>
            <a:r>
              <a:rPr sz="3600" spc="-25" dirty="0"/>
              <a:t> </a:t>
            </a:r>
            <a:r>
              <a:rPr sz="3600" dirty="0"/>
              <a:t>with</a:t>
            </a:r>
            <a:r>
              <a:rPr sz="3600" spc="-25" dirty="0"/>
              <a:t> </a:t>
            </a:r>
            <a:r>
              <a:rPr sz="3600" dirty="0"/>
              <a:t>feedback</a:t>
            </a:r>
            <a:r>
              <a:rPr sz="3600" spc="-5" dirty="0"/>
              <a:t> </a:t>
            </a:r>
            <a:r>
              <a:rPr sz="3600" spc="-20" dirty="0"/>
              <a:t>bias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607" y="3048000"/>
            <a:ext cx="3249816" cy="27224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69994" y="1380595"/>
            <a:ext cx="3963035" cy="153543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25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AC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equivalent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circuit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66445" lvl="1" indent="-296545">
              <a:lnSpc>
                <a:spcPct val="100000"/>
              </a:lnSpc>
              <a:spcBef>
                <a:spcPts val="1325"/>
              </a:spcBef>
              <a:buFont typeface="Wingdings" panose="05000000000000000000"/>
              <a:buChar char=""/>
              <a:tabLst>
                <a:tab pos="76644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all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capacitors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688975" lvl="1" indent="-231775">
              <a:lnSpc>
                <a:spcPct val="100000"/>
              </a:lnSpc>
              <a:spcBef>
                <a:spcPts val="1320"/>
              </a:spcBef>
              <a:buFont typeface="Wingdings" panose="05000000000000000000"/>
              <a:buChar char=""/>
              <a:tabLst>
                <a:tab pos="68897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Short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circuit</a:t>
            </a:r>
            <a:r>
              <a:rPr sz="22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power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supply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73471" y="3952494"/>
            <a:ext cx="37846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FF0000"/>
                </a:solidFill>
                <a:latin typeface="Wingdings" panose="05000000000000000000"/>
                <a:cs typeface="Wingdings" panose="05000000000000000000"/>
              </a:rPr>
              <a:t></a:t>
            </a:r>
            <a:endParaRPr sz="2600">
              <a:latin typeface="Wingdings" panose="05000000000000000000"/>
              <a:cs typeface="Wingdings" panose="0500000000000000000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539750"/>
            <a:ext cx="10515600" cy="1422400"/>
          </a:xfrm>
          <a:prstGeom prst="rect">
            <a:avLst/>
          </a:prstGeom>
        </p:spPr>
        <p:txBody>
          <a:bodyPr vert="horz" wrap="square" lIns="0" tIns="78231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EMOS</a:t>
            </a:r>
            <a:r>
              <a:rPr sz="3600" spc="-35" dirty="0"/>
              <a:t> </a:t>
            </a:r>
            <a:r>
              <a:rPr sz="3600" dirty="0"/>
              <a:t>–</a:t>
            </a:r>
            <a:r>
              <a:rPr sz="3600" spc="-25" dirty="0"/>
              <a:t> </a:t>
            </a:r>
            <a:r>
              <a:rPr sz="3600" dirty="0"/>
              <a:t>CS</a:t>
            </a:r>
            <a:r>
              <a:rPr sz="3600" spc="-25" dirty="0"/>
              <a:t> </a:t>
            </a:r>
            <a:r>
              <a:rPr sz="3600" dirty="0"/>
              <a:t>with</a:t>
            </a:r>
            <a:r>
              <a:rPr sz="3600" spc="-25" dirty="0"/>
              <a:t> </a:t>
            </a:r>
            <a:r>
              <a:rPr sz="3600" dirty="0"/>
              <a:t>feedback</a:t>
            </a:r>
            <a:r>
              <a:rPr sz="3600" spc="-5" dirty="0"/>
              <a:t> </a:t>
            </a:r>
            <a:r>
              <a:rPr sz="3600" spc="-20" dirty="0"/>
              <a:t>bias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2136140" y="1787169"/>
            <a:ext cx="7034530" cy="32372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31800" indent="-342900">
              <a:lnSpc>
                <a:spcPct val="100000"/>
              </a:lnSpc>
              <a:spcBef>
                <a:spcPts val="625"/>
              </a:spcBef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31800" algn="l"/>
              </a:tabLst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Z</a:t>
            </a:r>
            <a:r>
              <a:rPr sz="2175" b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175" b="1" spc="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2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+r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)/[1+g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(r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)]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88900">
              <a:lnSpc>
                <a:spcPct val="100000"/>
              </a:lnSpc>
              <a:spcBef>
                <a:spcPts val="530"/>
              </a:spcBef>
              <a:tabLst>
                <a:tab pos="199517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/(1+g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r>
              <a:rPr sz="2200" dirty="0">
                <a:latin typeface="Arial" panose="020B0604020202020204"/>
                <a:cs typeface="Arial" panose="020B0604020202020204"/>
              </a:rPr>
              <a:t>	with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4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&gt;10R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&gt;&gt;r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 dirty="0">
              <a:latin typeface="Arial" panose="020B0604020202020204"/>
              <a:cs typeface="Arial" panose="020B0604020202020204"/>
            </a:endParaRPr>
          </a:p>
          <a:p>
            <a:pPr marL="431800" indent="-342900">
              <a:lnSpc>
                <a:spcPct val="100000"/>
              </a:lnSpc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31800" algn="l"/>
                <a:tab pos="2975610" algn="l"/>
              </a:tabLst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Z</a:t>
            </a:r>
            <a:r>
              <a:rPr sz="2175" b="1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200" b="1" spc="-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dirty="0">
                <a:latin typeface="Arial" panose="020B0604020202020204"/>
                <a:cs typeface="Arial" panose="020B0604020202020204"/>
              </a:rPr>
              <a:t>//r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//R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58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4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&gt;10R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&gt;&gt;r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Wingdings" panose="05000000000000000000"/>
              <a:buChar char=""/>
            </a:pPr>
            <a:endParaRPr sz="2200" dirty="0">
              <a:latin typeface="Arial" panose="020B0604020202020204"/>
              <a:cs typeface="Arial" panose="020B0604020202020204"/>
            </a:endParaRPr>
          </a:p>
          <a:p>
            <a:pPr marL="431800" indent="-342900">
              <a:lnSpc>
                <a:spcPct val="100000"/>
              </a:lnSpc>
              <a:buClr>
                <a:srgbClr val="775F54"/>
              </a:buClr>
              <a:buSzPct val="68000"/>
              <a:buFont typeface="Wingdings" panose="05000000000000000000"/>
              <a:buChar char=""/>
              <a:tabLst>
                <a:tab pos="431800" algn="l"/>
                <a:tab pos="2832100" algn="l"/>
              </a:tabLst>
            </a:pPr>
            <a:r>
              <a:rPr sz="2200" b="1" spc="-7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175" b="1" spc="-112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</a:t>
            </a:r>
            <a:r>
              <a:rPr sz="2175" b="1" spc="-7" baseline="-21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2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	</a:t>
            </a: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36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with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7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&gt;10R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,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&gt;&gt;r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D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Wingdings" panose="05000000000000000000"/>
              <a:buChar char=""/>
            </a:pPr>
            <a:endParaRPr sz="2200" dirty="0">
              <a:latin typeface="Arial" panose="020B0604020202020204"/>
              <a:cs typeface="Arial" panose="020B0604020202020204"/>
            </a:endParaRPr>
          </a:p>
          <a:p>
            <a:pPr marL="431800" indent="-342900">
              <a:lnSpc>
                <a:spcPct val="100000"/>
              </a:lnSpc>
              <a:buFont typeface="Wingdings" panose="05000000000000000000"/>
              <a:buChar char=""/>
              <a:tabLst>
                <a:tab pos="4318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are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of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phase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806" y="1531537"/>
            <a:ext cx="6760844" cy="37083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460" y="318135"/>
            <a:ext cx="10515600" cy="121348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EMOS</a:t>
            </a:r>
            <a:r>
              <a:rPr spc="-3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CS</a:t>
            </a:r>
            <a:r>
              <a:rPr spc="-1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feedback</a:t>
            </a:r>
            <a:r>
              <a:rPr spc="-50" dirty="0"/>
              <a:t> </a:t>
            </a:r>
            <a:r>
              <a:rPr spc="-20" dirty="0"/>
              <a:t>bias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68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7994" y="5564596"/>
            <a:ext cx="5521518" cy="10772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69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121" y="1666494"/>
            <a:ext cx="8552328" cy="40484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490855"/>
            <a:ext cx="10515600" cy="115633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EMOS</a:t>
            </a:r>
            <a:r>
              <a:rPr spc="-3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CS</a:t>
            </a:r>
            <a:r>
              <a:rPr spc="-1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feedback</a:t>
            </a:r>
            <a:r>
              <a:rPr spc="-50" dirty="0"/>
              <a:t> </a:t>
            </a:r>
            <a:r>
              <a:rPr spc="-20" dirty="0"/>
              <a:t>bias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70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93900" y="1768475"/>
            <a:ext cx="8651875" cy="4747260"/>
            <a:chOff x="469682" y="1556962"/>
            <a:chExt cx="8651875" cy="49587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682" y="1556962"/>
              <a:ext cx="6995796" cy="46394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3807" y="4343400"/>
              <a:ext cx="3037332" cy="21717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3460" y="529590"/>
            <a:ext cx="10515600" cy="109537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EMOS</a:t>
            </a:r>
            <a:r>
              <a:rPr spc="-3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CS</a:t>
            </a:r>
            <a:r>
              <a:rPr spc="-10" dirty="0"/>
              <a:t> </a:t>
            </a:r>
            <a:r>
              <a:rPr dirty="0"/>
              <a:t>with</a:t>
            </a:r>
            <a:r>
              <a:rPr spc="5" dirty="0"/>
              <a:t> </a:t>
            </a:r>
            <a:r>
              <a:rPr dirty="0"/>
              <a:t>feedback</a:t>
            </a:r>
            <a:r>
              <a:rPr spc="-50" dirty="0"/>
              <a:t> </a:t>
            </a:r>
            <a:r>
              <a:rPr spc="-20" dirty="0"/>
              <a:t>bias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91" y="1293178"/>
            <a:ext cx="10515600" cy="706120"/>
          </a:xfrm>
          <a:prstGeom prst="rect">
            <a:avLst/>
          </a:prstGeom>
        </p:spPr>
        <p:txBody>
          <a:bodyPr vert="horz" wrap="square" lIns="0" tIns="152908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JFET</a:t>
            </a:r>
            <a:r>
              <a:rPr sz="3600" spc="-8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dirty="0"/>
              <a:t>CD</a:t>
            </a:r>
            <a:r>
              <a:rPr sz="3600" spc="-20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dirty="0"/>
              <a:t>fixed</a:t>
            </a:r>
            <a:r>
              <a:rPr sz="3600" spc="-15" dirty="0"/>
              <a:t> </a:t>
            </a:r>
            <a:r>
              <a:rPr sz="3600" spc="-10" dirty="0"/>
              <a:t>biasing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8638" y="2361930"/>
            <a:ext cx="3948814" cy="31511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96541" y="2159635"/>
            <a:ext cx="3912235" cy="1243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terminal,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at </a:t>
            </a:r>
            <a:r>
              <a:rPr sz="22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terminal: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Drain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Fixed</a:t>
            </a:r>
            <a:r>
              <a:rPr sz="24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biasing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331" y="1775581"/>
            <a:ext cx="6375376" cy="22811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4540" y="3912489"/>
            <a:ext cx="95440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i</a:t>
            </a:r>
            <a:r>
              <a:rPr sz="2175" spc="30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G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4540" y="4583429"/>
            <a:ext cx="375602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Z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o</a:t>
            </a:r>
            <a:r>
              <a:rPr sz="2175" spc="25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//R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dirty="0">
                <a:latin typeface="Arial" panose="020B0604020202020204"/>
                <a:cs typeface="Arial" panose="020B0604020202020204"/>
              </a:rPr>
              <a:t>//(1/g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dirty="0">
                <a:latin typeface="Arial" panose="020B0604020202020204"/>
                <a:cs typeface="Arial" panose="020B0604020202020204"/>
              </a:rPr>
              <a:t>)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//(1/g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36229" y="4583429"/>
            <a:ext cx="144589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10R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S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4540" y="5253990"/>
            <a:ext cx="590994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A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V</a:t>
            </a:r>
            <a:r>
              <a:rPr sz="2175" spc="179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=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-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dirty="0">
                <a:latin typeface="Arial" panose="020B0604020202020204"/>
                <a:cs typeface="Arial" panose="020B0604020202020204"/>
              </a:rPr>
              <a:t>(r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//R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dirty="0">
                <a:latin typeface="Arial" panose="020B0604020202020204"/>
                <a:cs typeface="Arial" panose="020B0604020202020204"/>
              </a:rPr>
              <a:t>)/[1+g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dirty="0">
                <a:latin typeface="Arial" panose="020B0604020202020204"/>
                <a:cs typeface="Arial" panose="020B0604020202020204"/>
              </a:rPr>
              <a:t>(r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200" dirty="0">
                <a:latin typeface="Arial" panose="020B0604020202020204"/>
                <a:cs typeface="Arial" panose="020B0604020202020204"/>
              </a:rPr>
              <a:t>//R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dirty="0">
                <a:latin typeface="Arial" panose="020B0604020202020204"/>
                <a:cs typeface="Arial" panose="020B0604020202020204"/>
              </a:rPr>
              <a:t>)]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≈</a:t>
            </a:r>
            <a:r>
              <a:rPr sz="2200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 err="1">
                <a:latin typeface="Arial" panose="020B0604020202020204"/>
                <a:cs typeface="Arial" panose="020B0604020202020204"/>
              </a:rPr>
              <a:t>g</a:t>
            </a:r>
            <a:r>
              <a:rPr sz="2175" spc="-15" baseline="-21000" dirty="0" err="1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 err="1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 err="1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/[1+g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R</a:t>
            </a:r>
            <a:r>
              <a:rPr sz="2175" spc="-1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)]</a:t>
            </a:r>
            <a:endParaRPr sz="2200" dirty="0">
              <a:latin typeface="Arial" panose="020B0604020202020204"/>
              <a:cs typeface="Arial" panose="020B0604020202020204"/>
            </a:endParaRPr>
          </a:p>
          <a:p>
            <a:pPr marL="504190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≈</a:t>
            </a:r>
            <a:r>
              <a:rPr sz="2200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6229" y="5253990"/>
            <a:ext cx="1568450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d</a:t>
            </a:r>
            <a:r>
              <a:rPr sz="2175" spc="292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</a:t>
            </a:r>
            <a:r>
              <a:rPr sz="22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10R</a:t>
            </a:r>
            <a:r>
              <a:rPr sz="2175" spc="-30" baseline="-21000" dirty="0">
                <a:latin typeface="Arial" panose="020B0604020202020204"/>
                <a:cs typeface="Arial" panose="020B0604020202020204"/>
              </a:rPr>
              <a:t>S</a:t>
            </a:r>
            <a:endParaRPr sz="2175" baseline="-21000" dirty="0">
              <a:latin typeface="Arial" panose="020B0604020202020204"/>
              <a:cs typeface="Arial" panose="020B0604020202020204"/>
            </a:endParaRPr>
          </a:p>
          <a:p>
            <a:pPr marL="38100">
              <a:lnSpc>
                <a:spcPct val="100000"/>
              </a:lnSpc>
            </a:pPr>
            <a:r>
              <a:rPr sz="2200" dirty="0">
                <a:latin typeface="Arial" panose="020B0604020202020204"/>
                <a:cs typeface="Arial" panose="020B0604020202020204"/>
              </a:rPr>
              <a:t>if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200" dirty="0">
                <a:latin typeface="Arial" panose="020B0604020202020204"/>
                <a:cs typeface="Arial" panose="020B0604020202020204"/>
              </a:rPr>
              <a:t>R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S</a:t>
            </a:r>
            <a:r>
              <a:rPr sz="2175" spc="27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&gt;&gt;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1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3460" y="808355"/>
            <a:ext cx="10515600" cy="1191260"/>
          </a:xfrm>
          <a:prstGeom prst="rect">
            <a:avLst/>
          </a:prstGeom>
        </p:spPr>
        <p:txBody>
          <a:bodyPr vert="horz" wrap="square" lIns="0" tIns="152908" rIns="0" bIns="0" rtlCol="0">
            <a:no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JFET</a:t>
            </a:r>
            <a:r>
              <a:rPr sz="3600" spc="-8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dirty="0"/>
              <a:t>CD</a:t>
            </a:r>
            <a:r>
              <a:rPr sz="3600" spc="-20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dirty="0"/>
              <a:t>fixed</a:t>
            </a:r>
            <a:r>
              <a:rPr sz="3600" spc="-15" dirty="0"/>
              <a:t> </a:t>
            </a:r>
            <a:r>
              <a:rPr sz="3600" spc="-10" dirty="0"/>
              <a:t>biasing</a:t>
            </a:r>
            <a:endParaRPr sz="36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726440"/>
            <a:ext cx="10515600" cy="120332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JFET</a:t>
            </a:r>
            <a:r>
              <a:rPr sz="3600" spc="-8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dirty="0"/>
              <a:t>CG</a:t>
            </a:r>
            <a:r>
              <a:rPr sz="3600" spc="-20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dirty="0"/>
              <a:t>fixed</a:t>
            </a:r>
            <a:r>
              <a:rPr sz="3600" spc="-15" dirty="0"/>
              <a:t> </a:t>
            </a:r>
            <a:r>
              <a:rPr sz="3600" spc="-10" dirty="0"/>
              <a:t>biasing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7546" y="3429000"/>
            <a:ext cx="4951306" cy="21499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36140" y="1854835"/>
            <a:ext cx="5307965" cy="1243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560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S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terminal,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at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terminal: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560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Common</a:t>
            </a:r>
            <a:r>
              <a:rPr sz="2200" b="1" spc="-8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GATE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400" dirty="0">
                <a:latin typeface="Arial" panose="020B0604020202020204"/>
                <a:cs typeface="Arial" panose="020B0604020202020204"/>
              </a:rPr>
              <a:t>Fixed</a:t>
            </a:r>
            <a:r>
              <a:rPr sz="24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biasing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460" y="610870"/>
            <a:ext cx="10515600" cy="131889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JFET</a:t>
            </a:r>
            <a:r>
              <a:rPr sz="3600" spc="-8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dirty="0"/>
              <a:t>CG</a:t>
            </a:r>
            <a:r>
              <a:rPr sz="3600" spc="-20" dirty="0"/>
              <a:t> </a:t>
            </a:r>
            <a:r>
              <a:rPr sz="3600" dirty="0"/>
              <a:t>with</a:t>
            </a:r>
            <a:r>
              <a:rPr sz="3600" spc="-15" dirty="0"/>
              <a:t> </a:t>
            </a:r>
            <a:r>
              <a:rPr sz="3600" dirty="0"/>
              <a:t>fixed</a:t>
            </a:r>
            <a:r>
              <a:rPr sz="3600" spc="-15" dirty="0"/>
              <a:t> </a:t>
            </a:r>
            <a:r>
              <a:rPr sz="3600" spc="-10" dirty="0"/>
              <a:t>biasing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0920" y="1757679"/>
            <a:ext cx="5242559" cy="246380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40890" y="4485388"/>
          <a:ext cx="7232015" cy="116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5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374015" indent="-342265">
                        <a:lnSpc>
                          <a:spcPts val="2430"/>
                        </a:lnSpc>
                        <a:buClr>
                          <a:srgbClr val="775F54"/>
                        </a:buClr>
                        <a:buSzPct val="68000"/>
                        <a:buFont typeface="Wingdings" panose="05000000000000000000"/>
                        <a:buChar char=""/>
                        <a:tabLst>
                          <a:tab pos="374015" algn="l"/>
                        </a:tabLst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i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1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//[(r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+R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)/(1+g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)]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430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≈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//(1/g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2430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nếu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175" spc="270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&gt;10R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31750">
                        <a:lnSpc>
                          <a:spcPts val="2595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Z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o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//R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595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≈ </a:t>
                      </a:r>
                      <a:r>
                        <a:rPr sz="2200" spc="-25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37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95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nếu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175" spc="270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&gt;10R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ts val="2595"/>
                        </a:lnSpc>
                      </a:pPr>
                      <a:r>
                        <a:rPr sz="2200" spc="-55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175" spc="-82" baseline="-21000" dirty="0">
                          <a:latin typeface="Arial" panose="020B0604020202020204"/>
                          <a:cs typeface="Arial" panose="020B0604020202020204"/>
                        </a:rPr>
                        <a:t>V</a:t>
                      </a:r>
                      <a:r>
                        <a:rPr sz="2175" spc="-44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2200" spc="-6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[g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+</a:t>
                      </a:r>
                      <a:r>
                        <a:rPr sz="2200" spc="-4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(R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/r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)]/[1+</a:t>
                      </a:r>
                      <a:r>
                        <a:rPr sz="2200" spc="-3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/r</a:t>
                      </a:r>
                      <a:r>
                        <a:rPr sz="2175" spc="-1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]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595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≈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95"/>
                        </a:lnSpc>
                      </a:pP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nếu</a:t>
                      </a:r>
                      <a:r>
                        <a:rPr sz="2200" spc="-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2175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2175" spc="270" baseline="-2100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200" spc="-20" dirty="0">
                          <a:latin typeface="Arial" panose="020B0604020202020204"/>
                          <a:cs typeface="Arial" panose="020B0604020202020204"/>
                        </a:rPr>
                        <a:t>&gt;10R</a:t>
                      </a:r>
                      <a:r>
                        <a:rPr sz="2175" spc="-30" baseline="-21000" dirty="0">
                          <a:latin typeface="Arial" panose="020B0604020202020204"/>
                          <a:cs typeface="Arial" panose="020B0604020202020204"/>
                        </a:rPr>
                        <a:t>D</a:t>
                      </a:r>
                      <a:endParaRPr sz="2175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59940" y="5854700"/>
            <a:ext cx="5264785" cy="350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 panose="05000000000000000000"/>
              <a:buChar char=""/>
              <a:tabLst>
                <a:tab pos="3549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Input</a:t>
            </a:r>
            <a:r>
              <a:rPr sz="220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output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voltage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are</a:t>
            </a:r>
            <a:r>
              <a:rPr sz="22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IN-</a:t>
            </a:r>
            <a:r>
              <a:rPr sz="22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 panose="020B0604020202020204"/>
                <a:cs typeface="Arial" panose="020B0604020202020204"/>
              </a:rPr>
              <a:t>PHASE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936570" y="1741660"/>
            <a:ext cx="1590480" cy="1568880"/>
            <a:chOff x="412570" y="1741660"/>
            <a:chExt cx="1590480" cy="156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/>
                <p14:cNvContentPartPr/>
                <p14:nvPr/>
              </p14:nvContentPartPr>
              <p14:xfrm>
                <a:off x="748810" y="1741660"/>
                <a:ext cx="596520" cy="723240"/>
              </p14:xfrm>
            </p:contentPart>
          </mc:Choice>
          <mc:Fallback xmlns="">
            <p:pic>
              <p:nvPicPr>
                <p:cNvPr id="7" name="Ink 6"/>
              </p:nvPicPr>
              <p:blipFill>
                <a:blip r:embed="rId4"/>
              </p:blipFill>
              <p:spPr>
                <a:xfrm>
                  <a:off x="748810" y="1741660"/>
                  <a:ext cx="596520" cy="7232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/>
                <p14:cNvContentPartPr/>
                <p14:nvPr/>
              </p14:nvContentPartPr>
              <p14:xfrm>
                <a:off x="1346050" y="2463460"/>
                <a:ext cx="360720" cy="847080"/>
              </p14:xfrm>
            </p:contentPart>
          </mc:Choice>
          <mc:Fallback xmlns="">
            <p:pic>
              <p:nvPicPr>
                <p:cNvPr id="8" name="Ink 7"/>
              </p:nvPicPr>
              <p:blipFill>
                <a:blip r:embed="rId6"/>
              </p:blipFill>
              <p:spPr>
                <a:xfrm>
                  <a:off x="1346050" y="2463460"/>
                  <a:ext cx="360720" cy="847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/>
                <p14:cNvContentPartPr/>
                <p14:nvPr/>
              </p14:nvContentPartPr>
              <p14:xfrm>
                <a:off x="412570" y="2450860"/>
                <a:ext cx="1590480" cy="70560"/>
              </p14:xfrm>
            </p:contentPart>
          </mc:Choice>
          <mc:Fallback xmlns="">
            <p:pic>
              <p:nvPicPr>
                <p:cNvPr id="9" name="Ink 8"/>
              </p:nvPicPr>
              <p:blipFill>
                <a:blip r:embed="rId8"/>
              </p:blipFill>
              <p:spPr>
                <a:xfrm>
                  <a:off x="412570" y="2450860"/>
                  <a:ext cx="1590480" cy="70560"/>
                </a:xfrm>
                <a:prstGeom prst="rect"/>
              </p:spPr>
            </p:pic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8521690" y="1159540"/>
            <a:ext cx="1731240" cy="2690640"/>
            <a:chOff x="6997690" y="1159540"/>
            <a:chExt cx="1731240" cy="269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/>
                <p14:cNvContentPartPr/>
                <p14:nvPr/>
              </p14:nvContentPartPr>
              <p14:xfrm>
                <a:off x="7365610" y="1159540"/>
                <a:ext cx="1004760" cy="2690640"/>
              </p14:xfrm>
            </p:contentPart>
          </mc:Choice>
          <mc:Fallback xmlns="">
            <p:pic>
              <p:nvPicPr>
                <p:cNvPr id="11" name="Ink 10"/>
              </p:nvPicPr>
              <p:blipFill>
                <a:blip r:embed="rId10"/>
              </p:blipFill>
              <p:spPr>
                <a:xfrm>
                  <a:off x="7365610" y="1159540"/>
                  <a:ext cx="1004760" cy="26906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/>
                <p14:cNvContentPartPr/>
                <p14:nvPr/>
              </p14:nvContentPartPr>
              <p14:xfrm>
                <a:off x="6997690" y="2444380"/>
                <a:ext cx="1731240" cy="81720"/>
              </p14:xfrm>
            </p:contentPart>
          </mc:Choice>
          <mc:Fallback xmlns="">
            <p:pic>
              <p:nvPicPr>
                <p:cNvPr id="12" name="Ink 11"/>
              </p:nvPicPr>
              <p:blipFill>
                <a:blip r:embed="rId12"/>
              </p:blipFill>
              <p:spPr>
                <a:xfrm>
                  <a:off x="6997690" y="2444380"/>
                  <a:ext cx="1731240" cy="81720"/>
                </a:xfrm>
                <a:prstGeom prst="rect"/>
              </p:spPr>
            </p:pic>
          </mc:Fallback>
        </mc:AlternateContent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0759" y="1950720"/>
            <a:ext cx="7802880" cy="23393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3691" y="1301115"/>
            <a:ext cx="1051560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Equivalent</a:t>
            </a:r>
            <a:r>
              <a:rPr spc="-50" dirty="0"/>
              <a:t> </a:t>
            </a:r>
            <a:r>
              <a:rPr dirty="0"/>
              <a:t>circuit</a:t>
            </a:r>
            <a:r>
              <a:rPr spc="-20" dirty="0"/>
              <a:t> </a:t>
            </a:r>
            <a:r>
              <a:rPr dirty="0"/>
              <a:t>for</a:t>
            </a:r>
            <a:r>
              <a:rPr spc="5" dirty="0"/>
              <a:t> </a:t>
            </a:r>
            <a:r>
              <a:rPr spc="-20" dirty="0"/>
              <a:t>DMOS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45843" y="4369460"/>
            <a:ext cx="8288655" cy="19805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300"/>
              </a:spcBef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Similar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to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JFET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E-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MOSFET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80365" indent="-34226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"/>
              <a:tabLst>
                <a:tab pos="380365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DMOS: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91210" lvl="1" indent="-29654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"/>
              <a:tabLst>
                <a:tab pos="7912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V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GS</a:t>
            </a:r>
            <a:r>
              <a:rPr sz="2175" spc="225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can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positive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Nchannel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and</a:t>
            </a:r>
            <a:r>
              <a:rPr sz="220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negative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for</a:t>
            </a:r>
            <a:r>
              <a:rPr sz="2200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P</a:t>
            </a:r>
            <a:r>
              <a:rPr sz="22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latin typeface="Arial" panose="020B0604020202020204"/>
                <a:cs typeface="Arial" panose="020B0604020202020204"/>
              </a:rPr>
              <a:t>channel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791210" lvl="1" indent="-296545">
              <a:lnSpc>
                <a:spcPct val="100000"/>
              </a:lnSpc>
              <a:spcBef>
                <a:spcPts val="1200"/>
              </a:spcBef>
              <a:buFont typeface="Wingdings" panose="05000000000000000000"/>
              <a:buChar char=""/>
              <a:tabLst>
                <a:tab pos="791210" algn="l"/>
              </a:tabLst>
            </a:pPr>
            <a:r>
              <a:rPr sz="2200" dirty="0">
                <a:latin typeface="Arial" panose="020B0604020202020204"/>
                <a:cs typeface="Arial" panose="020B0604020202020204"/>
              </a:rPr>
              <a:t>g</a:t>
            </a:r>
            <a:r>
              <a:rPr sz="2175" baseline="-21000" dirty="0">
                <a:latin typeface="Arial" panose="020B0604020202020204"/>
                <a:cs typeface="Arial" panose="020B0604020202020204"/>
              </a:rPr>
              <a:t>m</a:t>
            </a:r>
            <a:r>
              <a:rPr sz="2175" spc="254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can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be</a:t>
            </a:r>
            <a:r>
              <a:rPr sz="22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higher</a:t>
            </a:r>
            <a:r>
              <a:rPr sz="22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latin typeface="Arial" panose="020B0604020202020204"/>
                <a:cs typeface="Arial" panose="020B0604020202020204"/>
              </a:rPr>
              <a:t>than</a:t>
            </a:r>
            <a:r>
              <a:rPr sz="220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25" dirty="0">
                <a:latin typeface="Arial" panose="020B0604020202020204"/>
                <a:cs typeface="Arial" panose="020B0604020202020204"/>
              </a:rPr>
              <a:t>g</a:t>
            </a:r>
            <a:r>
              <a:rPr sz="2175" spc="-37" baseline="-21000" dirty="0">
                <a:latin typeface="Arial" panose="020B0604020202020204"/>
                <a:cs typeface="Arial" panose="020B0604020202020204"/>
              </a:rPr>
              <a:t>m0</a:t>
            </a:r>
            <a:endParaRPr sz="2175" baseline="-21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869231"/>
            <a:ext cx="3839603" cy="4730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1651105"/>
            <a:ext cx="4024316" cy="49782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452120"/>
            <a:ext cx="10515600" cy="101219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Resume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873717"/>
            <a:ext cx="4266562" cy="46265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1447800"/>
            <a:ext cx="4262628" cy="5181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460" y="683895"/>
            <a:ext cx="10515600" cy="97980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Resume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91741" y="1267205"/>
            <a:ext cx="196215" cy="19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78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2524</Words>
  <Application>Microsoft Office PowerPoint</Application>
  <PresentationFormat>Widescreen</PresentationFormat>
  <Paragraphs>526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Arial</vt:lpstr>
      <vt:lpstr>Calibri</vt:lpstr>
      <vt:lpstr>Calibri Light</vt:lpstr>
      <vt:lpstr>Courier New</vt:lpstr>
      <vt:lpstr>Segoe UI Symbol</vt:lpstr>
      <vt:lpstr>Symbol</vt:lpstr>
      <vt:lpstr>Times New Roman</vt:lpstr>
      <vt:lpstr>Wingdings</vt:lpstr>
      <vt:lpstr>Office Theme</vt:lpstr>
      <vt:lpstr>PowerPoint Presentation</vt:lpstr>
      <vt:lpstr>Chapter 3: MOSFET</vt:lpstr>
      <vt:lpstr>FET Introduction</vt:lpstr>
      <vt:lpstr>Classification</vt:lpstr>
      <vt:lpstr>Classification (cont’d)</vt:lpstr>
      <vt:lpstr>JFET</vt:lpstr>
      <vt:lpstr>JFET – Structure</vt:lpstr>
      <vt:lpstr>JFET – Operation</vt:lpstr>
      <vt:lpstr>JFET – Operation</vt:lpstr>
      <vt:lpstr>JFET – Operation</vt:lpstr>
      <vt:lpstr>JFET – Characteristic Curves</vt:lpstr>
      <vt:lpstr>JFET – Characteristic Curves</vt:lpstr>
      <vt:lpstr>JFET – Symbol</vt:lpstr>
      <vt:lpstr>JFET</vt:lpstr>
      <vt:lpstr>Datasheet-2N5457</vt:lpstr>
      <vt:lpstr>Datasheet-2N5457-characteristics</vt:lpstr>
      <vt:lpstr>MOSFET</vt:lpstr>
      <vt:lpstr>MOSFET – Structure</vt:lpstr>
      <vt:lpstr>MOSFET – Operation</vt:lpstr>
      <vt:lpstr>DMOS – Transfer characteristic curves</vt:lpstr>
      <vt:lpstr>EMOS – Transfer characteristic curve</vt:lpstr>
      <vt:lpstr>MOSFET – Transfer characteristic curve</vt:lpstr>
      <vt:lpstr>MOSFET – Transfer characteristic curve</vt:lpstr>
      <vt:lpstr>MOSFET – Symbol</vt:lpstr>
      <vt:lpstr>EMOS 25 2N4351</vt:lpstr>
      <vt:lpstr>Datasheet-2N4351-EMOS</vt:lpstr>
      <vt:lpstr>VMOS</vt:lpstr>
      <vt:lpstr>Resume</vt:lpstr>
      <vt:lpstr>CMOS</vt:lpstr>
      <vt:lpstr>Biasing types</vt:lpstr>
      <vt:lpstr>Some noted</vt:lpstr>
      <vt:lpstr>Fix biasing (ex: JFET)</vt:lpstr>
      <vt:lpstr>Fix biasing</vt:lpstr>
      <vt:lpstr>Temperature effect</vt:lpstr>
      <vt:lpstr>Impact of temperature</vt:lpstr>
      <vt:lpstr>Impact of temperature</vt:lpstr>
      <vt:lpstr>Self biasing</vt:lpstr>
      <vt:lpstr>Self-biasing</vt:lpstr>
      <vt:lpstr>Voltage divider biasing (ex: JFET)</vt:lpstr>
      <vt:lpstr>Voltage divider biasing (ex: JFET)</vt:lpstr>
      <vt:lpstr>Voltage divider biasing (ex: DMOSFET)</vt:lpstr>
      <vt:lpstr>Voltage divider biasing (ex: DMOSFET)</vt:lpstr>
      <vt:lpstr>Voltage divider biasing (E-MOSFET)</vt:lpstr>
      <vt:lpstr>Voltage divider biasing (ex: E-MOSFET)</vt:lpstr>
      <vt:lpstr>Feedback biasing (ex: E-MOSFET)</vt:lpstr>
      <vt:lpstr>Feedback biasing (ex: E-MOSFET)</vt:lpstr>
      <vt:lpstr>Example</vt:lpstr>
      <vt:lpstr>Example</vt:lpstr>
      <vt:lpstr>Example</vt:lpstr>
      <vt:lpstr>Analyze the circuit for AC signal (small signal)</vt:lpstr>
      <vt:lpstr>Small signal model</vt:lpstr>
      <vt:lpstr>Transconductance</vt:lpstr>
      <vt:lpstr>Transconductance gm (JFET &amp; DMOS)</vt:lpstr>
      <vt:lpstr>Transconductance gm (E-MOSFET)</vt:lpstr>
      <vt:lpstr>AC equivalent circuit (EMOS)</vt:lpstr>
      <vt:lpstr>3 types of MOSFET amplifier</vt:lpstr>
      <vt:lpstr>EMOS – CS with fixed bias voltage</vt:lpstr>
      <vt:lpstr>EMOS – CS with fixed bias voltage</vt:lpstr>
      <vt:lpstr>EMOS – CS with voltage divider</vt:lpstr>
      <vt:lpstr>EMOS – CS with voltage divider</vt:lpstr>
      <vt:lpstr>PowerPoint Presentation</vt:lpstr>
      <vt:lpstr>EMOS – CS with voltage divider and wo. Cs</vt:lpstr>
      <vt:lpstr>EMOS – CS with voltage divider and wo. Cs</vt:lpstr>
      <vt:lpstr>EMOS – CS with feedback bias</vt:lpstr>
      <vt:lpstr>EMOS – CS with feedback bias</vt:lpstr>
      <vt:lpstr>EMOS – CS with feedback bias</vt:lpstr>
      <vt:lpstr>EMOS – CS with feedback bias</vt:lpstr>
      <vt:lpstr>EMOS – CS with feedback bias</vt:lpstr>
      <vt:lpstr>EMOS – CS with feedback bias</vt:lpstr>
      <vt:lpstr>JFET – CD with fixed biasing</vt:lpstr>
      <vt:lpstr>JFET – CD with fixed biasing</vt:lpstr>
      <vt:lpstr>JFET – CG with fixed biasing</vt:lpstr>
      <vt:lpstr>JFET – CG with fixed biasing</vt:lpstr>
      <vt:lpstr>Equivalent circuit for DMOS</vt:lpstr>
      <vt:lpstr>Resume</vt:lpstr>
      <vt:lpstr>Resume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Tracy Ho</cp:lastModifiedBy>
  <cp:revision>190</cp:revision>
  <dcterms:created xsi:type="dcterms:W3CDTF">2020-07-15T05:19:00Z</dcterms:created>
  <dcterms:modified xsi:type="dcterms:W3CDTF">2026-08-29T08:33:50Z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1F487BBA8D5C43028BF7414983132F59_13</vt:lpwstr>
  </property>
</Properties>
</file>